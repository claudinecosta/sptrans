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4" r:id="rId2"/>
    <p:sldId id="275" r:id="rId3"/>
    <p:sldId id="273" r:id="rId4"/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2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23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r>
              <a:rPr lang="pt-BR"/>
              <a:t>8 maiores médias (min)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8 maiores médias (min)</c:v>
                </c:pt>
              </c:strCache>
            </c:strRef>
          </c:tx>
          <c:invertIfNegative val="1"/>
          <c:cat>
            <c:strRef>
              <c:f>Sheet1!$A$2:$A$9</c:f>
              <c:strCache>
                <c:ptCount val="8"/>
                <c:pt idx="0">
                  <c:v>971F-10</c:v>
                </c:pt>
                <c:pt idx="1">
                  <c:v>971H-10</c:v>
                </c:pt>
                <c:pt idx="2">
                  <c:v>971G-10</c:v>
                </c:pt>
                <c:pt idx="3">
                  <c:v>972D-10</c:v>
                </c:pt>
                <c:pt idx="4">
                  <c:v>971N-10</c:v>
                </c:pt>
                <c:pt idx="5">
                  <c:v>972A-10</c:v>
                </c:pt>
                <c:pt idx="6">
                  <c:v>972B-10</c:v>
                </c:pt>
                <c:pt idx="7">
                  <c:v>971P-10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12.77777777777778</c:v>
                </c:pt>
                <c:pt idx="1">
                  <c:v>12.77777777777778</c:v>
                </c:pt>
                <c:pt idx="2">
                  <c:v>12.59259259259259</c:v>
                </c:pt>
                <c:pt idx="3">
                  <c:v>10.90740740740741</c:v>
                </c:pt>
                <c:pt idx="4">
                  <c:v>10.90476190476191</c:v>
                </c:pt>
                <c:pt idx="5">
                  <c:v>10.90476190476191</c:v>
                </c:pt>
                <c:pt idx="6">
                  <c:v>10.888888888888889</c:v>
                </c:pt>
                <c:pt idx="7">
                  <c:v>10.857142857142859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E7-4A99-AEF0-3444B5F884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200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pt-B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r>
              <a:rPr lang="pt-BR"/>
              <a:t>Top 10 horas com atrasos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Top 10 horas com atrasos</c:v>
                </c:pt>
              </c:strCache>
            </c:strRef>
          </c:tx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Sheet1!$A$2:$A$11</c:f>
              <c:strCache>
                <c:ptCount val="10"/>
                <c:pt idx="0">
                  <c:v>5</c:v>
                </c:pt>
                <c:pt idx="1">
                  <c:v>22</c:v>
                </c:pt>
                <c:pt idx="2">
                  <c:v>15</c:v>
                </c:pt>
                <c:pt idx="3">
                  <c:v>8</c:v>
                </c:pt>
                <c:pt idx="4">
                  <c:v>18</c:v>
                </c:pt>
                <c:pt idx="5">
                  <c:v>2</c:v>
                </c:pt>
                <c:pt idx="6">
                  <c:v>19</c:v>
                </c:pt>
                <c:pt idx="7">
                  <c:v>10</c:v>
                </c:pt>
                <c:pt idx="8">
                  <c:v>20</c:v>
                </c:pt>
                <c:pt idx="9">
                  <c:v>3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197</c:v>
                </c:pt>
                <c:pt idx="1">
                  <c:v>120</c:v>
                </c:pt>
                <c:pt idx="2">
                  <c:v>120</c:v>
                </c:pt>
                <c:pt idx="3">
                  <c:v>120</c:v>
                </c:pt>
                <c:pt idx="4">
                  <c:v>120</c:v>
                </c:pt>
                <c:pt idx="5">
                  <c:v>119</c:v>
                </c:pt>
                <c:pt idx="6">
                  <c:v>110</c:v>
                </c:pt>
                <c:pt idx="7">
                  <c:v>105</c:v>
                </c:pt>
                <c:pt idx="8">
                  <c:v>102</c:v>
                </c:pt>
                <c:pt idx="9">
                  <c:v>102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482-4B2A-AB95-FBA30FA324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pt-B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r>
              <a:rPr lang="pt-BR"/>
              <a:t>Top 10 combinações linha/sentido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Top 10 combinações linha/sentido</c:v>
                </c:pt>
              </c:strCache>
            </c:strRef>
          </c:tx>
          <c:invertIfNegative val="1"/>
          <c:cat>
            <c:strRef>
              <c:f>Sheet1!$A$2:$A$11</c:f>
              <c:strCache>
                <c:ptCount val="10"/>
                <c:pt idx="0">
                  <c:v>971F-10 ida</c:v>
                </c:pt>
                <c:pt idx="1">
                  <c:v>971H-10 ida</c:v>
                </c:pt>
                <c:pt idx="2">
                  <c:v>971J-10 volta</c:v>
                </c:pt>
                <c:pt idx="3">
                  <c:v>971E-10 volta</c:v>
                </c:pt>
                <c:pt idx="4">
                  <c:v>971G-10 ida</c:v>
                </c:pt>
                <c:pt idx="5">
                  <c:v>971F-10 volta</c:v>
                </c:pt>
                <c:pt idx="6">
                  <c:v>971H-10 volta</c:v>
                </c:pt>
                <c:pt idx="7">
                  <c:v>971G-10 volta</c:v>
                </c:pt>
                <c:pt idx="8">
                  <c:v>971B-10 volta</c:v>
                </c:pt>
                <c:pt idx="9">
                  <c:v>972D-10 ida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13.451612903225806</c:v>
                </c:pt>
                <c:pt idx="1">
                  <c:v>13.451612903225806</c:v>
                </c:pt>
                <c:pt idx="2">
                  <c:v>13.277777777777779</c:v>
                </c:pt>
                <c:pt idx="3">
                  <c:v>13.277777777777779</c:v>
                </c:pt>
                <c:pt idx="4">
                  <c:v>13.222222222222221</c:v>
                </c:pt>
                <c:pt idx="5">
                  <c:v>12.125</c:v>
                </c:pt>
                <c:pt idx="6">
                  <c:v>12.125</c:v>
                </c:pt>
                <c:pt idx="7">
                  <c:v>11.962962962962964</c:v>
                </c:pt>
                <c:pt idx="8">
                  <c:v>11.882352941176471</c:v>
                </c:pt>
                <c:pt idx="9">
                  <c:v>11.851851851851851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9AC-4CA3-A59B-A441C8BBF3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pt-B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r>
              <a:rPr lang="pt-BR"/>
              <a:t>Maiores atrasos máximos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Maiores atrasos máximos</c:v>
                </c:pt>
              </c:strCache>
            </c:strRef>
          </c:tx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Sheet1!$A$2:$A$9</c:f>
              <c:strCache>
                <c:ptCount val="8"/>
                <c:pt idx="0">
                  <c:v>971E-10</c:v>
                </c:pt>
                <c:pt idx="1">
                  <c:v>971F-10</c:v>
                </c:pt>
                <c:pt idx="2">
                  <c:v>971B-10</c:v>
                </c:pt>
                <c:pt idx="3">
                  <c:v>971P-10</c:v>
                </c:pt>
                <c:pt idx="4">
                  <c:v>972B-10</c:v>
                </c:pt>
                <c:pt idx="5">
                  <c:v>971N-10</c:v>
                </c:pt>
                <c:pt idx="6">
                  <c:v>971M-10</c:v>
                </c:pt>
                <c:pt idx="7">
                  <c:v>972E-10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20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  <c:pt idx="4">
                  <c:v>20</c:v>
                </c:pt>
                <c:pt idx="5">
                  <c:v>20</c:v>
                </c:pt>
                <c:pt idx="6">
                  <c:v>20</c:v>
                </c:pt>
                <c:pt idx="7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C62-4AA2-8AA6-12C978AA1C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pt-B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r>
              <a:rPr lang="pt-BR"/>
              <a:t>Top 8 veículos por média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Top 8 veículos por média</c:v>
                </c:pt>
              </c:strCache>
            </c:strRef>
          </c:tx>
          <c:invertIfNegative val="1"/>
          <c:cat>
            <c:strRef>
              <c:f>Sheet1!$A$2:$A$9</c:f>
              <c:strCache>
                <c:ptCount val="8"/>
                <c:pt idx="0">
                  <c:v>ID 5</c:v>
                </c:pt>
                <c:pt idx="1">
                  <c:v>ID 7</c:v>
                </c:pt>
                <c:pt idx="2">
                  <c:v>ID 3</c:v>
                </c:pt>
                <c:pt idx="3">
                  <c:v>ID 9</c:v>
                </c:pt>
                <c:pt idx="4">
                  <c:v>ID 1</c:v>
                </c:pt>
                <c:pt idx="5">
                  <c:v>ID 4</c:v>
                </c:pt>
                <c:pt idx="6">
                  <c:v>ID 2</c:v>
                </c:pt>
                <c:pt idx="7">
                  <c:v>ID 6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12.792592592592593</c:v>
                </c:pt>
                <c:pt idx="1">
                  <c:v>11.203703703703704</c:v>
                </c:pt>
                <c:pt idx="2">
                  <c:v>10.981481481481481</c:v>
                </c:pt>
                <c:pt idx="3">
                  <c:v>10.933333333333334</c:v>
                </c:pt>
                <c:pt idx="4">
                  <c:v>10.777777777777779</c:v>
                </c:pt>
                <c:pt idx="5">
                  <c:v>10.044444444444444</c:v>
                </c:pt>
                <c:pt idx="6">
                  <c:v>9.8407407407407401</c:v>
                </c:pt>
                <c:pt idx="7">
                  <c:v>9.6296296296296298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EB9-4A82-863C-AEC727766B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80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pt-B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r>
              <a:rPr lang="pt-BR"/>
              <a:t>Menores médias calculadas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Menores médias calculadas</c:v>
                </c:pt>
              </c:strCache>
            </c:strRef>
          </c:tx>
          <c:invertIfNegative val="1"/>
          <c:cat>
            <c:strRef>
              <c:f>Sheet1!$A$2:$A$9</c:f>
              <c:strCache>
                <c:ptCount val="8"/>
                <c:pt idx="0">
                  <c:v>971L-10</c:v>
                </c:pt>
                <c:pt idx="1">
                  <c:v>972E-10</c:v>
                </c:pt>
                <c:pt idx="2">
                  <c:v>971M-10</c:v>
                </c:pt>
                <c:pt idx="3">
                  <c:v>972C-10</c:v>
                </c:pt>
                <c:pt idx="4">
                  <c:v>971K-10</c:v>
                </c:pt>
                <c:pt idx="5">
                  <c:v>971J-10</c:v>
                </c:pt>
                <c:pt idx="6">
                  <c:v>971E-10</c:v>
                </c:pt>
                <c:pt idx="7">
                  <c:v>971B-10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-9.4861111111111107</c:v>
                </c:pt>
                <c:pt idx="1">
                  <c:v>-9.4166666666666661</c:v>
                </c:pt>
                <c:pt idx="2">
                  <c:v>-9.4027777777777786</c:v>
                </c:pt>
                <c:pt idx="3">
                  <c:v>-9.1805555555555554</c:v>
                </c:pt>
                <c:pt idx="4">
                  <c:v>-7.1234567901234565</c:v>
                </c:pt>
                <c:pt idx="5">
                  <c:v>-6.1805555555555554</c:v>
                </c:pt>
                <c:pt idx="6">
                  <c:v>-6.1805555555555554</c:v>
                </c:pt>
                <c:pt idx="7">
                  <c:v>1.7333333333333334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E5-4156-8199-D03608F8A9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80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pt-B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r>
              <a:rPr lang="pt-BR"/>
              <a:t>Média calculada por sentido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Média calculada por sentido</c:v>
                </c:pt>
              </c:strCache>
            </c:strRef>
          </c:tx>
          <c:invertIfNegative val="1"/>
          <c:cat>
            <c:strRef>
              <c:f>Sheet1!$A$2:$A$3</c:f>
              <c:strCache>
                <c:ptCount val="2"/>
                <c:pt idx="0">
                  <c:v>ida</c:v>
                </c:pt>
                <c:pt idx="1">
                  <c:v>volta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-0.67179487179487174</c:v>
                </c:pt>
                <c:pt idx="1">
                  <c:v>10.363076923076923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559-4B6E-88A6-A38C891B69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240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pt-B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r>
              <a:rPr lang="pt-BR"/>
              <a:t>Capacidade cadastrada por tipo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Capacidade cadastrada por tipo</c:v>
                </c:pt>
              </c:strCache>
            </c:strRef>
          </c:tx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Sheet1!$A$2:$A$5</c:f>
              <c:strCache>
                <c:ptCount val="4"/>
                <c:pt idx="0">
                  <c:v>Articulado</c:v>
                </c:pt>
                <c:pt idx="1">
                  <c:v>Convencional</c:v>
                </c:pt>
                <c:pt idx="2">
                  <c:v>Elétrico</c:v>
                </c:pt>
                <c:pt idx="3">
                  <c:v>Micro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9750</c:v>
                </c:pt>
                <c:pt idx="1">
                  <c:v>9600</c:v>
                </c:pt>
                <c:pt idx="2">
                  <c:v>800</c:v>
                </c:pt>
                <c:pt idx="3">
                  <c:v>528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E8F-423B-A184-109AACBAAA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200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pt-B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000">
              <a:schemeClr val="bg2">
                <a:tint val="80000"/>
                <a:satMod val="300000"/>
              </a:schemeClr>
            </a:gs>
            <a:gs pos="100000">
              <a:schemeClr val="bg2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815144-B49F-D20F-C0C9-431C09230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15">
            <a:extLst>
              <a:ext uri="{FF2B5EF4-FFF2-40B4-BE49-F238E27FC236}">
                <a16:creationId xmlns:a16="http://schemas.microsoft.com/office/drawing/2014/main" id="{2747DEF6-52C8-E6BF-9C42-0D06627E46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9B15A84-0C80-CA18-EA30-DC365FBCFB4B}"/>
              </a:ext>
            </a:extLst>
          </p:cNvPr>
          <p:cNvSpPr txBox="1"/>
          <p:nvPr/>
        </p:nvSpPr>
        <p:spPr>
          <a:xfrm>
            <a:off x="2643974" y="2137429"/>
            <a:ext cx="690374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/>
            </a:pPr>
            <a:r>
              <a:rPr lang="pt-BR" sz="4400" dirty="0">
                <a:solidFill>
                  <a:schemeClr val="bg1"/>
                </a:solidFill>
              </a:rPr>
              <a:t>CURSO TÉCNICO:</a:t>
            </a:r>
          </a:p>
          <a:p>
            <a:pPr algn="ctr">
              <a:defRPr sz="3800" b="1"/>
            </a:pPr>
            <a:r>
              <a:rPr lang="pt-BR" sz="4400" dirty="0">
                <a:solidFill>
                  <a:schemeClr val="bg1"/>
                </a:solidFill>
              </a:rPr>
              <a:t>INTELIGENCIA ARTIFICIAL</a:t>
            </a:r>
            <a:endParaRPr sz="44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098DC4-4480-A69C-1E0F-B39535033989}"/>
              </a:ext>
            </a:extLst>
          </p:cNvPr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D87"/>
                </a:solidFill>
              </a:defRPr>
            </a:pPr>
            <a:r>
              <a:rPr dirty="0" err="1"/>
              <a:t>Projeto</a:t>
            </a:r>
            <a:r>
              <a:rPr dirty="0"/>
              <a:t> </a:t>
            </a:r>
            <a:r>
              <a:rPr dirty="0" err="1"/>
              <a:t>SPTrans</a:t>
            </a:r>
            <a:r>
              <a:rPr dirty="0"/>
              <a:t> – </a:t>
            </a:r>
            <a:r>
              <a:rPr dirty="0" err="1"/>
              <a:t>Sambaíba</a:t>
            </a:r>
            <a:r>
              <a:rPr dirty="0"/>
              <a:t> | Base sptrans_uc6.sql | Slide 1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89D141F9-A987-E160-0EB6-41447C50C35F}"/>
              </a:ext>
            </a:extLst>
          </p:cNvPr>
          <p:cNvSpPr txBox="1"/>
          <p:nvPr/>
        </p:nvSpPr>
        <p:spPr>
          <a:xfrm>
            <a:off x="5517805" y="4209127"/>
            <a:ext cx="1156086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/>
            </a:pPr>
            <a:r>
              <a:rPr lang="pt-BR" dirty="0"/>
              <a:t>UC-6</a:t>
            </a:r>
            <a:endParaRPr dirty="0"/>
          </a:p>
        </p:txBody>
      </p:sp>
      <p:sp>
        <p:nvSpPr>
          <p:cNvPr id="14" name="TextBox 2">
            <a:extLst>
              <a:ext uri="{FF2B5EF4-FFF2-40B4-BE49-F238E27FC236}">
                <a16:creationId xmlns:a16="http://schemas.microsoft.com/office/drawing/2014/main" id="{77EE9B06-1C60-F035-0E2D-104A748FE01E}"/>
              </a:ext>
            </a:extLst>
          </p:cNvPr>
          <p:cNvSpPr txBox="1"/>
          <p:nvPr/>
        </p:nvSpPr>
        <p:spPr>
          <a:xfrm>
            <a:off x="2796373" y="653216"/>
            <a:ext cx="690374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/>
            </a:pPr>
            <a:r>
              <a:rPr lang="pt-BR" sz="4800" dirty="0">
                <a:solidFill>
                  <a:schemeClr val="bg1"/>
                </a:solidFill>
              </a:rPr>
              <a:t>SENAC – UNIDADE TITO</a:t>
            </a:r>
            <a:endParaRPr sz="4800" dirty="0">
              <a:solidFill>
                <a:schemeClr val="bg1"/>
              </a:solidFill>
            </a:endParaRPr>
          </a:p>
        </p:txBody>
      </p:sp>
      <p:pic>
        <p:nvPicPr>
          <p:cNvPr id="20" name="Gráfico 19">
            <a:extLst>
              <a:ext uri="{FF2B5EF4-FFF2-40B4-BE49-F238E27FC236}">
                <a16:creationId xmlns:a16="http://schemas.microsoft.com/office/drawing/2014/main" id="{ECAB9717-B8DA-5F98-3832-8AD82BF2E5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4201" y="2939333"/>
            <a:ext cx="4313117" cy="4313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356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B966FA-8E48-2A6F-5745-FF97C65C7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18EB12A-98AA-90EB-212A-814A0588A17C}"/>
              </a:ext>
            </a:extLst>
          </p:cNvPr>
          <p:cNvSpPr txBox="1"/>
          <p:nvPr/>
        </p:nvSpPr>
        <p:spPr>
          <a:xfrm>
            <a:off x="2284208" y="1672553"/>
            <a:ext cx="690374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/>
            </a:pPr>
            <a:r>
              <a:rPr lang="pt-BR" sz="4400" dirty="0"/>
              <a:t>GRUPO COMPOSTO:</a:t>
            </a:r>
            <a:endParaRPr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2D21C0-9673-C6CA-60BA-0ECB0667F7D8}"/>
              </a:ext>
            </a:extLst>
          </p:cNvPr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D87"/>
                </a:solidFill>
              </a:defRPr>
            </a:pPr>
            <a:r>
              <a:rPr dirty="0" err="1"/>
              <a:t>Projeto</a:t>
            </a:r>
            <a:r>
              <a:rPr dirty="0"/>
              <a:t> </a:t>
            </a:r>
            <a:r>
              <a:rPr dirty="0" err="1"/>
              <a:t>SPTrans</a:t>
            </a:r>
            <a:r>
              <a:rPr dirty="0"/>
              <a:t> – </a:t>
            </a:r>
            <a:r>
              <a:rPr dirty="0" err="1"/>
              <a:t>Sambaíba</a:t>
            </a:r>
            <a:r>
              <a:rPr dirty="0"/>
              <a:t> | Base sptrans_uc6.sql | Slide 1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6AB9B685-2764-E016-A5BB-B8074FE67120}"/>
              </a:ext>
            </a:extLst>
          </p:cNvPr>
          <p:cNvSpPr txBox="1"/>
          <p:nvPr/>
        </p:nvSpPr>
        <p:spPr>
          <a:xfrm>
            <a:off x="3355300" y="2624874"/>
            <a:ext cx="2249014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/>
            </a:pPr>
            <a:r>
              <a:rPr lang="pt-BR" dirty="0"/>
              <a:t>CLAUDINE</a:t>
            </a:r>
            <a:endParaRPr dirty="0"/>
          </a:p>
        </p:txBody>
      </p:sp>
      <p:sp>
        <p:nvSpPr>
          <p:cNvPr id="14" name="TextBox 2">
            <a:extLst>
              <a:ext uri="{FF2B5EF4-FFF2-40B4-BE49-F238E27FC236}">
                <a16:creationId xmlns:a16="http://schemas.microsoft.com/office/drawing/2014/main" id="{32B3AC04-224E-733E-FF68-98A676C22B36}"/>
              </a:ext>
            </a:extLst>
          </p:cNvPr>
          <p:cNvSpPr txBox="1"/>
          <p:nvPr/>
        </p:nvSpPr>
        <p:spPr>
          <a:xfrm>
            <a:off x="2796373" y="653216"/>
            <a:ext cx="690374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/>
            </a:pPr>
            <a:r>
              <a:rPr lang="pt-BR" sz="4800" dirty="0"/>
              <a:t>SENAC – UNIDADE TITO</a:t>
            </a:r>
            <a:endParaRPr sz="4800" dirty="0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0CB58102-B9AE-D0F5-9E2C-F1D754010123}"/>
              </a:ext>
            </a:extLst>
          </p:cNvPr>
          <p:cNvSpPr txBox="1"/>
          <p:nvPr/>
        </p:nvSpPr>
        <p:spPr>
          <a:xfrm>
            <a:off x="3355300" y="3385969"/>
            <a:ext cx="1572866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/>
            </a:pPr>
            <a:r>
              <a:rPr lang="pt-BR" dirty="0"/>
              <a:t>OSCAR</a:t>
            </a:r>
            <a:endParaRPr dirty="0"/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79A35010-10F7-1671-AD6D-A77DC5C69EA0}"/>
              </a:ext>
            </a:extLst>
          </p:cNvPr>
          <p:cNvSpPr txBox="1"/>
          <p:nvPr/>
        </p:nvSpPr>
        <p:spPr>
          <a:xfrm>
            <a:off x="3355300" y="4147064"/>
            <a:ext cx="1692836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/>
            </a:pPr>
            <a:r>
              <a:rPr lang="pt-BR" dirty="0"/>
              <a:t>HEITOR</a:t>
            </a:r>
            <a:endParaRPr dirty="0"/>
          </a:p>
        </p:txBody>
      </p:sp>
      <p:sp>
        <p:nvSpPr>
          <p:cNvPr id="11" name="TextBox 2">
            <a:extLst>
              <a:ext uri="{FF2B5EF4-FFF2-40B4-BE49-F238E27FC236}">
                <a16:creationId xmlns:a16="http://schemas.microsoft.com/office/drawing/2014/main" id="{9F383278-A6CA-F8DB-500C-E098D4B98D85}"/>
              </a:ext>
            </a:extLst>
          </p:cNvPr>
          <p:cNvSpPr txBox="1"/>
          <p:nvPr/>
        </p:nvSpPr>
        <p:spPr>
          <a:xfrm>
            <a:off x="3322504" y="4929961"/>
            <a:ext cx="2758256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/>
            </a:pPr>
            <a:r>
              <a:rPr lang="pt-BR" dirty="0"/>
              <a:t>JOÃO PAULO</a:t>
            </a:r>
            <a:endParaRPr dirty="0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AFDC0575-CFA5-396D-0F44-CFA9278B5B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83056" y="0"/>
            <a:ext cx="1608944" cy="1484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788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C74C82A3-C036-F89D-0B9D-F4F58B07AC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83056" y="0"/>
            <a:ext cx="1608944" cy="1484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869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72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643972" y="622092"/>
            <a:ext cx="6903749" cy="12926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/>
            </a:pPr>
            <a:r>
              <a:rPr dirty="0"/>
              <a:t>ANÁLISE OPERACIONAL SPTRANS</a:t>
            </a:r>
          </a:p>
          <a:p>
            <a:pPr algn="ctr">
              <a:defRPr sz="2400"/>
            </a:pPr>
            <a:r>
              <a:rPr sz="2000" dirty="0" err="1"/>
              <a:t>Sambaíba</a:t>
            </a:r>
            <a:r>
              <a:rPr sz="2000" dirty="0"/>
              <a:t> – Zona Norte | Queries SQL e </a:t>
            </a:r>
            <a:r>
              <a:rPr sz="2000" dirty="0" err="1"/>
              <a:t>respostas</a:t>
            </a:r>
            <a:endParaRPr sz="2000" dirty="0"/>
          </a:p>
          <a:p>
            <a:pPr algn="ctr">
              <a:defRPr sz="1500"/>
            </a:pPr>
            <a:r>
              <a:rPr sz="2000" dirty="0"/>
              <a:t>Base: sptrans_uc6.sql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D87"/>
                </a:solidFill>
              </a:defRPr>
            </a:pPr>
            <a:r>
              <a:t>Projeto SPTrans – Sambaíba | Base sptrans_uc6.sql | Slide 1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710FC510-9125-6C4A-B82C-555AEC0DD883}"/>
              </a:ext>
            </a:extLst>
          </p:cNvPr>
          <p:cNvSpPr txBox="1"/>
          <p:nvPr/>
        </p:nvSpPr>
        <p:spPr>
          <a:xfrm>
            <a:off x="3982947" y="2502463"/>
            <a:ext cx="340413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rPr dirty="0"/>
              <a:t>1. </a:t>
            </a:r>
            <a:r>
              <a:rPr dirty="0" err="1"/>
              <a:t>Objetivo</a:t>
            </a:r>
            <a:r>
              <a:rPr dirty="0"/>
              <a:t> da </a:t>
            </a:r>
            <a:r>
              <a:rPr dirty="0" err="1"/>
              <a:t>análise</a:t>
            </a:r>
            <a:endParaRPr dirty="0"/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33CFF970-23EC-9B60-27E5-D85449AE63D5}"/>
              </a:ext>
            </a:extLst>
          </p:cNvPr>
          <p:cNvSpPr txBox="1"/>
          <p:nvPr/>
        </p:nvSpPr>
        <p:spPr>
          <a:xfrm>
            <a:off x="2643972" y="3658606"/>
            <a:ext cx="7422268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rPr sz="2000" dirty="0" err="1"/>
              <a:t>Avaliar</a:t>
            </a:r>
            <a:r>
              <a:rPr sz="2000" dirty="0"/>
              <a:t> </a:t>
            </a:r>
            <a:r>
              <a:rPr sz="2000" dirty="0" err="1"/>
              <a:t>viagens</a:t>
            </a:r>
            <a:r>
              <a:rPr sz="2000" dirty="0"/>
              <a:t>, </a:t>
            </a:r>
            <a:r>
              <a:rPr sz="2000" dirty="0" err="1"/>
              <a:t>atrasos</a:t>
            </a:r>
            <a:r>
              <a:rPr sz="2000" dirty="0"/>
              <a:t> e </a:t>
            </a:r>
            <a:r>
              <a:rPr sz="2000" dirty="0" err="1"/>
              <a:t>pontualidade</a:t>
            </a:r>
            <a:r>
              <a:rPr sz="2000" dirty="0"/>
              <a:t> da </a:t>
            </a:r>
            <a:r>
              <a:rPr sz="2000" dirty="0" err="1"/>
              <a:t>operação</a:t>
            </a:r>
            <a:r>
              <a:rPr sz="2000" dirty="0"/>
              <a:t>.</a:t>
            </a:r>
          </a:p>
          <a:p>
            <a:pPr>
              <a:spcAft>
                <a:spcPts val="1000"/>
              </a:spcAft>
              <a:defRPr sz="1900"/>
            </a:pPr>
            <a:r>
              <a:rPr sz="2000" dirty="0" err="1"/>
              <a:t>Identificar</a:t>
            </a:r>
            <a:r>
              <a:rPr sz="2000" dirty="0"/>
              <a:t> </a:t>
            </a:r>
            <a:r>
              <a:rPr sz="2000" dirty="0" err="1"/>
              <a:t>horários</a:t>
            </a:r>
            <a:r>
              <a:rPr sz="2000" dirty="0"/>
              <a:t>, </a:t>
            </a:r>
            <a:r>
              <a:rPr sz="2000" dirty="0" err="1"/>
              <a:t>sentidos</a:t>
            </a:r>
            <a:r>
              <a:rPr sz="2000" dirty="0"/>
              <a:t>, </a:t>
            </a:r>
            <a:r>
              <a:rPr sz="2000" dirty="0" err="1"/>
              <a:t>linhas</a:t>
            </a:r>
            <a:r>
              <a:rPr sz="2000" dirty="0"/>
              <a:t> e </a:t>
            </a:r>
            <a:r>
              <a:rPr sz="2000" dirty="0" err="1"/>
              <a:t>veículos</a:t>
            </a:r>
            <a:r>
              <a:rPr sz="2000" dirty="0"/>
              <a:t> com </a:t>
            </a:r>
            <a:r>
              <a:rPr sz="2000" dirty="0" err="1"/>
              <a:t>pior</a:t>
            </a:r>
            <a:r>
              <a:rPr sz="2000" dirty="0"/>
              <a:t> </a:t>
            </a:r>
            <a:r>
              <a:rPr sz="2000" dirty="0" err="1"/>
              <a:t>desempenho</a:t>
            </a:r>
            <a:r>
              <a:rPr sz="2000" dirty="0"/>
              <a:t>.</a:t>
            </a:r>
          </a:p>
          <a:p>
            <a:pPr>
              <a:spcAft>
                <a:spcPts val="1000"/>
              </a:spcAft>
              <a:defRPr sz="1900"/>
            </a:pPr>
            <a:r>
              <a:rPr sz="2000" dirty="0" err="1"/>
              <a:t>Relacionar</a:t>
            </a:r>
            <a:r>
              <a:rPr sz="2000" dirty="0"/>
              <a:t> </a:t>
            </a:r>
            <a:r>
              <a:rPr sz="2000" dirty="0" err="1"/>
              <a:t>os</a:t>
            </a:r>
            <a:r>
              <a:rPr sz="2000" dirty="0"/>
              <a:t> </a:t>
            </a:r>
            <a:r>
              <a:rPr sz="2000" dirty="0" err="1"/>
              <a:t>resultados</a:t>
            </a:r>
            <a:r>
              <a:rPr sz="2000" dirty="0"/>
              <a:t> à </a:t>
            </a:r>
            <a:r>
              <a:rPr sz="2000" dirty="0" err="1"/>
              <a:t>estrutura</a:t>
            </a:r>
            <a:r>
              <a:rPr sz="2000" dirty="0"/>
              <a:t> de </a:t>
            </a:r>
            <a:r>
              <a:rPr sz="2000" dirty="0" err="1"/>
              <a:t>linhas</a:t>
            </a:r>
            <a:r>
              <a:rPr sz="2000" dirty="0"/>
              <a:t> e </a:t>
            </a:r>
            <a:r>
              <a:rPr sz="2000" dirty="0" err="1"/>
              <a:t>frota</a:t>
            </a:r>
            <a:r>
              <a:rPr sz="2000" dirty="0"/>
              <a:t>.</a:t>
            </a:r>
          </a:p>
          <a:p>
            <a:pPr>
              <a:spcAft>
                <a:spcPts val="1000"/>
              </a:spcAft>
              <a:defRPr sz="1900"/>
            </a:pPr>
            <a:r>
              <a:rPr sz="2000" dirty="0" err="1"/>
              <a:t>Apresentar</a:t>
            </a:r>
            <a:r>
              <a:rPr sz="2000" dirty="0"/>
              <a:t> </a:t>
            </a:r>
            <a:r>
              <a:rPr sz="2000" dirty="0" err="1"/>
              <a:t>cada</a:t>
            </a:r>
            <a:r>
              <a:rPr sz="2000" dirty="0"/>
              <a:t> query com </a:t>
            </a:r>
            <a:r>
              <a:rPr sz="2000" dirty="0" err="1"/>
              <a:t>sua</a:t>
            </a:r>
            <a:r>
              <a:rPr sz="2000" dirty="0"/>
              <a:t> </a:t>
            </a:r>
            <a:r>
              <a:rPr sz="2000" dirty="0" err="1"/>
              <a:t>finalidade</a:t>
            </a:r>
            <a:r>
              <a:rPr sz="2000" dirty="0"/>
              <a:t> </a:t>
            </a:r>
            <a:r>
              <a:rPr dirty="0"/>
              <a:t>e principal </a:t>
            </a:r>
            <a:r>
              <a:rPr dirty="0" err="1"/>
              <a:t>resposta</a:t>
            </a:r>
            <a:r>
              <a:rPr dirty="0"/>
              <a:t>.</a:t>
            </a:r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F886007C-C1E7-2902-9E02-FF985D1DBA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83056" y="0"/>
            <a:ext cx="1608944" cy="14842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6000">
              <a:schemeClr val="accent3">
                <a:lumMod val="5000"/>
                <a:lumOff val="95000"/>
              </a:schemeClr>
            </a:gs>
            <a:gs pos="53000">
              <a:schemeClr val="accent3">
                <a:lumMod val="45000"/>
                <a:lumOff val="55000"/>
              </a:schemeClr>
            </a:gs>
            <a:gs pos="10000">
              <a:schemeClr val="accent3">
                <a:lumMod val="45000"/>
                <a:lumOff val="55000"/>
              </a:schemeClr>
            </a:gs>
            <a:gs pos="76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273760" y="713613"/>
            <a:ext cx="340413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rPr dirty="0"/>
              <a:t>1. </a:t>
            </a:r>
            <a:r>
              <a:rPr dirty="0" err="1"/>
              <a:t>Objetivo</a:t>
            </a:r>
            <a:r>
              <a:rPr dirty="0"/>
              <a:t> da </a:t>
            </a:r>
            <a:r>
              <a:rPr dirty="0" err="1"/>
              <a:t>análise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2720650" y="2265239"/>
            <a:ext cx="7422268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rPr sz="2000" dirty="0" err="1"/>
              <a:t>Avaliar</a:t>
            </a:r>
            <a:r>
              <a:rPr sz="2000" dirty="0"/>
              <a:t> </a:t>
            </a:r>
            <a:r>
              <a:rPr sz="2000" dirty="0" err="1"/>
              <a:t>viagens</a:t>
            </a:r>
            <a:r>
              <a:rPr sz="2000" dirty="0"/>
              <a:t>, </a:t>
            </a:r>
            <a:r>
              <a:rPr sz="2000" dirty="0" err="1"/>
              <a:t>atrasos</a:t>
            </a:r>
            <a:r>
              <a:rPr sz="2000" dirty="0"/>
              <a:t> e </a:t>
            </a:r>
            <a:r>
              <a:rPr sz="2000" dirty="0" err="1"/>
              <a:t>pontualidade</a:t>
            </a:r>
            <a:r>
              <a:rPr sz="2000" dirty="0"/>
              <a:t> da </a:t>
            </a:r>
            <a:r>
              <a:rPr sz="2000" dirty="0" err="1"/>
              <a:t>operação</a:t>
            </a:r>
            <a:r>
              <a:rPr sz="2000" dirty="0"/>
              <a:t>.</a:t>
            </a:r>
          </a:p>
          <a:p>
            <a:pPr>
              <a:spcAft>
                <a:spcPts val="1000"/>
              </a:spcAft>
              <a:defRPr sz="1900"/>
            </a:pPr>
            <a:r>
              <a:rPr sz="2000" dirty="0" err="1"/>
              <a:t>Identificar</a:t>
            </a:r>
            <a:r>
              <a:rPr sz="2000" dirty="0"/>
              <a:t> </a:t>
            </a:r>
            <a:r>
              <a:rPr sz="2000" dirty="0" err="1"/>
              <a:t>horários</a:t>
            </a:r>
            <a:r>
              <a:rPr sz="2000" dirty="0"/>
              <a:t>, </a:t>
            </a:r>
            <a:r>
              <a:rPr sz="2000" dirty="0" err="1"/>
              <a:t>sentidos</a:t>
            </a:r>
            <a:r>
              <a:rPr sz="2000" dirty="0"/>
              <a:t>, </a:t>
            </a:r>
            <a:r>
              <a:rPr sz="2000" dirty="0" err="1"/>
              <a:t>linhas</a:t>
            </a:r>
            <a:r>
              <a:rPr sz="2000" dirty="0"/>
              <a:t> e </a:t>
            </a:r>
            <a:r>
              <a:rPr sz="2000" dirty="0" err="1"/>
              <a:t>veículos</a:t>
            </a:r>
            <a:r>
              <a:rPr sz="2000" dirty="0"/>
              <a:t> com </a:t>
            </a:r>
            <a:r>
              <a:rPr sz="2000" dirty="0" err="1"/>
              <a:t>pior</a:t>
            </a:r>
            <a:r>
              <a:rPr sz="2000" dirty="0"/>
              <a:t> </a:t>
            </a:r>
            <a:r>
              <a:rPr sz="2000" dirty="0" err="1"/>
              <a:t>desempenho</a:t>
            </a:r>
            <a:r>
              <a:rPr sz="2000" dirty="0"/>
              <a:t>.</a:t>
            </a:r>
          </a:p>
          <a:p>
            <a:pPr>
              <a:spcAft>
                <a:spcPts val="1000"/>
              </a:spcAft>
              <a:defRPr sz="1900"/>
            </a:pPr>
            <a:r>
              <a:rPr sz="2000" dirty="0" err="1"/>
              <a:t>Relacionar</a:t>
            </a:r>
            <a:r>
              <a:rPr sz="2000" dirty="0"/>
              <a:t> </a:t>
            </a:r>
            <a:r>
              <a:rPr sz="2000" dirty="0" err="1"/>
              <a:t>os</a:t>
            </a:r>
            <a:r>
              <a:rPr sz="2000" dirty="0"/>
              <a:t> </a:t>
            </a:r>
            <a:r>
              <a:rPr sz="2000" dirty="0" err="1"/>
              <a:t>resultados</a:t>
            </a:r>
            <a:r>
              <a:rPr sz="2000" dirty="0"/>
              <a:t> à </a:t>
            </a:r>
            <a:r>
              <a:rPr sz="2000" dirty="0" err="1"/>
              <a:t>estrutura</a:t>
            </a:r>
            <a:r>
              <a:rPr sz="2000" dirty="0"/>
              <a:t> de </a:t>
            </a:r>
            <a:r>
              <a:rPr sz="2000" dirty="0" err="1"/>
              <a:t>linhas</a:t>
            </a:r>
            <a:r>
              <a:rPr sz="2000" dirty="0"/>
              <a:t> e </a:t>
            </a:r>
            <a:r>
              <a:rPr sz="2000" dirty="0" err="1"/>
              <a:t>frota</a:t>
            </a:r>
            <a:r>
              <a:rPr sz="2000" dirty="0"/>
              <a:t>.</a:t>
            </a:r>
          </a:p>
          <a:p>
            <a:pPr>
              <a:spcAft>
                <a:spcPts val="1000"/>
              </a:spcAft>
              <a:defRPr sz="1900"/>
            </a:pPr>
            <a:r>
              <a:rPr sz="2000" dirty="0" err="1"/>
              <a:t>Apresentar</a:t>
            </a:r>
            <a:r>
              <a:rPr sz="2000" dirty="0"/>
              <a:t> </a:t>
            </a:r>
            <a:r>
              <a:rPr sz="2000" dirty="0" err="1"/>
              <a:t>cada</a:t>
            </a:r>
            <a:r>
              <a:rPr sz="2000" dirty="0"/>
              <a:t> query com </a:t>
            </a:r>
            <a:r>
              <a:rPr sz="2000" dirty="0" err="1"/>
              <a:t>sua</a:t>
            </a:r>
            <a:r>
              <a:rPr sz="2000" dirty="0"/>
              <a:t> </a:t>
            </a:r>
            <a:r>
              <a:rPr sz="2000" dirty="0" err="1"/>
              <a:t>finalidade</a:t>
            </a:r>
            <a:r>
              <a:rPr sz="2000" dirty="0"/>
              <a:t> </a:t>
            </a:r>
            <a:r>
              <a:rPr dirty="0"/>
              <a:t>e principal </a:t>
            </a:r>
            <a:r>
              <a:rPr dirty="0" err="1"/>
              <a:t>resposta</a:t>
            </a:r>
            <a:r>
              <a:rPr dirty="0"/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D87"/>
                </a:solidFill>
              </a:defRPr>
            </a:pPr>
            <a:r>
              <a:t>Projeto SPTrans – Sambaíba | Base sptrans_uc6.sql | Slide 2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9C641334-A6D4-D6FB-B5F9-94E2D21016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83056" y="0"/>
            <a:ext cx="1608944" cy="148421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4500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480143" y="201835"/>
            <a:ext cx="520123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rPr sz="3200" dirty="0"/>
              <a:t>2. </a:t>
            </a:r>
            <a:r>
              <a:rPr sz="3200" dirty="0" err="1"/>
              <a:t>Estrutura</a:t>
            </a:r>
            <a:r>
              <a:rPr sz="3200" dirty="0"/>
              <a:t> da base de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57815" y="932688"/>
            <a:ext cx="679102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A5F69"/>
                </a:solidFill>
              </a:defRPr>
            </a:pPr>
            <a:r>
              <a:rPr sz="2000" dirty="0"/>
              <a:t>O </a:t>
            </a:r>
            <a:r>
              <a:rPr sz="2000" dirty="0" err="1"/>
              <a:t>arquivo</a:t>
            </a:r>
            <a:r>
              <a:rPr sz="2000" dirty="0"/>
              <a:t> </a:t>
            </a:r>
            <a:r>
              <a:rPr sz="2000" dirty="0" err="1"/>
              <a:t>cria</a:t>
            </a:r>
            <a:r>
              <a:rPr sz="2000" dirty="0"/>
              <a:t> </a:t>
            </a:r>
            <a:r>
              <a:rPr sz="2000" dirty="0" err="1"/>
              <a:t>três</a:t>
            </a:r>
            <a:r>
              <a:rPr sz="2000" dirty="0"/>
              <a:t> </a:t>
            </a:r>
            <a:r>
              <a:rPr sz="2000" dirty="0" err="1"/>
              <a:t>tabelas</a:t>
            </a:r>
            <a:r>
              <a:rPr sz="2000" dirty="0"/>
              <a:t> </a:t>
            </a:r>
            <a:r>
              <a:rPr sz="2000" dirty="0" err="1"/>
              <a:t>relacionadas</a:t>
            </a:r>
            <a:r>
              <a:rPr sz="2000" dirty="0"/>
              <a:t> </a:t>
            </a:r>
            <a:r>
              <a:rPr sz="2000" dirty="0" err="1"/>
              <a:t>por</a:t>
            </a:r>
            <a:r>
              <a:rPr sz="2000" dirty="0"/>
              <a:t> </a:t>
            </a:r>
            <a:r>
              <a:rPr sz="2000" dirty="0" err="1"/>
              <a:t>chaves</a:t>
            </a:r>
            <a:r>
              <a:rPr sz="2000" dirty="0"/>
              <a:t> </a:t>
            </a:r>
            <a:r>
              <a:rPr sz="2000" dirty="0" err="1"/>
              <a:t>estrangeiras</a:t>
            </a:r>
            <a:endParaRPr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640080" y="2098304"/>
            <a:ext cx="6400800" cy="2323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rPr sz="2000" dirty="0"/>
              <a:t>LINHA: </a:t>
            </a:r>
            <a:r>
              <a:rPr sz="2000" dirty="0" err="1"/>
              <a:t>número</a:t>
            </a:r>
            <a:r>
              <a:rPr sz="2000" dirty="0"/>
              <a:t>, </a:t>
            </a:r>
            <a:r>
              <a:rPr sz="2000" dirty="0" err="1"/>
              <a:t>nome</a:t>
            </a:r>
            <a:r>
              <a:rPr sz="2000" dirty="0"/>
              <a:t>, </a:t>
            </a:r>
            <a:r>
              <a:rPr sz="2000" dirty="0" err="1"/>
              <a:t>origem</a:t>
            </a:r>
            <a:r>
              <a:rPr sz="2000" dirty="0"/>
              <a:t>, </a:t>
            </a:r>
            <a:r>
              <a:rPr sz="2000" dirty="0" err="1"/>
              <a:t>destino</a:t>
            </a:r>
            <a:r>
              <a:rPr sz="2000" dirty="0"/>
              <a:t> e </a:t>
            </a:r>
            <a:r>
              <a:rPr sz="2000" dirty="0" err="1"/>
              <a:t>quantidade</a:t>
            </a:r>
            <a:r>
              <a:rPr sz="2000" dirty="0"/>
              <a:t> de </a:t>
            </a:r>
            <a:r>
              <a:rPr sz="2000" dirty="0" err="1"/>
              <a:t>frota</a:t>
            </a:r>
            <a:r>
              <a:rPr sz="2000" dirty="0"/>
              <a:t>.</a:t>
            </a:r>
          </a:p>
          <a:p>
            <a:pPr>
              <a:spcAft>
                <a:spcPts val="1000"/>
              </a:spcAft>
              <a:defRPr sz="1700"/>
            </a:pPr>
            <a:r>
              <a:rPr sz="2000" dirty="0"/>
              <a:t>VEICULO: </a:t>
            </a:r>
            <a:r>
              <a:rPr sz="2000" dirty="0" err="1"/>
              <a:t>prefixo</a:t>
            </a:r>
            <a:r>
              <a:rPr sz="2000" dirty="0"/>
              <a:t>, </a:t>
            </a:r>
            <a:r>
              <a:rPr sz="2000" dirty="0" err="1"/>
              <a:t>fabricante</a:t>
            </a:r>
            <a:r>
              <a:rPr sz="2000" dirty="0"/>
              <a:t>, </a:t>
            </a:r>
            <a:r>
              <a:rPr sz="2000" dirty="0" err="1"/>
              <a:t>modelo</a:t>
            </a:r>
            <a:r>
              <a:rPr sz="2000" dirty="0"/>
              <a:t>, </a:t>
            </a:r>
            <a:r>
              <a:rPr sz="2000" dirty="0" err="1"/>
              <a:t>tipo</a:t>
            </a:r>
            <a:r>
              <a:rPr sz="2000" dirty="0"/>
              <a:t> e </a:t>
            </a:r>
            <a:r>
              <a:rPr sz="2000" dirty="0" err="1"/>
              <a:t>capacidade</a:t>
            </a:r>
            <a:r>
              <a:rPr sz="2000" dirty="0"/>
              <a:t>.</a:t>
            </a:r>
          </a:p>
          <a:p>
            <a:pPr>
              <a:spcAft>
                <a:spcPts val="1000"/>
              </a:spcAft>
              <a:defRPr sz="1700"/>
            </a:pPr>
            <a:r>
              <a:rPr sz="2000" dirty="0"/>
              <a:t>OPERACAO: </a:t>
            </a:r>
            <a:r>
              <a:rPr sz="2000" dirty="0" err="1"/>
              <a:t>linha</a:t>
            </a:r>
            <a:r>
              <a:rPr sz="2000" dirty="0"/>
              <a:t>, </a:t>
            </a:r>
            <a:r>
              <a:rPr sz="2000" dirty="0" err="1"/>
              <a:t>veículo</a:t>
            </a:r>
            <a:r>
              <a:rPr sz="2000" dirty="0"/>
              <a:t>, data, </a:t>
            </a:r>
            <a:r>
              <a:rPr sz="2000" dirty="0" err="1"/>
              <a:t>horário</a:t>
            </a:r>
            <a:r>
              <a:rPr sz="2000" dirty="0"/>
              <a:t> </a:t>
            </a:r>
            <a:r>
              <a:rPr sz="2000" dirty="0" err="1"/>
              <a:t>programado</a:t>
            </a:r>
            <a:r>
              <a:rPr sz="2000" dirty="0"/>
              <a:t>, </a:t>
            </a:r>
            <a:r>
              <a:rPr sz="2000" dirty="0" err="1"/>
              <a:t>horário</a:t>
            </a:r>
            <a:r>
              <a:rPr sz="2000" dirty="0"/>
              <a:t> real e </a:t>
            </a:r>
            <a:r>
              <a:rPr sz="2000" dirty="0" err="1"/>
              <a:t>sentido</a:t>
            </a:r>
            <a:r>
              <a:rPr sz="2000" dirty="0"/>
              <a:t>.</a:t>
            </a:r>
          </a:p>
          <a:p>
            <a:pPr>
              <a:spcAft>
                <a:spcPts val="1000"/>
              </a:spcAft>
              <a:defRPr sz="1700"/>
            </a:pPr>
            <a:r>
              <a:rPr sz="2000" dirty="0" err="1"/>
              <a:t>Relacionamentos</a:t>
            </a:r>
            <a:r>
              <a:rPr sz="2000" dirty="0"/>
              <a:t>: </a:t>
            </a:r>
            <a:r>
              <a:rPr sz="2000" dirty="0" err="1"/>
              <a:t>operação</a:t>
            </a:r>
            <a:r>
              <a:rPr sz="2000" dirty="0"/>
              <a:t> → </a:t>
            </a:r>
            <a:r>
              <a:rPr sz="2000" dirty="0" err="1"/>
              <a:t>linha</a:t>
            </a:r>
            <a:r>
              <a:rPr sz="2000" dirty="0"/>
              <a:t> e </a:t>
            </a:r>
            <a:r>
              <a:rPr sz="2000" dirty="0" err="1"/>
              <a:t>operação</a:t>
            </a:r>
            <a:r>
              <a:rPr sz="2000" dirty="0"/>
              <a:t> → </a:t>
            </a:r>
            <a:r>
              <a:rPr sz="2000" dirty="0" err="1"/>
              <a:t>veículo</a:t>
            </a:r>
            <a:r>
              <a:rPr sz="2000" dirty="0"/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417320"/>
            <a:ext cx="4572000" cy="4206240"/>
          </a:xfrm>
          <a:prstGeom prst="roundRect">
            <a:avLst/>
          </a:prstGeom>
          <a:solidFill>
            <a:srgbClr val="202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68579" y="1928218"/>
            <a:ext cx="3933721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EBEEF2"/>
                </a:solidFill>
                <a:latin typeface="Consolas"/>
              </a:defRPr>
            </a:pPr>
            <a:r>
              <a:rPr sz="2000" dirty="0"/>
              <a:t>CREATE TABLE </a:t>
            </a:r>
            <a:r>
              <a:rPr sz="2000" dirty="0" err="1"/>
              <a:t>operacao</a:t>
            </a:r>
            <a:r>
              <a:rPr sz="2000" dirty="0"/>
              <a:t> (</a:t>
            </a:r>
            <a:br>
              <a:rPr sz="2000" dirty="0"/>
            </a:br>
            <a:r>
              <a:rPr sz="2000" dirty="0"/>
              <a:t>  </a:t>
            </a:r>
            <a:r>
              <a:rPr sz="2000" dirty="0" err="1"/>
              <a:t>id_operacao</a:t>
            </a:r>
            <a:r>
              <a:rPr sz="2000" dirty="0"/>
              <a:t> INT PRIMARY KEY,</a:t>
            </a:r>
            <a:br>
              <a:rPr sz="2000" dirty="0"/>
            </a:br>
            <a:r>
              <a:rPr sz="2000" dirty="0"/>
              <a:t>  </a:t>
            </a:r>
            <a:r>
              <a:rPr sz="2000" dirty="0" err="1"/>
              <a:t>id_linha</a:t>
            </a:r>
            <a:r>
              <a:rPr sz="2000" dirty="0"/>
              <a:t> INT NOT NULL,</a:t>
            </a:r>
            <a:br>
              <a:rPr sz="2000" dirty="0"/>
            </a:br>
            <a:r>
              <a:rPr sz="2000" dirty="0"/>
              <a:t>  </a:t>
            </a:r>
            <a:r>
              <a:rPr sz="2000" dirty="0" err="1"/>
              <a:t>id_veiculo</a:t>
            </a:r>
            <a:r>
              <a:rPr sz="2000" dirty="0"/>
              <a:t> INT NOT NULL,</a:t>
            </a:r>
            <a:br>
              <a:rPr sz="2000" dirty="0"/>
            </a:br>
            <a:r>
              <a:rPr sz="2000" dirty="0"/>
              <a:t>  </a:t>
            </a:r>
            <a:r>
              <a:rPr sz="2000" dirty="0" err="1"/>
              <a:t>data_operacao</a:t>
            </a:r>
            <a:r>
              <a:rPr sz="2000" dirty="0"/>
              <a:t> DATE,</a:t>
            </a:r>
            <a:br>
              <a:rPr sz="2000" dirty="0"/>
            </a:br>
            <a:r>
              <a:rPr sz="2000" dirty="0"/>
              <a:t>  </a:t>
            </a:r>
            <a:r>
              <a:rPr sz="2000" dirty="0" err="1"/>
              <a:t>horario_programado</a:t>
            </a:r>
            <a:r>
              <a:rPr sz="2000" dirty="0"/>
              <a:t> TIME,</a:t>
            </a:r>
            <a:br>
              <a:rPr sz="2000" dirty="0"/>
            </a:br>
            <a:r>
              <a:rPr sz="2000" dirty="0"/>
              <a:t>  </a:t>
            </a:r>
            <a:r>
              <a:rPr sz="2000" dirty="0" err="1"/>
              <a:t>horario_real</a:t>
            </a:r>
            <a:r>
              <a:rPr sz="2000" dirty="0"/>
              <a:t> TIME,</a:t>
            </a:r>
            <a:br>
              <a:rPr sz="2000" dirty="0"/>
            </a:br>
            <a:r>
              <a:rPr sz="2000" dirty="0"/>
              <a:t>  </a:t>
            </a:r>
            <a:r>
              <a:rPr sz="2000" dirty="0" err="1"/>
              <a:t>sentido</a:t>
            </a:r>
            <a:r>
              <a:rPr sz="2000" dirty="0"/>
              <a:t> ENUM('</a:t>
            </a:r>
            <a:r>
              <a:rPr sz="2000" dirty="0" err="1"/>
              <a:t>ida</a:t>
            </a:r>
            <a:r>
              <a:rPr sz="2000" dirty="0"/>
              <a:t>','volta')</a:t>
            </a:r>
            <a:br>
              <a:rPr sz="2000" dirty="0"/>
            </a:br>
            <a:r>
              <a:rPr sz="2000" dirty="0"/>
              <a:t>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D87"/>
                </a:solidFill>
              </a:defRPr>
            </a:pPr>
            <a:r>
              <a:t>Projeto SPTrans – Sambaíba | Base sptrans_uc6.sql | Slide 3</a:t>
            </a:r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E122EB11-4C9B-3204-DADC-3623FCA674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83056" y="0"/>
            <a:ext cx="1608944" cy="148421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38000">
              <a:schemeClr val="accent3">
                <a:lumMod val="5000"/>
                <a:lumOff val="9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44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321560" y="320040"/>
            <a:ext cx="351839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rPr dirty="0"/>
              <a:t>3. </a:t>
            </a:r>
            <a:r>
              <a:rPr sz="3200" dirty="0" err="1"/>
              <a:t>Visão</a:t>
            </a:r>
            <a:r>
              <a:rPr dirty="0"/>
              <a:t> </a:t>
            </a:r>
            <a:r>
              <a:rPr dirty="0" err="1"/>
              <a:t>geral</a:t>
            </a:r>
            <a:r>
              <a:rPr dirty="0"/>
              <a:t> da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88253" y="932688"/>
            <a:ext cx="593015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A5F69"/>
                </a:solidFill>
              </a:defRPr>
            </a:pPr>
            <a:r>
              <a:rPr sz="2000" dirty="0" err="1"/>
              <a:t>Contagens</a:t>
            </a:r>
            <a:r>
              <a:rPr sz="2000" dirty="0"/>
              <a:t> </a:t>
            </a:r>
            <a:r>
              <a:rPr sz="2000" dirty="0" err="1"/>
              <a:t>obtidas</a:t>
            </a:r>
            <a:r>
              <a:rPr sz="2000" dirty="0"/>
              <a:t> </a:t>
            </a:r>
            <a:r>
              <a:rPr sz="2000" dirty="0" err="1"/>
              <a:t>diretamente</a:t>
            </a:r>
            <a:r>
              <a:rPr sz="2000" dirty="0"/>
              <a:t> dos INSERTs do </a:t>
            </a:r>
            <a:r>
              <a:rPr sz="2000" dirty="0" err="1"/>
              <a:t>arquivo</a:t>
            </a:r>
            <a:endParaRPr sz="2000" dirty="0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2240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73529" y="1596968"/>
            <a:ext cx="60144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/>
            </a:pPr>
            <a:r>
              <a:rPr sz="3200" dirty="0"/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5746" y="2075471"/>
            <a:ext cx="79701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5F69"/>
                </a:solidFill>
              </a:defRPr>
            </a:pPr>
            <a:r>
              <a:rPr sz="2000" dirty="0" err="1"/>
              <a:t>linhas</a:t>
            </a:r>
            <a:endParaRPr sz="2000" dirty="0"/>
          </a:p>
        </p:txBody>
      </p:sp>
      <p:sp>
        <p:nvSpPr>
          <p:cNvPr id="8" name="Rounded Rectangle 7"/>
          <p:cNvSpPr/>
          <p:nvPr/>
        </p:nvSpPr>
        <p:spPr>
          <a:xfrm>
            <a:off x="3063240" y="1417320"/>
            <a:ext cx="2240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78461" y="1545115"/>
            <a:ext cx="80983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/>
            </a:pPr>
            <a:r>
              <a:rPr sz="3200" dirty="0"/>
              <a:t>217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28068" y="2021275"/>
            <a:ext cx="102374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5F69"/>
                </a:solidFill>
              </a:defRPr>
            </a:pPr>
            <a:r>
              <a:rPr sz="2000" dirty="0" err="1"/>
              <a:t>veículos</a:t>
            </a:r>
            <a:endParaRPr sz="2000" dirty="0"/>
          </a:p>
        </p:txBody>
      </p:sp>
      <p:sp>
        <p:nvSpPr>
          <p:cNvPr id="11" name="Rounded Rectangle 10"/>
          <p:cNvSpPr/>
          <p:nvPr/>
        </p:nvSpPr>
        <p:spPr>
          <a:xfrm>
            <a:off x="5486400" y="1417320"/>
            <a:ext cx="2240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41036" y="1527048"/>
            <a:ext cx="101822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/>
            </a:pPr>
            <a:r>
              <a:rPr sz="3200" dirty="0"/>
              <a:t>1950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21933" y="2049375"/>
            <a:ext cx="216835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5F69"/>
                </a:solidFill>
              </a:defRPr>
            </a:pPr>
            <a:r>
              <a:rPr sz="2000" dirty="0" err="1"/>
              <a:t>viagens</a:t>
            </a:r>
            <a:r>
              <a:rPr sz="2000" dirty="0"/>
              <a:t> </a:t>
            </a:r>
            <a:r>
              <a:rPr sz="2000" dirty="0" err="1"/>
              <a:t>registradas</a:t>
            </a:r>
            <a:endParaRPr sz="2000" dirty="0"/>
          </a:p>
        </p:txBody>
      </p:sp>
      <p:sp>
        <p:nvSpPr>
          <p:cNvPr id="14" name="Rounded Rectangle 13"/>
          <p:cNvSpPr/>
          <p:nvPr/>
        </p:nvSpPr>
        <p:spPr>
          <a:xfrm>
            <a:off x="7909560" y="1417320"/>
            <a:ext cx="3642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467" y="1506757"/>
            <a:ext cx="101822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/>
            </a:pPr>
            <a:r>
              <a:rPr sz="3200" dirty="0"/>
              <a:t>1936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9071" y="2049375"/>
            <a:ext cx="344902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A5F69"/>
                </a:solidFill>
              </a:defRPr>
            </a:pPr>
            <a:r>
              <a:rPr sz="2000" dirty="0" err="1"/>
              <a:t>viagens</a:t>
            </a:r>
            <a:r>
              <a:rPr sz="2000" dirty="0"/>
              <a:t> com real &gt; </a:t>
            </a:r>
            <a:r>
              <a:rPr sz="2000" dirty="0" err="1"/>
              <a:t>programado</a:t>
            </a:r>
            <a:endParaRPr sz="2000" dirty="0"/>
          </a:p>
        </p:txBody>
      </p:sp>
      <p:sp>
        <p:nvSpPr>
          <p:cNvPr id="17" name="TextBox 16"/>
          <p:cNvSpPr txBox="1"/>
          <p:nvPr/>
        </p:nvSpPr>
        <p:spPr>
          <a:xfrm>
            <a:off x="731520" y="2880360"/>
            <a:ext cx="10424160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600"/>
            </a:pPr>
            <a:r>
              <a:rPr sz="2000" dirty="0"/>
              <a:t>O SQL </a:t>
            </a:r>
            <a:r>
              <a:rPr sz="2000" dirty="0" err="1"/>
              <a:t>contém</a:t>
            </a:r>
            <a:r>
              <a:rPr sz="2000" dirty="0"/>
              <a:t> 30 </a:t>
            </a:r>
            <a:r>
              <a:rPr sz="2000" dirty="0" err="1"/>
              <a:t>linhas</a:t>
            </a:r>
            <a:r>
              <a:rPr sz="2000" dirty="0"/>
              <a:t> </a:t>
            </a:r>
            <a:r>
              <a:rPr sz="2000" dirty="0" err="1"/>
              <a:t>cadastradas</a:t>
            </a:r>
            <a:r>
              <a:rPr sz="2000" dirty="0"/>
              <a:t> e 217 </a:t>
            </a:r>
            <a:r>
              <a:rPr sz="2000" dirty="0" err="1"/>
              <a:t>veículos</a:t>
            </a:r>
            <a:r>
              <a:rPr sz="2000" dirty="0"/>
              <a:t>.</a:t>
            </a:r>
          </a:p>
          <a:p>
            <a:pPr algn="ctr">
              <a:spcAft>
                <a:spcPts val="1000"/>
              </a:spcAft>
              <a:defRPr sz="1600"/>
            </a:pPr>
            <a:r>
              <a:rPr sz="2000" dirty="0"/>
              <a:t>Ao </a:t>
            </a:r>
            <a:r>
              <a:rPr sz="2000" dirty="0" err="1"/>
              <a:t>contar</a:t>
            </a:r>
            <a:r>
              <a:rPr sz="2000" dirty="0"/>
              <a:t> as </a:t>
            </a:r>
            <a:r>
              <a:rPr sz="2000" dirty="0" err="1"/>
              <a:t>tuplas</a:t>
            </a:r>
            <a:r>
              <a:rPr sz="2000" dirty="0"/>
              <a:t> de INSERT </a:t>
            </a:r>
            <a:r>
              <a:rPr sz="2000" dirty="0" err="1"/>
              <a:t>em</a:t>
            </a:r>
            <a:r>
              <a:rPr sz="2000" dirty="0"/>
              <a:t> </a:t>
            </a:r>
            <a:r>
              <a:rPr sz="2000" dirty="0" err="1"/>
              <a:t>operacao</a:t>
            </a:r>
            <a:r>
              <a:rPr sz="2000" dirty="0"/>
              <a:t>, </a:t>
            </a:r>
            <a:r>
              <a:rPr sz="2000" dirty="0" err="1"/>
              <a:t>são</a:t>
            </a:r>
            <a:r>
              <a:rPr sz="2000" dirty="0"/>
              <a:t> 1.950 </a:t>
            </a:r>
            <a:r>
              <a:rPr sz="2000" dirty="0" err="1"/>
              <a:t>registros</a:t>
            </a:r>
            <a:r>
              <a:rPr sz="2000" dirty="0"/>
              <a:t>.</a:t>
            </a:r>
          </a:p>
          <a:p>
            <a:pPr algn="ctr">
              <a:spcAft>
                <a:spcPts val="1000"/>
              </a:spcAft>
              <a:defRPr sz="1600"/>
            </a:pPr>
            <a:r>
              <a:rPr sz="2000" dirty="0"/>
              <a:t>O </a:t>
            </a:r>
            <a:r>
              <a:rPr sz="2000" dirty="0" err="1"/>
              <a:t>comentário</a:t>
            </a:r>
            <a:r>
              <a:rPr sz="2000" dirty="0"/>
              <a:t> do </a:t>
            </a:r>
            <a:r>
              <a:rPr sz="2000" dirty="0" err="1"/>
              <a:t>arquivo</a:t>
            </a:r>
            <a:r>
              <a:rPr sz="2000" dirty="0"/>
              <a:t> </a:t>
            </a:r>
            <a:r>
              <a:rPr sz="2000" dirty="0" err="1"/>
              <a:t>menciona</a:t>
            </a:r>
            <a:r>
              <a:rPr sz="2000" dirty="0"/>
              <a:t> 1.680 e </a:t>
            </a:r>
            <a:r>
              <a:rPr sz="2000" dirty="0" err="1"/>
              <a:t>também</a:t>
            </a:r>
            <a:r>
              <a:rPr sz="2000" dirty="0"/>
              <a:t> 1.860 </a:t>
            </a:r>
            <a:r>
              <a:rPr sz="2000" dirty="0" err="1"/>
              <a:t>viagens</a:t>
            </a:r>
            <a:r>
              <a:rPr sz="2000" dirty="0"/>
              <a:t>; o </a:t>
            </a:r>
            <a:r>
              <a:rPr sz="2000" dirty="0" err="1"/>
              <a:t>conteúdo</a:t>
            </a:r>
            <a:r>
              <a:rPr sz="2000" dirty="0"/>
              <a:t> </a:t>
            </a:r>
            <a:r>
              <a:rPr sz="2000" dirty="0" err="1"/>
              <a:t>efetivamente</a:t>
            </a:r>
            <a:r>
              <a:rPr sz="2000" dirty="0"/>
              <a:t> </a:t>
            </a:r>
            <a:r>
              <a:rPr sz="2000" dirty="0" err="1"/>
              <a:t>inserido</a:t>
            </a:r>
            <a:r>
              <a:rPr sz="2000" dirty="0"/>
              <a:t> soma 1.950.</a:t>
            </a:r>
          </a:p>
          <a:p>
            <a:pPr algn="ctr">
              <a:spcAft>
                <a:spcPts val="1000"/>
              </a:spcAft>
              <a:defRPr sz="1600"/>
            </a:pPr>
            <a:r>
              <a:rPr sz="2000" dirty="0"/>
              <a:t>Essa </a:t>
            </a:r>
            <a:r>
              <a:rPr sz="2000" dirty="0" err="1"/>
              <a:t>diferença</a:t>
            </a:r>
            <a:r>
              <a:rPr sz="2000" dirty="0"/>
              <a:t> </a:t>
            </a:r>
            <a:r>
              <a:rPr sz="2000" dirty="0" err="1"/>
              <a:t>deve</a:t>
            </a:r>
            <a:r>
              <a:rPr sz="2000" dirty="0"/>
              <a:t> ser </a:t>
            </a:r>
            <a:r>
              <a:rPr sz="2000" dirty="0" err="1"/>
              <a:t>apresentada</a:t>
            </a:r>
            <a:r>
              <a:rPr sz="2000" dirty="0"/>
              <a:t> </a:t>
            </a:r>
            <a:r>
              <a:rPr sz="2000" dirty="0" err="1"/>
              <a:t>como</a:t>
            </a:r>
            <a:r>
              <a:rPr sz="2000" dirty="0"/>
              <a:t> </a:t>
            </a:r>
            <a:r>
              <a:rPr sz="2000" dirty="0" err="1"/>
              <a:t>observação</a:t>
            </a:r>
            <a:r>
              <a:rPr sz="2000" dirty="0"/>
              <a:t> de </a:t>
            </a:r>
            <a:r>
              <a:rPr sz="2000" dirty="0" err="1"/>
              <a:t>consistência</a:t>
            </a:r>
            <a:r>
              <a:rPr sz="2000" dirty="0"/>
              <a:t> da base.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D87"/>
                </a:solidFill>
              </a:defRPr>
            </a:pPr>
            <a:r>
              <a:t>Projeto SPTrans – Sambaíba | Base sptrans_uc6.sql | Slide 4</a:t>
            </a:r>
          </a:p>
        </p:txBody>
      </p:sp>
      <p:pic>
        <p:nvPicPr>
          <p:cNvPr id="20" name="Gráfico 19">
            <a:extLst>
              <a:ext uri="{FF2B5EF4-FFF2-40B4-BE49-F238E27FC236}">
                <a16:creationId xmlns:a16="http://schemas.microsoft.com/office/drawing/2014/main" id="{9BD54FFB-3018-8BDF-B335-0F69095FE4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83056" y="0"/>
            <a:ext cx="1608944" cy="14842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0"/>
                <a:lumOff val="100000"/>
              </a:schemeClr>
            </a:gs>
            <a:gs pos="35000">
              <a:schemeClr val="accent6">
                <a:lumMod val="0"/>
                <a:lumOff val="100000"/>
              </a:schemeClr>
            </a:gs>
            <a:gs pos="100000">
              <a:schemeClr val="accent6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141750" y="320040"/>
            <a:ext cx="587801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rPr dirty="0"/>
              <a:t>4. Query 1 – Quais </a:t>
            </a:r>
            <a:r>
              <a:rPr dirty="0" err="1"/>
              <a:t>viagens</a:t>
            </a:r>
            <a:r>
              <a:rPr dirty="0"/>
              <a:t> </a:t>
            </a:r>
            <a:r>
              <a:rPr dirty="0" err="1"/>
              <a:t>atrasaram</a:t>
            </a:r>
            <a:r>
              <a:rPr dirty="0"/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98756" y="932688"/>
            <a:ext cx="670914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A5F69"/>
                </a:solidFill>
              </a:defRPr>
            </a:pPr>
            <a:r>
              <a:rPr sz="2000" dirty="0"/>
              <a:t>Filtra </a:t>
            </a:r>
            <a:r>
              <a:rPr sz="2000" dirty="0" err="1"/>
              <a:t>viagens</a:t>
            </a:r>
            <a:r>
              <a:rPr sz="2000" dirty="0"/>
              <a:t> </a:t>
            </a:r>
            <a:r>
              <a:rPr sz="2000" dirty="0" err="1"/>
              <a:t>em</a:t>
            </a:r>
            <a:r>
              <a:rPr sz="2000" dirty="0"/>
              <a:t> </a:t>
            </a:r>
            <a:r>
              <a:rPr sz="2000" dirty="0" err="1"/>
              <a:t>que</a:t>
            </a:r>
            <a:r>
              <a:rPr sz="2000" dirty="0"/>
              <a:t> o </a:t>
            </a:r>
            <a:r>
              <a:rPr sz="2000" dirty="0" err="1"/>
              <a:t>horário</a:t>
            </a:r>
            <a:r>
              <a:rPr sz="2000" dirty="0"/>
              <a:t> real é </a:t>
            </a:r>
            <a:r>
              <a:rPr sz="2000" dirty="0" err="1"/>
              <a:t>maior</a:t>
            </a:r>
            <a:r>
              <a:rPr sz="2000" dirty="0"/>
              <a:t> </a:t>
            </a:r>
            <a:r>
              <a:rPr sz="2000" dirty="0" err="1"/>
              <a:t>que</a:t>
            </a:r>
            <a:r>
              <a:rPr sz="2000" dirty="0"/>
              <a:t> o </a:t>
            </a:r>
            <a:r>
              <a:rPr sz="2000" dirty="0" err="1"/>
              <a:t>programado</a:t>
            </a:r>
            <a:endParaRPr sz="2000" dirty="0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120640" cy="4297680"/>
          </a:xfrm>
          <a:prstGeom prst="roundRect">
            <a:avLst/>
          </a:prstGeom>
          <a:solidFill>
            <a:srgbClr val="202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1450" y="1986210"/>
            <a:ext cx="48006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EBEEF2"/>
                </a:solidFill>
                <a:latin typeface="Consolas"/>
              </a:defRPr>
            </a:pPr>
            <a:r>
              <a:rPr sz="2000" dirty="0"/>
              <a:t>SELECT ...</a:t>
            </a:r>
            <a:br>
              <a:rPr sz="2000" dirty="0"/>
            </a:br>
            <a:r>
              <a:rPr sz="2000" dirty="0"/>
              <a:t>FROM </a:t>
            </a:r>
            <a:r>
              <a:rPr sz="2000" dirty="0" err="1"/>
              <a:t>operacao</a:t>
            </a:r>
            <a:r>
              <a:rPr sz="2000" dirty="0"/>
              <a:t> o</a:t>
            </a:r>
            <a:br>
              <a:rPr sz="2000" dirty="0"/>
            </a:br>
            <a:r>
              <a:rPr sz="2000" dirty="0"/>
              <a:t>JOIN </a:t>
            </a:r>
            <a:r>
              <a:rPr sz="2000" dirty="0" err="1"/>
              <a:t>linha</a:t>
            </a:r>
            <a:r>
              <a:rPr sz="2000" dirty="0"/>
              <a:t> l ON </a:t>
            </a:r>
            <a:r>
              <a:rPr sz="2000" dirty="0" err="1"/>
              <a:t>o.id_linha</a:t>
            </a:r>
            <a:r>
              <a:rPr sz="2000" dirty="0"/>
              <a:t> = </a:t>
            </a:r>
            <a:r>
              <a:rPr sz="2000" dirty="0" err="1"/>
              <a:t>l.id_linha</a:t>
            </a:r>
            <a:br>
              <a:rPr sz="2000" dirty="0"/>
            </a:br>
            <a:r>
              <a:rPr sz="2000" dirty="0"/>
              <a:t>WHERE </a:t>
            </a:r>
            <a:r>
              <a:rPr sz="2000" dirty="0" err="1"/>
              <a:t>o.horario_real</a:t>
            </a:r>
            <a:r>
              <a:rPr sz="2000" dirty="0"/>
              <a:t> &gt; </a:t>
            </a:r>
            <a:r>
              <a:rPr sz="2000" dirty="0" err="1"/>
              <a:t>o.horario_programado</a:t>
            </a:r>
            <a:br>
              <a:rPr sz="2000" dirty="0"/>
            </a:br>
            <a:r>
              <a:rPr sz="2000" dirty="0"/>
              <a:t>ORDER BY </a:t>
            </a:r>
            <a:r>
              <a:rPr sz="2000" dirty="0" err="1"/>
              <a:t>o.data_operacao</a:t>
            </a:r>
            <a:r>
              <a:rPr sz="2000" dirty="0"/>
              <a:t>, </a:t>
            </a:r>
            <a:r>
              <a:rPr sz="2000" dirty="0" err="1"/>
              <a:t>o.id_linha</a:t>
            </a:r>
            <a:r>
              <a:rPr sz="2000" dirty="0"/>
              <a:t>, </a:t>
            </a:r>
            <a:r>
              <a:rPr sz="2000" dirty="0" err="1"/>
              <a:t>o.id_veiculo</a:t>
            </a:r>
            <a:br>
              <a:rPr sz="2000" dirty="0"/>
            </a:br>
            <a:r>
              <a:rPr sz="2000" dirty="0"/>
              <a:t>LIMIT 15;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92369" y="2013792"/>
            <a:ext cx="5394960" cy="2939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/>
            </a:pPr>
            <a:r>
              <a:rPr sz="2000" dirty="0" err="1"/>
              <a:t>Resultado</a:t>
            </a:r>
            <a:r>
              <a:rPr sz="2000" dirty="0"/>
              <a:t>: 15 </a:t>
            </a:r>
            <a:r>
              <a:rPr sz="2000" dirty="0" err="1"/>
              <a:t>primeiras</a:t>
            </a:r>
            <a:r>
              <a:rPr sz="2000" dirty="0"/>
              <a:t> </a:t>
            </a:r>
            <a:r>
              <a:rPr sz="2000" dirty="0" err="1"/>
              <a:t>viagens</a:t>
            </a:r>
            <a:r>
              <a:rPr sz="2000" dirty="0"/>
              <a:t> </a:t>
            </a:r>
            <a:r>
              <a:rPr sz="2000" dirty="0" err="1"/>
              <a:t>atrasadas</a:t>
            </a:r>
            <a:r>
              <a:rPr sz="2000" dirty="0"/>
              <a:t> </a:t>
            </a:r>
            <a:r>
              <a:rPr sz="2000" dirty="0" err="1"/>
              <a:t>são</a:t>
            </a:r>
            <a:r>
              <a:rPr sz="2000" dirty="0"/>
              <a:t> </a:t>
            </a:r>
            <a:r>
              <a:rPr sz="2000" dirty="0" err="1"/>
              <a:t>exibidas</a:t>
            </a:r>
            <a:r>
              <a:rPr sz="2000" dirty="0"/>
              <a:t> pela query.</a:t>
            </a:r>
          </a:p>
          <a:p>
            <a:pPr>
              <a:spcAft>
                <a:spcPts val="1000"/>
              </a:spcAft>
              <a:defRPr sz="1500"/>
            </a:pPr>
            <a:r>
              <a:rPr sz="2000" dirty="0"/>
              <a:t>No conjunto </a:t>
            </a:r>
            <a:r>
              <a:rPr sz="2000" dirty="0" err="1"/>
              <a:t>completo</a:t>
            </a:r>
            <a:r>
              <a:rPr sz="2000" dirty="0"/>
              <a:t>, 1936 de 1950 </a:t>
            </a:r>
            <a:r>
              <a:rPr sz="2000" dirty="0" err="1"/>
              <a:t>registros</a:t>
            </a:r>
            <a:r>
              <a:rPr sz="2000" dirty="0"/>
              <a:t> </a:t>
            </a:r>
            <a:r>
              <a:rPr sz="2000" dirty="0" err="1"/>
              <a:t>têm</a:t>
            </a:r>
            <a:r>
              <a:rPr sz="2000" dirty="0"/>
              <a:t> </a:t>
            </a:r>
            <a:r>
              <a:rPr sz="2000" dirty="0" err="1"/>
              <a:t>horário</a:t>
            </a:r>
            <a:r>
              <a:rPr sz="2000" dirty="0"/>
              <a:t> real </a:t>
            </a:r>
            <a:r>
              <a:rPr sz="2000" dirty="0" err="1"/>
              <a:t>maior</a:t>
            </a:r>
            <a:r>
              <a:rPr sz="2000" dirty="0"/>
              <a:t> </a:t>
            </a:r>
            <a:r>
              <a:rPr sz="2000" dirty="0" err="1"/>
              <a:t>que</a:t>
            </a:r>
            <a:r>
              <a:rPr sz="2000" dirty="0"/>
              <a:t> o </a:t>
            </a:r>
            <a:r>
              <a:rPr sz="2000" dirty="0" err="1"/>
              <a:t>programado</a:t>
            </a:r>
            <a:r>
              <a:rPr sz="2000" dirty="0"/>
              <a:t>.</a:t>
            </a:r>
          </a:p>
          <a:p>
            <a:pPr>
              <a:spcAft>
                <a:spcPts val="1000"/>
              </a:spcAft>
              <a:defRPr sz="1500"/>
            </a:pPr>
            <a:r>
              <a:rPr sz="2000" dirty="0" err="1"/>
              <a:t>Exemplo</a:t>
            </a:r>
            <a:r>
              <a:rPr sz="2000" dirty="0"/>
              <a:t> do </a:t>
            </a:r>
            <a:r>
              <a:rPr sz="2000" dirty="0" err="1"/>
              <a:t>arquivo</a:t>
            </a:r>
            <a:r>
              <a:rPr sz="2000" dirty="0"/>
              <a:t>: a </a:t>
            </a:r>
            <a:r>
              <a:rPr sz="2000" dirty="0" err="1"/>
              <a:t>linha</a:t>
            </a:r>
            <a:r>
              <a:rPr sz="2000" dirty="0"/>
              <a:t> 971C-10 </a:t>
            </a:r>
            <a:r>
              <a:rPr sz="2000" dirty="0" err="1"/>
              <a:t>apresenta</a:t>
            </a:r>
            <a:r>
              <a:rPr sz="2000" dirty="0"/>
              <a:t> </a:t>
            </a:r>
            <a:r>
              <a:rPr sz="2000" dirty="0" err="1"/>
              <a:t>viagens</a:t>
            </a:r>
            <a:r>
              <a:rPr sz="2000" dirty="0"/>
              <a:t> com 2, 5, 10 e 12 </a:t>
            </a:r>
            <a:r>
              <a:rPr sz="2000" dirty="0" err="1"/>
              <a:t>minutos</a:t>
            </a:r>
            <a:r>
              <a:rPr sz="2000" dirty="0"/>
              <a:t> de </a:t>
            </a:r>
            <a:r>
              <a:rPr sz="2000" dirty="0" err="1"/>
              <a:t>diferença</a:t>
            </a:r>
            <a:r>
              <a:rPr sz="2000" dirty="0"/>
              <a:t>.</a:t>
            </a:r>
          </a:p>
          <a:p>
            <a:pPr>
              <a:spcAft>
                <a:spcPts val="1000"/>
              </a:spcAft>
              <a:defRPr sz="1500"/>
            </a:pPr>
            <a:r>
              <a:rPr sz="2000" dirty="0" err="1"/>
              <a:t>Objetivo</a:t>
            </a:r>
            <a:r>
              <a:rPr sz="2000" dirty="0"/>
              <a:t>: </a:t>
            </a:r>
            <a:r>
              <a:rPr sz="2000" dirty="0" err="1"/>
              <a:t>localizar</a:t>
            </a:r>
            <a:r>
              <a:rPr sz="2000" dirty="0"/>
              <a:t> </a:t>
            </a:r>
            <a:r>
              <a:rPr sz="2000" dirty="0" err="1"/>
              <a:t>ocorrências</a:t>
            </a:r>
            <a:r>
              <a:rPr sz="2000" dirty="0"/>
              <a:t> </a:t>
            </a:r>
            <a:r>
              <a:rPr sz="2000" dirty="0" err="1"/>
              <a:t>concretas</a:t>
            </a:r>
            <a:r>
              <a:rPr sz="2000" dirty="0"/>
              <a:t> de </a:t>
            </a:r>
            <a:r>
              <a:rPr sz="2000" dirty="0" err="1"/>
              <a:t>atraso</a:t>
            </a:r>
            <a:r>
              <a:rPr sz="2000" dirty="0"/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D87"/>
                </a:solidFill>
              </a:defRPr>
            </a:pPr>
            <a:r>
              <a:t>Projeto SPTrans – Sambaíba | Base sptrans_uc6.sql | Slide 5</a:t>
            </a:r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CA687603-FA8A-1455-BD32-BFB32ECA14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83056" y="0"/>
            <a:ext cx="1608944" cy="148421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75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124662" y="320040"/>
            <a:ext cx="591219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rPr dirty="0"/>
              <a:t>5. Query 2 – </a:t>
            </a:r>
            <a:r>
              <a:rPr dirty="0" err="1"/>
              <a:t>Média</a:t>
            </a:r>
            <a:r>
              <a:rPr dirty="0"/>
              <a:t> de </a:t>
            </a:r>
            <a:r>
              <a:rPr dirty="0" err="1"/>
              <a:t>atraso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linha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2922246" y="932688"/>
            <a:ext cx="626216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A5F69"/>
                </a:solidFill>
              </a:defRPr>
            </a:pPr>
            <a:r>
              <a:rPr sz="2000" dirty="0"/>
              <a:t>Ordena as </a:t>
            </a:r>
            <a:r>
              <a:rPr sz="2000" dirty="0" err="1"/>
              <a:t>linhas</a:t>
            </a:r>
            <a:r>
              <a:rPr lang="pt-BR" sz="2000" dirty="0"/>
              <a:t>pela</a:t>
            </a:r>
            <a:r>
              <a:rPr sz="2000" dirty="0"/>
              <a:t> </a:t>
            </a:r>
            <a:r>
              <a:rPr sz="2000" dirty="0" err="1"/>
              <a:t>média</a:t>
            </a:r>
            <a:r>
              <a:rPr sz="2000" dirty="0"/>
              <a:t> </a:t>
            </a:r>
            <a:r>
              <a:rPr sz="2000" dirty="0" err="1"/>
              <a:t>calculada</a:t>
            </a:r>
            <a:r>
              <a:rPr sz="2000" dirty="0"/>
              <a:t> </a:t>
            </a:r>
            <a:r>
              <a:rPr sz="2000" dirty="0" err="1"/>
              <a:t>em</a:t>
            </a:r>
            <a:r>
              <a:rPr sz="2000" dirty="0"/>
              <a:t> TIMESTAMPDIFF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451499"/>
              </p:ext>
            </p:extLst>
          </p:nvPr>
        </p:nvGraphicFramePr>
        <p:xfrm>
          <a:off x="6400800" y="1325880"/>
          <a:ext cx="521208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79120" y="1877199"/>
            <a:ext cx="5394960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500"/>
            </a:pPr>
            <a:endParaRPr lang="pt-BR" sz="2000" dirty="0"/>
          </a:p>
          <a:p>
            <a:pPr algn="ctr">
              <a:spcAft>
                <a:spcPts val="1000"/>
              </a:spcAft>
              <a:defRPr sz="1500"/>
            </a:pPr>
            <a:r>
              <a:rPr sz="2000" dirty="0"/>
              <a:t>1º: 971F-10 – 12.78 min.</a:t>
            </a:r>
          </a:p>
          <a:p>
            <a:pPr algn="ctr">
              <a:spcAft>
                <a:spcPts val="1000"/>
              </a:spcAft>
              <a:defRPr sz="1500"/>
            </a:pPr>
            <a:r>
              <a:rPr sz="2000" dirty="0"/>
              <a:t>2º: 971H-10 – 12.78 min.</a:t>
            </a:r>
          </a:p>
          <a:p>
            <a:pPr algn="ctr">
              <a:spcAft>
                <a:spcPts val="1000"/>
              </a:spcAft>
              <a:defRPr sz="1500"/>
            </a:pPr>
            <a:r>
              <a:rPr sz="2000" dirty="0"/>
              <a:t>3º: 971G-10 – 12.59 min.</a:t>
            </a:r>
            <a:endParaRPr lang="pt-BR" sz="2000" dirty="0"/>
          </a:p>
          <a:p>
            <a:pPr algn="ctr">
              <a:spcAft>
                <a:spcPts val="1000"/>
              </a:spcAft>
              <a:defRPr sz="1500"/>
            </a:pPr>
            <a:endParaRPr lang="pt-BR" sz="2000" dirty="0"/>
          </a:p>
          <a:p>
            <a:pPr algn="ctr">
              <a:spcAft>
                <a:spcPts val="1000"/>
              </a:spcAft>
              <a:defRPr sz="1500"/>
            </a:pPr>
            <a:endParaRPr sz="2000" dirty="0"/>
          </a:p>
          <a:p>
            <a:pPr algn="ctr">
              <a:spcAft>
                <a:spcPts val="1000"/>
              </a:spcAft>
              <a:defRPr sz="1500"/>
            </a:pPr>
            <a:r>
              <a:rPr sz="2000" dirty="0"/>
              <a:t>A query </a:t>
            </a:r>
            <a:r>
              <a:rPr sz="2000" dirty="0" err="1"/>
              <a:t>inclui</a:t>
            </a:r>
            <a:r>
              <a:rPr sz="2000" dirty="0"/>
              <a:t> </a:t>
            </a:r>
            <a:r>
              <a:rPr sz="2000" dirty="0" err="1"/>
              <a:t>todos</a:t>
            </a:r>
            <a:r>
              <a:rPr sz="2000" dirty="0"/>
              <a:t> </a:t>
            </a:r>
            <a:r>
              <a:rPr sz="2000" dirty="0" err="1"/>
              <a:t>os</a:t>
            </a:r>
            <a:r>
              <a:rPr sz="2000" dirty="0"/>
              <a:t> </a:t>
            </a:r>
            <a:r>
              <a:rPr sz="2000" dirty="0" err="1"/>
              <a:t>valores</a:t>
            </a:r>
            <a:r>
              <a:rPr sz="2000" dirty="0"/>
              <a:t> de </a:t>
            </a:r>
            <a:r>
              <a:rPr sz="2000" dirty="0" err="1"/>
              <a:t>diferença</a:t>
            </a:r>
            <a:r>
              <a:rPr sz="2000" dirty="0"/>
              <a:t> de </a:t>
            </a:r>
            <a:r>
              <a:rPr sz="2000" dirty="0" err="1"/>
              <a:t>horário</a:t>
            </a:r>
            <a:r>
              <a:rPr sz="2000" dirty="0"/>
              <a:t>, inclusive </a:t>
            </a:r>
            <a:r>
              <a:rPr sz="2000" dirty="0" err="1"/>
              <a:t>diferenças</a:t>
            </a:r>
            <a:r>
              <a:rPr sz="2000" dirty="0"/>
              <a:t> </a:t>
            </a:r>
            <a:r>
              <a:rPr sz="2000" dirty="0" err="1"/>
              <a:t>negativas</a:t>
            </a:r>
            <a:r>
              <a:rPr sz="2000" dirty="0"/>
              <a:t> </a:t>
            </a:r>
            <a:r>
              <a:rPr sz="2000" dirty="0" err="1"/>
              <a:t>geradas</a:t>
            </a:r>
            <a:r>
              <a:rPr sz="2000" dirty="0"/>
              <a:t> pela </a:t>
            </a:r>
            <a:r>
              <a:rPr sz="2000" dirty="0" err="1"/>
              <a:t>representação</a:t>
            </a:r>
            <a:r>
              <a:rPr sz="2000" dirty="0"/>
              <a:t> de </a:t>
            </a:r>
            <a:r>
              <a:rPr sz="2000" dirty="0" err="1"/>
              <a:t>horários</a:t>
            </a:r>
            <a:r>
              <a:rPr sz="2000" dirty="0"/>
              <a:t> </a:t>
            </a:r>
            <a:r>
              <a:rPr sz="2000" dirty="0" err="1"/>
              <a:t>após</a:t>
            </a:r>
            <a:r>
              <a:rPr sz="2000" dirty="0"/>
              <a:t> </a:t>
            </a:r>
            <a:r>
              <a:rPr sz="2000" dirty="0" err="1"/>
              <a:t>meia-noite</a:t>
            </a:r>
            <a:r>
              <a:rPr sz="2000"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D87"/>
                </a:solidFill>
              </a:defRPr>
            </a:pPr>
            <a:r>
              <a:t>Projeto SPTrans – Sambaíba | Base sptrans_uc6.sql | Slide 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 shadeToTitle="1">
        <a:gradFill flip="none" rotWithShape="1">
          <a:gsLst>
            <a:gs pos="0">
              <a:schemeClr val="accent2">
                <a:lumMod val="0"/>
                <a:lumOff val="100000"/>
              </a:schemeClr>
            </a:gs>
            <a:gs pos="59000">
              <a:schemeClr val="accent2">
                <a:lumMod val="0"/>
                <a:lumOff val="100000"/>
              </a:schemeClr>
            </a:gs>
            <a:gs pos="100000">
              <a:schemeClr val="accent2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43169" y="320040"/>
            <a:ext cx="487518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rPr dirty="0"/>
              <a:t>6. Query 3 – </a:t>
            </a:r>
            <a:r>
              <a:rPr dirty="0" err="1"/>
              <a:t>Programado</a:t>
            </a:r>
            <a:r>
              <a:rPr dirty="0"/>
              <a:t> x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72200" y="932688"/>
            <a:ext cx="636225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A5F69"/>
                </a:solidFill>
              </a:defRPr>
            </a:pPr>
            <a:r>
              <a:rPr sz="2000"/>
              <a:t>Mede o impacto do horário real em relação ao programado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212080" cy="4114800"/>
          </a:xfrm>
          <a:prstGeom prst="roundRect">
            <a:avLst/>
          </a:prstGeom>
          <a:solidFill>
            <a:srgbClr val="202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2248910"/>
            <a:ext cx="489204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EBEEF2"/>
                </a:solidFill>
                <a:latin typeface="Consolas"/>
              </a:defRPr>
            </a:pPr>
            <a:r>
              <a:rPr sz="2000" dirty="0"/>
              <a:t>SELECT </a:t>
            </a:r>
            <a:r>
              <a:rPr sz="2000" dirty="0" err="1"/>
              <a:t>id_linha</a:t>
            </a:r>
            <a:r>
              <a:rPr sz="2000" dirty="0"/>
              <a:t>,</a:t>
            </a:r>
            <a:br>
              <a:rPr sz="2000" dirty="0"/>
            </a:br>
            <a:r>
              <a:rPr sz="2000" dirty="0"/>
              <a:t>       </a:t>
            </a:r>
            <a:r>
              <a:rPr sz="2000" dirty="0" err="1"/>
              <a:t>horario_programado</a:t>
            </a:r>
            <a:r>
              <a:rPr sz="2000" dirty="0"/>
              <a:t>,</a:t>
            </a:r>
            <a:br>
              <a:rPr sz="2000" dirty="0"/>
            </a:br>
            <a:r>
              <a:rPr sz="2000" dirty="0"/>
              <a:t>       </a:t>
            </a:r>
            <a:r>
              <a:rPr sz="2000" dirty="0" err="1"/>
              <a:t>horario_real</a:t>
            </a:r>
            <a:r>
              <a:rPr sz="2000" dirty="0"/>
              <a:t>,</a:t>
            </a:r>
            <a:br>
              <a:rPr sz="2000" dirty="0"/>
            </a:br>
            <a:r>
              <a:rPr sz="2000" dirty="0"/>
              <a:t>       TIMESTAMPDIFF(MINUTE,</a:t>
            </a:r>
            <a:br>
              <a:rPr sz="2000" dirty="0"/>
            </a:br>
            <a:r>
              <a:rPr sz="2000" dirty="0"/>
              <a:t>         </a:t>
            </a:r>
            <a:r>
              <a:rPr sz="2000" dirty="0" err="1"/>
              <a:t>horario_programado</a:t>
            </a:r>
            <a:r>
              <a:rPr sz="2000" dirty="0"/>
              <a:t>,</a:t>
            </a:r>
            <a:br>
              <a:rPr sz="2000" dirty="0"/>
            </a:br>
            <a:r>
              <a:rPr sz="2000" dirty="0"/>
              <a:t>         </a:t>
            </a:r>
            <a:r>
              <a:rPr sz="2000" dirty="0" err="1"/>
              <a:t>horario_real</a:t>
            </a:r>
            <a:r>
              <a:rPr sz="2000" dirty="0"/>
              <a:t>) AS </a:t>
            </a:r>
            <a:r>
              <a:rPr sz="2000" dirty="0" err="1"/>
              <a:t>atraso</a:t>
            </a:r>
            <a:br>
              <a:rPr sz="2000" dirty="0"/>
            </a:br>
            <a:r>
              <a:rPr sz="2000" dirty="0"/>
              <a:t>FROM </a:t>
            </a:r>
            <a:r>
              <a:rPr sz="2000" dirty="0" err="1"/>
              <a:t>operacao</a:t>
            </a:r>
            <a:r>
              <a:rPr sz="2000" dirty="0"/>
              <a:t>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0759" y="2158975"/>
            <a:ext cx="5212080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rPr sz="2000" dirty="0"/>
              <a:t>A consulta </a:t>
            </a:r>
            <a:r>
              <a:rPr sz="2000" dirty="0" err="1"/>
              <a:t>permite</a:t>
            </a:r>
            <a:r>
              <a:rPr sz="2000" dirty="0"/>
              <a:t> </a:t>
            </a:r>
            <a:r>
              <a:rPr sz="2000" dirty="0" err="1"/>
              <a:t>comparar</a:t>
            </a:r>
            <a:r>
              <a:rPr sz="2000" dirty="0"/>
              <a:t> </a:t>
            </a:r>
            <a:r>
              <a:rPr sz="2000" dirty="0" err="1"/>
              <a:t>cada</a:t>
            </a:r>
            <a:r>
              <a:rPr sz="2000" dirty="0"/>
              <a:t> </a:t>
            </a:r>
            <a:r>
              <a:rPr sz="2000" dirty="0" err="1"/>
              <a:t>viagem</a:t>
            </a:r>
            <a:r>
              <a:rPr sz="2000" dirty="0"/>
              <a:t> </a:t>
            </a:r>
            <a:r>
              <a:rPr sz="2000" dirty="0" err="1"/>
              <a:t>individualmente</a:t>
            </a:r>
            <a:r>
              <a:rPr sz="2000" dirty="0"/>
              <a:t>.</a:t>
            </a:r>
          </a:p>
          <a:p>
            <a:pPr>
              <a:spcAft>
                <a:spcPts val="1000"/>
              </a:spcAft>
              <a:defRPr sz="1600"/>
            </a:pPr>
            <a:r>
              <a:rPr sz="2000" dirty="0"/>
              <a:t>A </a:t>
            </a:r>
            <a:r>
              <a:rPr sz="2000" dirty="0" err="1"/>
              <a:t>diferença</a:t>
            </a:r>
            <a:r>
              <a:rPr sz="2000" dirty="0"/>
              <a:t> é </a:t>
            </a:r>
            <a:r>
              <a:rPr sz="2000" dirty="0" err="1"/>
              <a:t>expressa</a:t>
            </a:r>
            <a:r>
              <a:rPr sz="2000" dirty="0"/>
              <a:t> </a:t>
            </a:r>
            <a:r>
              <a:rPr sz="2000" dirty="0" err="1"/>
              <a:t>em</a:t>
            </a:r>
            <a:r>
              <a:rPr sz="2000" dirty="0"/>
              <a:t> </a:t>
            </a:r>
            <a:r>
              <a:rPr sz="2000" dirty="0" err="1"/>
              <a:t>minutos</a:t>
            </a:r>
            <a:r>
              <a:rPr sz="2000" dirty="0"/>
              <a:t>.</a:t>
            </a:r>
          </a:p>
          <a:p>
            <a:pPr>
              <a:spcAft>
                <a:spcPts val="1000"/>
              </a:spcAft>
              <a:defRPr sz="1600"/>
            </a:pPr>
            <a:r>
              <a:rPr sz="2000" dirty="0" err="1"/>
              <a:t>Exemplo</a:t>
            </a:r>
            <a:r>
              <a:rPr sz="2000" dirty="0"/>
              <a:t>: 05:00 → 05:15 </a:t>
            </a:r>
            <a:r>
              <a:rPr sz="2000" dirty="0" err="1"/>
              <a:t>representa</a:t>
            </a:r>
            <a:r>
              <a:rPr sz="2000" dirty="0"/>
              <a:t> 15 </a:t>
            </a:r>
            <a:r>
              <a:rPr sz="2000" dirty="0" err="1"/>
              <a:t>minutos</a:t>
            </a:r>
            <a:r>
              <a:rPr sz="2000" dirty="0"/>
              <a:t> de </a:t>
            </a:r>
            <a:r>
              <a:rPr sz="2000" dirty="0" err="1"/>
              <a:t>diferença</a:t>
            </a:r>
            <a:r>
              <a:rPr sz="2000" dirty="0"/>
              <a:t>.</a:t>
            </a:r>
          </a:p>
          <a:p>
            <a:pPr>
              <a:spcAft>
                <a:spcPts val="1000"/>
              </a:spcAft>
              <a:defRPr sz="1600"/>
            </a:pPr>
            <a:r>
              <a:rPr sz="2000" dirty="0"/>
              <a:t>A </a:t>
            </a:r>
            <a:r>
              <a:rPr sz="2000" dirty="0" err="1"/>
              <a:t>mesma</a:t>
            </a:r>
            <a:r>
              <a:rPr sz="2000" dirty="0"/>
              <a:t> </a:t>
            </a:r>
            <a:r>
              <a:rPr sz="2000" dirty="0" err="1"/>
              <a:t>regra</a:t>
            </a:r>
            <a:r>
              <a:rPr sz="2000" dirty="0"/>
              <a:t> </a:t>
            </a:r>
            <a:r>
              <a:rPr sz="2000" dirty="0" err="1"/>
              <a:t>também</a:t>
            </a:r>
            <a:r>
              <a:rPr sz="2000" dirty="0"/>
              <a:t> </a:t>
            </a:r>
            <a:r>
              <a:rPr sz="2000" dirty="0" err="1"/>
              <a:t>evidencia</a:t>
            </a:r>
            <a:r>
              <a:rPr sz="2000" dirty="0"/>
              <a:t> </a:t>
            </a:r>
            <a:r>
              <a:rPr sz="2000" dirty="0" err="1"/>
              <a:t>casos</a:t>
            </a:r>
            <a:r>
              <a:rPr sz="2000" dirty="0"/>
              <a:t> </a:t>
            </a:r>
            <a:r>
              <a:rPr sz="2000" dirty="0" err="1"/>
              <a:t>em</a:t>
            </a:r>
            <a:r>
              <a:rPr sz="2000" dirty="0"/>
              <a:t> </a:t>
            </a:r>
            <a:r>
              <a:rPr sz="2000" dirty="0" err="1"/>
              <a:t>que</a:t>
            </a:r>
            <a:r>
              <a:rPr sz="2000" dirty="0"/>
              <a:t> o </a:t>
            </a:r>
            <a:r>
              <a:rPr sz="2000" dirty="0" err="1"/>
              <a:t>horário</a:t>
            </a:r>
            <a:r>
              <a:rPr sz="2000" dirty="0"/>
              <a:t> real </a:t>
            </a:r>
            <a:r>
              <a:rPr sz="2000" dirty="0" err="1"/>
              <a:t>ficou</a:t>
            </a:r>
            <a:r>
              <a:rPr sz="2000" dirty="0"/>
              <a:t> antes do </a:t>
            </a:r>
            <a:r>
              <a:rPr sz="2000" dirty="0" err="1"/>
              <a:t>programado</a:t>
            </a:r>
            <a:r>
              <a:rPr sz="2000" dirty="0"/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D87"/>
                </a:solidFill>
              </a:defRPr>
            </a:pPr>
            <a:r>
              <a:t>Projeto SPTrans – Sambaíba | Base sptrans_uc6.sql | Slide 7</a:t>
            </a:r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09EF75AF-6DF6-5160-8232-80E850BBE7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83056" y="0"/>
            <a:ext cx="1608944" cy="148421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 shadeToTitle="1"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102220" y="320040"/>
            <a:ext cx="595708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rPr dirty="0"/>
              <a:t>7. Query 4 – </a:t>
            </a:r>
            <a:r>
              <a:rPr dirty="0" err="1"/>
              <a:t>Horários</a:t>
            </a:r>
            <a:r>
              <a:rPr dirty="0"/>
              <a:t> </a:t>
            </a:r>
            <a:r>
              <a:rPr dirty="0" err="1"/>
              <a:t>críticos</a:t>
            </a:r>
            <a:r>
              <a:rPr dirty="0"/>
              <a:t> de </a:t>
            </a:r>
            <a:r>
              <a:rPr dirty="0" err="1"/>
              <a:t>atraso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2851811" y="932688"/>
            <a:ext cx="640303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A5F69"/>
                </a:solidFill>
              </a:defRPr>
            </a:pPr>
            <a:r>
              <a:rPr sz="2000" dirty="0"/>
              <a:t>Conta </a:t>
            </a:r>
            <a:r>
              <a:rPr sz="2000" dirty="0" err="1"/>
              <a:t>quantos</a:t>
            </a:r>
            <a:r>
              <a:rPr sz="2000" dirty="0"/>
              <a:t> </a:t>
            </a:r>
            <a:r>
              <a:rPr sz="2000" dirty="0" err="1"/>
              <a:t>atrasos</a:t>
            </a:r>
            <a:r>
              <a:rPr sz="2000" dirty="0"/>
              <a:t> </a:t>
            </a:r>
            <a:r>
              <a:rPr sz="2000" dirty="0" err="1"/>
              <a:t>aparecem</a:t>
            </a:r>
            <a:r>
              <a:rPr sz="2000" dirty="0"/>
              <a:t> </a:t>
            </a:r>
            <a:r>
              <a:rPr sz="2000" dirty="0" err="1"/>
              <a:t>em</a:t>
            </a:r>
            <a:r>
              <a:rPr sz="2000" dirty="0"/>
              <a:t> </a:t>
            </a:r>
            <a:r>
              <a:rPr sz="2000" dirty="0" err="1"/>
              <a:t>cada</a:t>
            </a:r>
            <a:r>
              <a:rPr sz="2000" dirty="0"/>
              <a:t> hora </a:t>
            </a:r>
            <a:r>
              <a:rPr sz="2000" dirty="0" err="1"/>
              <a:t>programada</a:t>
            </a:r>
            <a:endParaRPr sz="2000" dirty="0"/>
          </a:p>
        </p:txBody>
      </p:sp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763299"/>
              </p:ext>
            </p:extLst>
          </p:nvPr>
        </p:nvGraphicFramePr>
        <p:xfrm>
          <a:off x="6099997" y="1601539"/>
          <a:ext cx="521208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79923" y="2679963"/>
            <a:ext cx="5394960" cy="2323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/>
            </a:pPr>
            <a:r>
              <a:rPr sz="2000" dirty="0" err="1"/>
              <a:t>Horário</a:t>
            </a:r>
            <a:r>
              <a:rPr sz="2000" dirty="0"/>
              <a:t> </a:t>
            </a:r>
            <a:r>
              <a:rPr sz="2000" dirty="0" err="1"/>
              <a:t>líder</a:t>
            </a:r>
            <a:r>
              <a:rPr sz="2000" dirty="0"/>
              <a:t>: 05h, com 197 </a:t>
            </a:r>
            <a:r>
              <a:rPr sz="2000" dirty="0" err="1"/>
              <a:t>ocorrências</a:t>
            </a:r>
            <a:r>
              <a:rPr sz="2000" dirty="0"/>
              <a:t>.</a:t>
            </a:r>
          </a:p>
          <a:p>
            <a:pPr>
              <a:spcAft>
                <a:spcPts val="1000"/>
              </a:spcAft>
              <a:defRPr sz="1500"/>
            </a:pPr>
            <a:r>
              <a:rPr sz="2000" dirty="0" err="1"/>
              <a:t>Depois</a:t>
            </a:r>
            <a:r>
              <a:rPr sz="2000" dirty="0"/>
              <a:t>: 22h (120) e 15h (120).</a:t>
            </a:r>
          </a:p>
          <a:p>
            <a:pPr>
              <a:spcAft>
                <a:spcPts val="1000"/>
              </a:spcAft>
              <a:defRPr sz="1500"/>
            </a:pPr>
            <a:r>
              <a:rPr sz="2000" dirty="0"/>
              <a:t>O </a:t>
            </a:r>
            <a:r>
              <a:rPr sz="2000" dirty="0" err="1"/>
              <a:t>pico</a:t>
            </a:r>
            <a:r>
              <a:rPr sz="2000" dirty="0"/>
              <a:t> de 05h </a:t>
            </a:r>
            <a:r>
              <a:rPr sz="2000" dirty="0" err="1"/>
              <a:t>aparece</a:t>
            </a:r>
            <a:r>
              <a:rPr sz="2000" dirty="0"/>
              <a:t> </a:t>
            </a:r>
            <a:r>
              <a:rPr sz="2000" dirty="0" err="1"/>
              <a:t>como</a:t>
            </a:r>
            <a:r>
              <a:rPr sz="2000" dirty="0"/>
              <a:t> o </a:t>
            </a:r>
            <a:r>
              <a:rPr sz="2000" dirty="0" err="1"/>
              <a:t>maior</a:t>
            </a:r>
            <a:r>
              <a:rPr sz="2000" dirty="0"/>
              <a:t> volume </a:t>
            </a:r>
            <a:r>
              <a:rPr sz="2000" dirty="0" err="1"/>
              <a:t>na</a:t>
            </a:r>
            <a:r>
              <a:rPr sz="2000" dirty="0"/>
              <a:t> consulta.</a:t>
            </a:r>
          </a:p>
          <a:p>
            <a:pPr>
              <a:spcAft>
                <a:spcPts val="1000"/>
              </a:spcAft>
              <a:defRPr sz="1500"/>
            </a:pPr>
            <a:r>
              <a:rPr sz="2000" dirty="0"/>
              <a:t>A query é </a:t>
            </a:r>
            <a:r>
              <a:rPr sz="2000" dirty="0" err="1"/>
              <a:t>útil</a:t>
            </a:r>
            <a:r>
              <a:rPr sz="2000" dirty="0"/>
              <a:t> para </a:t>
            </a:r>
            <a:r>
              <a:rPr sz="2000" dirty="0" err="1"/>
              <a:t>direcionar</a:t>
            </a:r>
            <a:r>
              <a:rPr sz="2000" dirty="0"/>
              <a:t> </a:t>
            </a:r>
            <a:r>
              <a:rPr sz="2000" dirty="0" err="1"/>
              <a:t>análise</a:t>
            </a:r>
            <a:r>
              <a:rPr sz="2000" dirty="0"/>
              <a:t> de </a:t>
            </a:r>
            <a:r>
              <a:rPr sz="2000" dirty="0" err="1"/>
              <a:t>horários</a:t>
            </a:r>
            <a:r>
              <a:rPr sz="2000" dirty="0"/>
              <a:t> </a:t>
            </a:r>
            <a:r>
              <a:rPr sz="2000" dirty="0" err="1"/>
              <a:t>críticos</a:t>
            </a:r>
            <a:r>
              <a:rPr sz="2000"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D87"/>
                </a:solidFill>
              </a:defRPr>
            </a:pPr>
            <a:r>
              <a:t>Projeto SPTrans – Sambaíba | Base sptrans_uc6.sql | Slide 8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40D37319-E78E-1E04-4240-CEDB204469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83056" y="0"/>
            <a:ext cx="1608944" cy="148421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5000">
              <a:schemeClr val="accent3">
                <a:lumMod val="40000"/>
                <a:lumOff val="60000"/>
              </a:schemeClr>
            </a:gs>
            <a:gs pos="46000">
              <a:schemeClr val="accent3">
                <a:lumMod val="95000"/>
                <a:lumOff val="5000"/>
              </a:schemeClr>
            </a:gs>
            <a:gs pos="97000">
              <a:schemeClr val="tx2">
                <a:lumMod val="20000"/>
                <a:lumOff val="80000"/>
              </a:schemeClr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765717" y="320040"/>
            <a:ext cx="663008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rPr dirty="0"/>
              <a:t>8. Query 5 – </a:t>
            </a:r>
            <a:r>
              <a:rPr dirty="0" err="1"/>
              <a:t>Sentido</a:t>
            </a:r>
            <a:r>
              <a:rPr dirty="0"/>
              <a:t> com </a:t>
            </a:r>
            <a:r>
              <a:rPr dirty="0" err="1"/>
              <a:t>pior</a:t>
            </a:r>
            <a:r>
              <a:rPr dirty="0"/>
              <a:t> </a:t>
            </a:r>
            <a:r>
              <a:rPr dirty="0" err="1"/>
              <a:t>desempenho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430704" y="932688"/>
            <a:ext cx="324524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A5F69"/>
                </a:solidFill>
              </a:defRPr>
            </a:pPr>
            <a:r>
              <a:rPr sz="2000" dirty="0" err="1"/>
              <a:t>Compara</a:t>
            </a:r>
            <a:r>
              <a:rPr sz="2000" dirty="0"/>
              <a:t> </a:t>
            </a:r>
            <a:r>
              <a:rPr sz="2000" dirty="0" err="1"/>
              <a:t>ida</a:t>
            </a:r>
            <a:r>
              <a:rPr sz="2000" dirty="0"/>
              <a:t> e volta </a:t>
            </a:r>
            <a:r>
              <a:rPr sz="2000" dirty="0" err="1"/>
              <a:t>por</a:t>
            </a:r>
            <a:r>
              <a:rPr sz="2000" dirty="0"/>
              <a:t> </a:t>
            </a:r>
            <a:r>
              <a:rPr sz="2000" dirty="0" err="1"/>
              <a:t>linha</a:t>
            </a:r>
            <a:endParaRPr sz="2000" dirty="0"/>
          </a:p>
        </p:txBody>
      </p:sp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8670397"/>
              </p:ext>
            </p:extLst>
          </p:nvPr>
        </p:nvGraphicFramePr>
        <p:xfrm>
          <a:off x="5636302" y="1332798"/>
          <a:ext cx="5976578" cy="53520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49705" y="2642134"/>
            <a:ext cx="5303520" cy="2323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/>
            </a:pPr>
            <a:r>
              <a:rPr sz="2000" dirty="0"/>
              <a:t>Maior </a:t>
            </a:r>
            <a:r>
              <a:rPr sz="2000" dirty="0" err="1"/>
              <a:t>média</a:t>
            </a:r>
            <a:r>
              <a:rPr sz="2000" dirty="0"/>
              <a:t>: 971F-10 – </a:t>
            </a:r>
            <a:r>
              <a:rPr sz="2000" dirty="0" err="1"/>
              <a:t>ida</a:t>
            </a:r>
            <a:r>
              <a:rPr sz="2000" dirty="0"/>
              <a:t>: 13.45 min.</a:t>
            </a:r>
          </a:p>
          <a:p>
            <a:pPr>
              <a:spcAft>
                <a:spcPts val="1000"/>
              </a:spcAft>
              <a:defRPr sz="1400"/>
            </a:pPr>
            <a:r>
              <a:rPr sz="2000" dirty="0"/>
              <a:t>2ª </a:t>
            </a:r>
            <a:r>
              <a:rPr sz="2000" dirty="0" err="1"/>
              <a:t>maior</a:t>
            </a:r>
            <a:r>
              <a:rPr sz="2000" dirty="0"/>
              <a:t>: 971H-10 – </a:t>
            </a:r>
            <a:r>
              <a:rPr sz="2000" dirty="0" err="1"/>
              <a:t>ida</a:t>
            </a:r>
            <a:r>
              <a:rPr sz="2000" dirty="0"/>
              <a:t>: 13.45 min.</a:t>
            </a:r>
          </a:p>
          <a:p>
            <a:pPr>
              <a:spcAft>
                <a:spcPts val="1000"/>
              </a:spcAft>
              <a:defRPr sz="1400"/>
            </a:pPr>
            <a:r>
              <a:rPr sz="2000" dirty="0"/>
              <a:t>A consulta </a:t>
            </a:r>
            <a:r>
              <a:rPr sz="2000" dirty="0" err="1"/>
              <a:t>usa</a:t>
            </a:r>
            <a:r>
              <a:rPr sz="2000" dirty="0"/>
              <a:t> JOIN com </a:t>
            </a:r>
            <a:r>
              <a:rPr sz="2000" dirty="0" err="1"/>
              <a:t>linha</a:t>
            </a:r>
            <a:r>
              <a:rPr sz="2000" dirty="0"/>
              <a:t> para </a:t>
            </a:r>
            <a:r>
              <a:rPr sz="2000" dirty="0" err="1"/>
              <a:t>exibir</a:t>
            </a:r>
            <a:r>
              <a:rPr sz="2000" dirty="0"/>
              <a:t> o </a:t>
            </a:r>
            <a:r>
              <a:rPr sz="2000" dirty="0" err="1"/>
              <a:t>nome</a:t>
            </a:r>
            <a:r>
              <a:rPr sz="2000" dirty="0"/>
              <a:t> da </a:t>
            </a:r>
            <a:r>
              <a:rPr sz="2000" dirty="0" err="1"/>
              <a:t>linha</a:t>
            </a:r>
            <a:r>
              <a:rPr sz="2000" dirty="0"/>
              <a:t>.</a:t>
            </a:r>
          </a:p>
          <a:p>
            <a:pPr>
              <a:spcAft>
                <a:spcPts val="1000"/>
              </a:spcAft>
              <a:defRPr sz="1400"/>
            </a:pPr>
            <a:r>
              <a:rPr sz="2000" dirty="0"/>
              <a:t>A </a:t>
            </a:r>
            <a:r>
              <a:rPr sz="2000" dirty="0" err="1"/>
              <a:t>análise</a:t>
            </a:r>
            <a:r>
              <a:rPr sz="2000" dirty="0"/>
              <a:t> </a:t>
            </a:r>
            <a:r>
              <a:rPr sz="2000" dirty="0" err="1"/>
              <a:t>mostra</a:t>
            </a:r>
            <a:r>
              <a:rPr sz="2000" dirty="0"/>
              <a:t> </a:t>
            </a:r>
            <a:r>
              <a:rPr sz="2000" dirty="0" err="1"/>
              <a:t>que</a:t>
            </a:r>
            <a:r>
              <a:rPr sz="2000" dirty="0"/>
              <a:t> o </a:t>
            </a:r>
            <a:r>
              <a:rPr sz="2000" dirty="0" err="1"/>
              <a:t>sentido</a:t>
            </a:r>
            <a:r>
              <a:rPr sz="2000" dirty="0"/>
              <a:t> </a:t>
            </a:r>
            <a:r>
              <a:rPr sz="2000" dirty="0" err="1"/>
              <a:t>pode</a:t>
            </a:r>
            <a:r>
              <a:rPr sz="2000" dirty="0"/>
              <a:t> </a:t>
            </a:r>
            <a:r>
              <a:rPr sz="2000" dirty="0" err="1"/>
              <a:t>alterar</a:t>
            </a:r>
            <a:r>
              <a:rPr sz="2000" dirty="0"/>
              <a:t> o </a:t>
            </a:r>
            <a:r>
              <a:rPr sz="2000" dirty="0" err="1"/>
              <a:t>desempenho</a:t>
            </a:r>
            <a:r>
              <a:rPr sz="2000" dirty="0"/>
              <a:t> </a:t>
            </a:r>
            <a:r>
              <a:rPr sz="2000" dirty="0" err="1"/>
              <a:t>dentro</a:t>
            </a:r>
            <a:r>
              <a:rPr sz="2000" dirty="0"/>
              <a:t> da </a:t>
            </a:r>
            <a:r>
              <a:rPr sz="2000" dirty="0" err="1"/>
              <a:t>mesma</a:t>
            </a:r>
            <a:r>
              <a:rPr sz="2000" dirty="0"/>
              <a:t> </a:t>
            </a:r>
            <a:r>
              <a:rPr sz="2000" dirty="0" err="1"/>
              <a:t>linha</a:t>
            </a:r>
            <a:r>
              <a:rPr sz="2000"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D87"/>
                </a:solidFill>
              </a:defRPr>
            </a:pPr>
            <a:r>
              <a:t>Projeto SPTrans – Sambaíba | Base sptrans_uc6.sql | Slide 9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2EE19131-7ABE-C439-7F1F-D99248A3F2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83056" y="0"/>
            <a:ext cx="1608944" cy="148421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5000">
              <a:schemeClr val="bg2">
                <a:tint val="80000"/>
                <a:satMod val="300000"/>
              </a:schemeClr>
            </a:gs>
            <a:gs pos="45000">
              <a:schemeClr val="bg2">
                <a:shade val="30000"/>
                <a:satMod val="200000"/>
              </a:schemeClr>
            </a:gs>
          </a:gsLst>
          <a:path path="rect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11128" y="320040"/>
            <a:ext cx="573926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rPr dirty="0"/>
              <a:t>9. Query 6 – </a:t>
            </a:r>
            <a:r>
              <a:rPr dirty="0" err="1"/>
              <a:t>Atraso</a:t>
            </a:r>
            <a:r>
              <a:rPr dirty="0"/>
              <a:t> </a:t>
            </a:r>
            <a:r>
              <a:rPr dirty="0" err="1"/>
              <a:t>máximo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linha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3347683" y="932688"/>
            <a:ext cx="541129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A5F69"/>
                </a:solidFill>
              </a:defRPr>
            </a:pPr>
            <a:r>
              <a:rPr sz="2000" dirty="0" err="1"/>
              <a:t>Identifica</a:t>
            </a:r>
            <a:r>
              <a:rPr sz="2000" dirty="0"/>
              <a:t> o </a:t>
            </a:r>
            <a:r>
              <a:rPr sz="2000" dirty="0" err="1"/>
              <a:t>maior</a:t>
            </a:r>
            <a:r>
              <a:rPr sz="2000" dirty="0"/>
              <a:t> </a:t>
            </a:r>
            <a:r>
              <a:rPr sz="2000" dirty="0" err="1"/>
              <a:t>atraso</a:t>
            </a:r>
            <a:r>
              <a:rPr sz="2000" dirty="0"/>
              <a:t> </a:t>
            </a:r>
            <a:r>
              <a:rPr sz="2000" dirty="0" err="1"/>
              <a:t>calculado</a:t>
            </a:r>
            <a:r>
              <a:rPr sz="2000" dirty="0"/>
              <a:t> para </a:t>
            </a:r>
            <a:r>
              <a:rPr sz="2000" dirty="0" err="1"/>
              <a:t>cada</a:t>
            </a:r>
            <a:r>
              <a:rPr sz="2000" dirty="0"/>
              <a:t> </a:t>
            </a:r>
            <a:r>
              <a:rPr sz="2000" dirty="0" err="1"/>
              <a:t>linha</a:t>
            </a:r>
            <a:endParaRPr sz="2000" dirty="0"/>
          </a:p>
        </p:txBody>
      </p:sp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5295527"/>
              </p:ext>
            </p:extLst>
          </p:nvPr>
        </p:nvGraphicFramePr>
        <p:xfrm>
          <a:off x="6400800" y="1325880"/>
          <a:ext cx="521208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35799" y="2357661"/>
            <a:ext cx="5394960" cy="2939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/>
            </a:pPr>
            <a:r>
              <a:rPr sz="2000" dirty="0"/>
              <a:t>Maior </a:t>
            </a:r>
            <a:r>
              <a:rPr sz="2000" dirty="0" err="1"/>
              <a:t>atraso</a:t>
            </a:r>
            <a:r>
              <a:rPr sz="2000" dirty="0"/>
              <a:t> </a:t>
            </a:r>
            <a:r>
              <a:rPr sz="2000" dirty="0" err="1"/>
              <a:t>máximo</a:t>
            </a:r>
            <a:r>
              <a:rPr sz="2000" dirty="0"/>
              <a:t> </a:t>
            </a:r>
            <a:r>
              <a:rPr sz="2000" dirty="0" err="1"/>
              <a:t>encontrado</a:t>
            </a:r>
            <a:r>
              <a:rPr sz="2000" dirty="0"/>
              <a:t>: 20 min </a:t>
            </a:r>
            <a:r>
              <a:rPr sz="2000" dirty="0" err="1"/>
              <a:t>na</a:t>
            </a:r>
            <a:r>
              <a:rPr sz="2000" dirty="0"/>
              <a:t> </a:t>
            </a:r>
            <a:r>
              <a:rPr sz="2000" dirty="0" err="1"/>
              <a:t>linha</a:t>
            </a:r>
            <a:r>
              <a:rPr sz="2000" dirty="0"/>
              <a:t> 971E-10.</a:t>
            </a:r>
          </a:p>
          <a:p>
            <a:pPr>
              <a:spcAft>
                <a:spcPts val="1000"/>
              </a:spcAft>
              <a:defRPr sz="1500"/>
            </a:pPr>
            <a:r>
              <a:rPr sz="2000" dirty="0"/>
              <a:t>A query </a:t>
            </a:r>
            <a:r>
              <a:rPr sz="2000" dirty="0" err="1"/>
              <a:t>usa</a:t>
            </a:r>
            <a:r>
              <a:rPr sz="2000" dirty="0"/>
              <a:t> MAX(TIMESTAMPDIFF(...)) </a:t>
            </a:r>
            <a:r>
              <a:rPr sz="2000" dirty="0" err="1"/>
              <a:t>por</a:t>
            </a:r>
            <a:r>
              <a:rPr sz="2000" dirty="0"/>
              <a:t> </a:t>
            </a:r>
            <a:r>
              <a:rPr sz="2000" dirty="0" err="1"/>
              <a:t>id_linha</a:t>
            </a:r>
            <a:r>
              <a:rPr sz="2000" dirty="0"/>
              <a:t>.</a:t>
            </a:r>
          </a:p>
          <a:p>
            <a:pPr>
              <a:spcAft>
                <a:spcPts val="1000"/>
              </a:spcAft>
              <a:defRPr sz="1500"/>
            </a:pPr>
            <a:r>
              <a:rPr sz="2000" dirty="0"/>
              <a:t>Esse </a:t>
            </a:r>
            <a:r>
              <a:rPr sz="2000" dirty="0" err="1"/>
              <a:t>indicador</a:t>
            </a:r>
            <a:r>
              <a:rPr sz="2000" dirty="0"/>
              <a:t> </a:t>
            </a:r>
            <a:r>
              <a:rPr sz="2000" dirty="0" err="1"/>
              <a:t>destaca</a:t>
            </a:r>
            <a:r>
              <a:rPr sz="2000" dirty="0"/>
              <a:t> </a:t>
            </a:r>
            <a:r>
              <a:rPr sz="2000" dirty="0" err="1"/>
              <a:t>ocorrências</a:t>
            </a:r>
            <a:r>
              <a:rPr sz="2000" dirty="0"/>
              <a:t> </a:t>
            </a:r>
            <a:r>
              <a:rPr sz="2000" dirty="0" err="1"/>
              <a:t>extremas</a:t>
            </a:r>
            <a:r>
              <a:rPr sz="2000" dirty="0"/>
              <a:t>, </a:t>
            </a:r>
            <a:r>
              <a:rPr sz="2000" dirty="0" err="1"/>
              <a:t>diferente</a:t>
            </a:r>
            <a:r>
              <a:rPr sz="2000" dirty="0"/>
              <a:t> da </a:t>
            </a:r>
            <a:r>
              <a:rPr sz="2000" dirty="0" err="1"/>
              <a:t>média</a:t>
            </a:r>
            <a:r>
              <a:rPr sz="2000" dirty="0"/>
              <a:t>.</a:t>
            </a:r>
          </a:p>
          <a:p>
            <a:pPr>
              <a:spcAft>
                <a:spcPts val="1000"/>
              </a:spcAft>
              <a:defRPr sz="1500"/>
            </a:pPr>
            <a:r>
              <a:rPr sz="2000" dirty="0"/>
              <a:t>É </a:t>
            </a:r>
            <a:r>
              <a:rPr sz="2000" dirty="0" err="1"/>
              <a:t>útil</a:t>
            </a:r>
            <a:r>
              <a:rPr sz="2000" dirty="0"/>
              <a:t> para </a:t>
            </a:r>
            <a:r>
              <a:rPr sz="2000" dirty="0" err="1"/>
              <a:t>investigar</a:t>
            </a:r>
            <a:r>
              <a:rPr sz="2000" dirty="0"/>
              <a:t> </a:t>
            </a:r>
            <a:r>
              <a:rPr sz="2000" dirty="0" err="1"/>
              <a:t>casos</a:t>
            </a:r>
            <a:r>
              <a:rPr sz="2000" dirty="0"/>
              <a:t> </a:t>
            </a:r>
            <a:r>
              <a:rPr sz="2000" dirty="0" err="1"/>
              <a:t>pontuais</a:t>
            </a:r>
            <a:r>
              <a:rPr sz="2000" dirty="0"/>
              <a:t> de forte </a:t>
            </a:r>
            <a:r>
              <a:rPr sz="2000" dirty="0" err="1"/>
              <a:t>desvio</a:t>
            </a:r>
            <a:r>
              <a:rPr sz="2000"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D87"/>
                </a:solidFill>
              </a:defRPr>
            </a:pPr>
            <a:r>
              <a:t>Projeto SPTrans – Sambaíba | Base sptrans_uc6.sql | Slide 10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0F4C3297-ECDC-2DAD-63FD-763BCD09EF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83056" y="0"/>
            <a:ext cx="1608944" cy="148421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000">
              <a:schemeClr val="accent4">
                <a:lumMod val="5000"/>
                <a:lumOff val="95000"/>
              </a:schemeClr>
            </a:gs>
            <a:gs pos="61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385613" y="320040"/>
            <a:ext cx="739029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rPr dirty="0"/>
              <a:t>10. Query 7 – </a:t>
            </a:r>
            <a:r>
              <a:rPr dirty="0" err="1"/>
              <a:t>Distribuição</a:t>
            </a:r>
            <a:r>
              <a:rPr dirty="0"/>
              <a:t> de </a:t>
            </a:r>
            <a:r>
              <a:rPr dirty="0" err="1"/>
              <a:t>atrasos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veículo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3022626" y="932688"/>
            <a:ext cx="606140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A5F69"/>
                </a:solidFill>
              </a:defRPr>
            </a:pPr>
            <a:r>
              <a:rPr sz="2000" dirty="0" err="1"/>
              <a:t>Busca</a:t>
            </a:r>
            <a:r>
              <a:rPr sz="2000" dirty="0"/>
              <a:t> </a:t>
            </a:r>
            <a:r>
              <a:rPr sz="2000" dirty="0" err="1"/>
              <a:t>veículos</a:t>
            </a:r>
            <a:r>
              <a:rPr sz="2000" dirty="0"/>
              <a:t> com </a:t>
            </a:r>
            <a:r>
              <a:rPr sz="2000" dirty="0" err="1"/>
              <a:t>maior</a:t>
            </a:r>
            <a:r>
              <a:rPr sz="2000" dirty="0"/>
              <a:t> </a:t>
            </a:r>
            <a:r>
              <a:rPr sz="2000" dirty="0" err="1"/>
              <a:t>média</a:t>
            </a:r>
            <a:r>
              <a:rPr sz="2000" dirty="0"/>
              <a:t> de </a:t>
            </a:r>
            <a:r>
              <a:rPr sz="2000" dirty="0" err="1"/>
              <a:t>diferença</a:t>
            </a:r>
            <a:r>
              <a:rPr sz="2000" dirty="0"/>
              <a:t> de </a:t>
            </a:r>
            <a:r>
              <a:rPr sz="2000" dirty="0" err="1"/>
              <a:t>horário</a:t>
            </a:r>
            <a:endParaRPr sz="2000" dirty="0"/>
          </a:p>
        </p:txBody>
      </p:sp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9109094"/>
              </p:ext>
            </p:extLst>
          </p:nvPr>
        </p:nvGraphicFramePr>
        <p:xfrm>
          <a:off x="6400800" y="1325880"/>
          <a:ext cx="521208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00887" y="2404303"/>
            <a:ext cx="5394960" cy="2323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/>
            </a:pPr>
            <a:r>
              <a:rPr sz="2000" dirty="0" err="1"/>
              <a:t>Veículo</a:t>
            </a:r>
            <a:r>
              <a:rPr sz="2000" dirty="0"/>
              <a:t> ID 5 </a:t>
            </a:r>
            <a:r>
              <a:rPr sz="2000" dirty="0" err="1"/>
              <a:t>apresenta</a:t>
            </a:r>
            <a:r>
              <a:rPr sz="2000" dirty="0"/>
              <a:t> 12.79 min de </a:t>
            </a:r>
            <a:r>
              <a:rPr sz="2000" dirty="0" err="1"/>
              <a:t>média</a:t>
            </a:r>
            <a:r>
              <a:rPr sz="2000" dirty="0"/>
              <a:t>.</a:t>
            </a:r>
          </a:p>
          <a:p>
            <a:pPr>
              <a:spcAft>
                <a:spcPts val="1000"/>
              </a:spcAft>
              <a:defRPr sz="1500"/>
            </a:pPr>
            <a:r>
              <a:rPr sz="2000" dirty="0"/>
              <a:t>Em </a:t>
            </a:r>
            <a:r>
              <a:rPr sz="2000" dirty="0" err="1"/>
              <a:t>seguida</a:t>
            </a:r>
            <a:r>
              <a:rPr sz="2000" dirty="0"/>
              <a:t>: ID 7 (11.20 min) e ID 3 (10.98 min).</a:t>
            </a:r>
          </a:p>
          <a:p>
            <a:pPr>
              <a:spcAft>
                <a:spcPts val="1000"/>
              </a:spcAft>
              <a:defRPr sz="1500"/>
            </a:pPr>
            <a:r>
              <a:rPr sz="2000" dirty="0"/>
              <a:t>A consulta </a:t>
            </a:r>
            <a:r>
              <a:rPr sz="2000" dirty="0" err="1"/>
              <a:t>pode</a:t>
            </a:r>
            <a:r>
              <a:rPr sz="2000" dirty="0"/>
              <a:t> </a:t>
            </a:r>
            <a:r>
              <a:rPr sz="2000" dirty="0" err="1"/>
              <a:t>apontar</a:t>
            </a:r>
            <a:r>
              <a:rPr sz="2000" dirty="0"/>
              <a:t> </a:t>
            </a:r>
            <a:r>
              <a:rPr sz="2000" dirty="0" err="1"/>
              <a:t>veículos</a:t>
            </a:r>
            <a:r>
              <a:rPr sz="2000" dirty="0"/>
              <a:t> </a:t>
            </a:r>
            <a:r>
              <a:rPr sz="2000" dirty="0" err="1"/>
              <a:t>que</a:t>
            </a:r>
            <a:r>
              <a:rPr sz="2000" dirty="0"/>
              <a:t> </a:t>
            </a:r>
            <a:r>
              <a:rPr sz="2000" dirty="0" err="1"/>
              <a:t>merecem</a:t>
            </a:r>
            <a:r>
              <a:rPr sz="2000" dirty="0"/>
              <a:t> </a:t>
            </a:r>
            <a:r>
              <a:rPr sz="2000" dirty="0" err="1"/>
              <a:t>investigação</a:t>
            </a:r>
            <a:r>
              <a:rPr sz="2000" dirty="0"/>
              <a:t> </a:t>
            </a:r>
            <a:r>
              <a:rPr sz="2000" dirty="0" err="1"/>
              <a:t>operacional</a:t>
            </a:r>
            <a:r>
              <a:rPr sz="2000" dirty="0"/>
              <a:t>.</a:t>
            </a:r>
          </a:p>
          <a:p>
            <a:pPr>
              <a:spcAft>
                <a:spcPts val="1000"/>
              </a:spcAft>
              <a:defRPr sz="1500"/>
            </a:pPr>
            <a:r>
              <a:rPr sz="2000" dirty="0"/>
              <a:t>A </a:t>
            </a:r>
            <a:r>
              <a:rPr sz="2000" dirty="0" err="1"/>
              <a:t>média</a:t>
            </a:r>
            <a:r>
              <a:rPr sz="2000" dirty="0"/>
              <a:t> é </a:t>
            </a:r>
            <a:r>
              <a:rPr sz="2000" dirty="0" err="1"/>
              <a:t>calculada</a:t>
            </a:r>
            <a:r>
              <a:rPr sz="2000" dirty="0"/>
              <a:t> </a:t>
            </a:r>
            <a:r>
              <a:rPr sz="2000" dirty="0" err="1"/>
              <a:t>sobre</a:t>
            </a:r>
            <a:r>
              <a:rPr sz="2000" dirty="0"/>
              <a:t> </a:t>
            </a:r>
            <a:r>
              <a:rPr sz="2000" dirty="0" err="1"/>
              <a:t>os</a:t>
            </a:r>
            <a:r>
              <a:rPr sz="2000" dirty="0"/>
              <a:t> </a:t>
            </a:r>
            <a:r>
              <a:rPr sz="2000" dirty="0" err="1"/>
              <a:t>registros</a:t>
            </a:r>
            <a:r>
              <a:rPr sz="2000" dirty="0"/>
              <a:t> </a:t>
            </a:r>
            <a:r>
              <a:rPr sz="2000" dirty="0" err="1"/>
              <a:t>presentes</a:t>
            </a:r>
            <a:r>
              <a:rPr sz="2000" dirty="0"/>
              <a:t> </a:t>
            </a:r>
            <a:r>
              <a:rPr sz="2000" dirty="0" err="1"/>
              <a:t>em</a:t>
            </a:r>
            <a:r>
              <a:rPr sz="2000" dirty="0"/>
              <a:t> </a:t>
            </a:r>
            <a:r>
              <a:rPr sz="2000" dirty="0" err="1"/>
              <a:t>operacao</a:t>
            </a:r>
            <a:r>
              <a:rPr sz="2000" dirty="0"/>
              <a:t> para </a:t>
            </a:r>
            <a:r>
              <a:rPr sz="2000" dirty="0" err="1"/>
              <a:t>cada</a:t>
            </a:r>
            <a:r>
              <a:rPr sz="2000" dirty="0"/>
              <a:t> </a:t>
            </a:r>
            <a:r>
              <a:rPr sz="2000" dirty="0" err="1"/>
              <a:t>veículo</a:t>
            </a:r>
            <a:r>
              <a:rPr sz="2000"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D87"/>
                </a:solidFill>
              </a:defRPr>
            </a:pPr>
            <a:r>
              <a:t>Projeto SPTrans – Sambaíba | Base sptrans_uc6.sql | Slide 11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0A9418E8-B6BB-7FF1-8EB9-0CF3764D9F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83056" y="0"/>
            <a:ext cx="1608944" cy="148421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0">
              <a:schemeClr val="accent3">
                <a:lumMod val="0"/>
                <a:lumOff val="100000"/>
              </a:schemeClr>
            </a:gs>
            <a:gs pos="58000">
              <a:schemeClr val="accent3">
                <a:lumMod val="0"/>
                <a:lumOff val="100000"/>
              </a:schemeClr>
            </a:gs>
            <a:gs pos="26000">
              <a:schemeClr val="accent3">
                <a:lumMod val="10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63675" y="320040"/>
            <a:ext cx="703416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rPr dirty="0"/>
              <a:t>11. Query 8 – Ranking de </a:t>
            </a:r>
            <a:r>
              <a:rPr dirty="0" err="1"/>
              <a:t>linhas</a:t>
            </a:r>
            <a:r>
              <a:rPr dirty="0"/>
              <a:t>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pontuais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3345632" y="932688"/>
            <a:ext cx="541539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A5F69"/>
                </a:solidFill>
              </a:defRPr>
            </a:pPr>
            <a:r>
              <a:rPr sz="2000" dirty="0"/>
              <a:t>Ordena pela </a:t>
            </a:r>
            <a:r>
              <a:rPr sz="2000" dirty="0" err="1"/>
              <a:t>menor</a:t>
            </a:r>
            <a:r>
              <a:rPr sz="2000" dirty="0"/>
              <a:t> </a:t>
            </a:r>
            <a:r>
              <a:rPr sz="2000" dirty="0" err="1"/>
              <a:t>média</a:t>
            </a:r>
            <a:r>
              <a:rPr sz="2000" dirty="0"/>
              <a:t> de </a:t>
            </a:r>
            <a:r>
              <a:rPr sz="2000" dirty="0" err="1"/>
              <a:t>diferença</a:t>
            </a:r>
            <a:r>
              <a:rPr sz="2000" dirty="0"/>
              <a:t> de </a:t>
            </a:r>
            <a:r>
              <a:rPr sz="2000" dirty="0" err="1"/>
              <a:t>horário</a:t>
            </a:r>
            <a:endParaRPr sz="2000" dirty="0"/>
          </a:p>
        </p:txBody>
      </p:sp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8607649"/>
              </p:ext>
            </p:extLst>
          </p:nvPr>
        </p:nvGraphicFramePr>
        <p:xfrm>
          <a:off x="6217918" y="1401303"/>
          <a:ext cx="5394961" cy="46431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00887" y="2296682"/>
            <a:ext cx="5394960" cy="2323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/>
            </a:pPr>
            <a:r>
              <a:rPr sz="2000" dirty="0"/>
              <a:t>1º no ranking: 971L-10 – -9.49 min.</a:t>
            </a:r>
          </a:p>
          <a:p>
            <a:pPr>
              <a:spcAft>
                <a:spcPts val="1000"/>
              </a:spcAft>
              <a:defRPr sz="1400"/>
            </a:pPr>
            <a:r>
              <a:rPr sz="2000" dirty="0"/>
              <a:t>2º: 972E-10 – -9.42 min.</a:t>
            </a:r>
          </a:p>
          <a:p>
            <a:pPr>
              <a:spcAft>
                <a:spcPts val="1000"/>
              </a:spcAft>
              <a:defRPr sz="1400"/>
            </a:pPr>
            <a:r>
              <a:rPr sz="2000" dirty="0"/>
              <a:t>3º: 971M-10 – -9.40 min.</a:t>
            </a:r>
          </a:p>
          <a:p>
            <a:pPr>
              <a:spcAft>
                <a:spcPts val="1000"/>
              </a:spcAft>
              <a:defRPr sz="1400"/>
            </a:pPr>
            <a:r>
              <a:rPr sz="2000" dirty="0" err="1"/>
              <a:t>Importante</a:t>
            </a:r>
            <a:r>
              <a:rPr sz="2000" dirty="0"/>
              <a:t>: </a:t>
            </a:r>
            <a:r>
              <a:rPr sz="2000" dirty="0" err="1"/>
              <a:t>valores</a:t>
            </a:r>
            <a:r>
              <a:rPr sz="2000" dirty="0"/>
              <a:t> </a:t>
            </a:r>
            <a:r>
              <a:rPr sz="2000" dirty="0" err="1"/>
              <a:t>negativos</a:t>
            </a:r>
            <a:r>
              <a:rPr sz="2000" dirty="0"/>
              <a:t> </a:t>
            </a:r>
            <a:r>
              <a:rPr sz="2000" dirty="0" err="1"/>
              <a:t>aparecem</a:t>
            </a:r>
            <a:r>
              <a:rPr sz="2000" dirty="0"/>
              <a:t> </a:t>
            </a:r>
            <a:r>
              <a:rPr sz="2000" dirty="0" err="1"/>
              <a:t>por</a:t>
            </a:r>
            <a:r>
              <a:rPr sz="2000" dirty="0"/>
              <a:t> causa da </a:t>
            </a:r>
            <a:r>
              <a:rPr sz="2000" dirty="0" err="1"/>
              <a:t>comparação</a:t>
            </a:r>
            <a:r>
              <a:rPr sz="2000" dirty="0"/>
              <a:t> </a:t>
            </a:r>
            <a:r>
              <a:rPr sz="2000" dirty="0" err="1"/>
              <a:t>direta</a:t>
            </a:r>
            <a:r>
              <a:rPr sz="2000" dirty="0"/>
              <a:t> entre campos TIME </a:t>
            </a:r>
            <a:r>
              <a:rPr sz="2000" dirty="0" err="1"/>
              <a:t>quando</a:t>
            </a:r>
            <a:r>
              <a:rPr sz="2000" dirty="0"/>
              <a:t> </a:t>
            </a:r>
            <a:r>
              <a:rPr sz="2000" dirty="0" err="1"/>
              <a:t>há</a:t>
            </a:r>
            <a:r>
              <a:rPr sz="2000" dirty="0"/>
              <a:t> </a:t>
            </a:r>
            <a:r>
              <a:rPr sz="2000" dirty="0" err="1"/>
              <a:t>passagem</a:t>
            </a:r>
            <a:r>
              <a:rPr sz="2000" dirty="0"/>
              <a:t> de 23h para 00h.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D87"/>
                </a:solidFill>
              </a:defRPr>
            </a:pPr>
            <a:r>
              <a:t>Projeto SPTrans – Sambaíba | Base sptrans_uc6.sql | Slide 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71000">
              <a:schemeClr val="bg2">
                <a:tint val="80000"/>
                <a:satMod val="300000"/>
              </a:schemeClr>
            </a:gs>
            <a:gs pos="47000">
              <a:schemeClr val="bg2">
                <a:shade val="30000"/>
                <a:satMod val="20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167896" y="320040"/>
            <a:ext cx="382572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rPr dirty="0"/>
              <a:t>12. Query 9 – Ida x Volta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73757" y="932688"/>
            <a:ext cx="575914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A5F69"/>
                </a:solidFill>
              </a:defRPr>
            </a:pPr>
            <a:r>
              <a:rPr sz="2000" dirty="0" err="1"/>
              <a:t>Compara</a:t>
            </a:r>
            <a:r>
              <a:rPr sz="2000" dirty="0"/>
              <a:t> a </a:t>
            </a:r>
            <a:r>
              <a:rPr sz="2000" dirty="0" err="1"/>
              <a:t>média</a:t>
            </a:r>
            <a:r>
              <a:rPr sz="2000" dirty="0"/>
              <a:t> de </a:t>
            </a:r>
            <a:r>
              <a:rPr sz="2000" dirty="0" err="1"/>
              <a:t>diferença</a:t>
            </a:r>
            <a:r>
              <a:rPr sz="2000" dirty="0"/>
              <a:t> de </a:t>
            </a:r>
            <a:r>
              <a:rPr sz="2000" dirty="0" err="1"/>
              <a:t>horário</a:t>
            </a:r>
            <a:r>
              <a:rPr sz="2000" dirty="0"/>
              <a:t> </a:t>
            </a:r>
            <a:r>
              <a:rPr sz="2000" dirty="0" err="1"/>
              <a:t>por</a:t>
            </a:r>
            <a:r>
              <a:rPr sz="2000" dirty="0"/>
              <a:t> </a:t>
            </a:r>
            <a:r>
              <a:rPr sz="2000" dirty="0" err="1"/>
              <a:t>sentido</a:t>
            </a:r>
            <a:endParaRPr sz="2000" dirty="0"/>
          </a:p>
        </p:txBody>
      </p:sp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023281"/>
              </p:ext>
            </p:extLst>
          </p:nvPr>
        </p:nvGraphicFramePr>
        <p:xfrm>
          <a:off x="6464018" y="1503854"/>
          <a:ext cx="493776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90222" y="2428389"/>
            <a:ext cx="5394960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rPr sz="2000" dirty="0"/>
              <a:t>Ida: -0.67 min.</a:t>
            </a:r>
          </a:p>
          <a:p>
            <a:pPr>
              <a:spcAft>
                <a:spcPts val="1000"/>
              </a:spcAft>
              <a:defRPr sz="1600"/>
            </a:pPr>
            <a:r>
              <a:rPr sz="2000" dirty="0"/>
              <a:t>Volta: 10.36 min.</a:t>
            </a:r>
          </a:p>
          <a:p>
            <a:pPr>
              <a:spcAft>
                <a:spcPts val="1000"/>
              </a:spcAft>
              <a:defRPr sz="1600"/>
            </a:pPr>
            <a:r>
              <a:rPr sz="2000" dirty="0"/>
              <a:t>Na </a:t>
            </a:r>
            <a:r>
              <a:rPr sz="2000" dirty="0" err="1"/>
              <a:t>execução</a:t>
            </a:r>
            <a:r>
              <a:rPr sz="2000" dirty="0"/>
              <a:t> </a:t>
            </a:r>
            <a:r>
              <a:rPr sz="2000" dirty="0" err="1"/>
              <a:t>baseada</a:t>
            </a:r>
            <a:r>
              <a:rPr sz="2000" dirty="0"/>
              <a:t> no </a:t>
            </a:r>
            <a:r>
              <a:rPr sz="2000" dirty="0" err="1"/>
              <a:t>arquivo</a:t>
            </a:r>
            <a:r>
              <a:rPr sz="2000" dirty="0"/>
              <a:t>, a volta </a:t>
            </a:r>
            <a:r>
              <a:rPr sz="2000" dirty="0" err="1"/>
              <a:t>apresenta</a:t>
            </a:r>
            <a:r>
              <a:rPr sz="2000" dirty="0"/>
              <a:t> </a:t>
            </a:r>
            <a:r>
              <a:rPr sz="2000" dirty="0" err="1"/>
              <a:t>média</a:t>
            </a:r>
            <a:r>
              <a:rPr sz="2000" dirty="0"/>
              <a:t> </a:t>
            </a:r>
            <a:r>
              <a:rPr sz="2000" dirty="0" err="1"/>
              <a:t>calculada</a:t>
            </a:r>
            <a:r>
              <a:rPr sz="2000" dirty="0"/>
              <a:t> superior à </a:t>
            </a:r>
            <a:r>
              <a:rPr sz="2000" dirty="0" err="1"/>
              <a:t>ida</a:t>
            </a:r>
            <a:r>
              <a:rPr sz="2000" dirty="0"/>
              <a:t>.</a:t>
            </a:r>
          </a:p>
          <a:p>
            <a:pPr>
              <a:spcAft>
                <a:spcPts val="1000"/>
              </a:spcAft>
              <a:defRPr sz="1600"/>
            </a:pPr>
            <a:r>
              <a:rPr sz="2000" dirty="0"/>
              <a:t>O </a:t>
            </a:r>
            <a:r>
              <a:rPr sz="2000" dirty="0" err="1"/>
              <a:t>resultado</a:t>
            </a:r>
            <a:r>
              <a:rPr sz="2000" dirty="0"/>
              <a:t> </a:t>
            </a:r>
            <a:r>
              <a:rPr sz="2000" dirty="0" err="1"/>
              <a:t>deve</a:t>
            </a:r>
            <a:r>
              <a:rPr sz="2000" dirty="0"/>
              <a:t> ser </a:t>
            </a:r>
            <a:r>
              <a:rPr sz="2000" dirty="0" err="1"/>
              <a:t>interpretado</a:t>
            </a:r>
            <a:r>
              <a:rPr sz="2000" dirty="0"/>
              <a:t> com a </a:t>
            </a:r>
            <a:r>
              <a:rPr sz="2000" dirty="0" err="1"/>
              <a:t>mesma</a:t>
            </a:r>
            <a:r>
              <a:rPr sz="2000" dirty="0"/>
              <a:t> </a:t>
            </a:r>
            <a:r>
              <a:rPr sz="2000" dirty="0" err="1"/>
              <a:t>ressalva</a:t>
            </a:r>
            <a:r>
              <a:rPr sz="2000" dirty="0"/>
              <a:t> dos </a:t>
            </a:r>
            <a:r>
              <a:rPr sz="2000" dirty="0" err="1"/>
              <a:t>horários</a:t>
            </a:r>
            <a:r>
              <a:rPr sz="2000" dirty="0"/>
              <a:t> </a:t>
            </a:r>
            <a:r>
              <a:rPr sz="2000" dirty="0" err="1"/>
              <a:t>que</a:t>
            </a:r>
            <a:r>
              <a:rPr sz="2000" dirty="0"/>
              <a:t> </a:t>
            </a:r>
            <a:r>
              <a:rPr sz="2000" dirty="0" err="1"/>
              <a:t>atravessam</a:t>
            </a:r>
            <a:r>
              <a:rPr sz="2000" dirty="0"/>
              <a:t> a </a:t>
            </a:r>
            <a:r>
              <a:rPr sz="2000" dirty="0" err="1"/>
              <a:t>meia-noite</a:t>
            </a:r>
            <a:r>
              <a:rPr sz="2000"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D87"/>
                </a:solidFill>
              </a:defRPr>
            </a:pPr>
            <a:r>
              <a:t>Projeto SPTrans – Sambaíba | Base sptrans_uc6.sql | Slide 13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2BC7579F-CD35-1B83-C2CE-F5CA2C5865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83056" y="0"/>
            <a:ext cx="1608944" cy="148421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41000">
              <a:schemeClr val="accent1">
                <a:lumMod val="0"/>
                <a:lumOff val="100000"/>
              </a:schemeClr>
            </a:gs>
            <a:gs pos="49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949197" y="320040"/>
            <a:ext cx="626312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rPr dirty="0"/>
              <a:t>13. Query 10 – </a:t>
            </a:r>
            <a:r>
              <a:rPr dirty="0" err="1"/>
              <a:t>Média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tipo</a:t>
            </a:r>
            <a:r>
              <a:rPr dirty="0"/>
              <a:t> de </a:t>
            </a:r>
            <a:r>
              <a:rPr dirty="0" err="1"/>
              <a:t>veículo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3766195" y="932688"/>
            <a:ext cx="457426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A5F69"/>
                </a:solidFill>
              </a:defRPr>
            </a:pPr>
            <a:r>
              <a:rPr sz="2000" dirty="0" err="1"/>
              <a:t>Relaciona</a:t>
            </a:r>
            <a:r>
              <a:rPr sz="2000" dirty="0"/>
              <a:t> </a:t>
            </a:r>
            <a:r>
              <a:rPr sz="2000" dirty="0" err="1"/>
              <a:t>operação</a:t>
            </a:r>
            <a:r>
              <a:rPr sz="2000" dirty="0"/>
              <a:t> e </a:t>
            </a:r>
            <a:r>
              <a:rPr sz="2000" dirty="0" err="1"/>
              <a:t>cadastro</a:t>
            </a:r>
            <a:r>
              <a:rPr sz="2000" dirty="0"/>
              <a:t> de </a:t>
            </a:r>
            <a:r>
              <a:rPr sz="2000" dirty="0" err="1"/>
              <a:t>veículos</a:t>
            </a:r>
            <a:endParaRPr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566928" y="1782822"/>
            <a:ext cx="5486400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/>
            </a:pPr>
            <a:r>
              <a:rPr sz="2000" dirty="0" err="1"/>
              <a:t>Resultado</a:t>
            </a:r>
            <a:r>
              <a:rPr sz="2000" dirty="0"/>
              <a:t> no conjunto </a:t>
            </a:r>
            <a:r>
              <a:rPr sz="2000" dirty="0" err="1"/>
              <a:t>operacional</a:t>
            </a:r>
            <a:r>
              <a:rPr sz="2000" dirty="0"/>
              <a:t>: </a:t>
            </a:r>
            <a:r>
              <a:rPr sz="2000" dirty="0" err="1"/>
              <a:t>Convencional</a:t>
            </a:r>
            <a:r>
              <a:rPr sz="2000" dirty="0"/>
              <a:t> – 4.85 min.</a:t>
            </a:r>
          </a:p>
          <a:p>
            <a:pPr>
              <a:spcAft>
                <a:spcPts val="1000"/>
              </a:spcAft>
              <a:defRPr sz="1500"/>
            </a:pPr>
            <a:r>
              <a:rPr sz="2000" dirty="0"/>
              <a:t>A query </a:t>
            </a:r>
            <a:r>
              <a:rPr sz="2000" dirty="0" err="1"/>
              <a:t>faz</a:t>
            </a:r>
            <a:r>
              <a:rPr sz="2000" dirty="0"/>
              <a:t> JOIN entre </a:t>
            </a:r>
            <a:r>
              <a:rPr sz="2000" dirty="0" err="1"/>
              <a:t>operacao</a:t>
            </a:r>
            <a:r>
              <a:rPr sz="2000" dirty="0"/>
              <a:t> e </a:t>
            </a:r>
            <a:r>
              <a:rPr sz="2000" dirty="0" err="1"/>
              <a:t>veiculo</a:t>
            </a:r>
            <a:r>
              <a:rPr sz="2000" dirty="0"/>
              <a:t> </a:t>
            </a:r>
            <a:r>
              <a:rPr sz="2000" dirty="0" err="1"/>
              <a:t>pelo</a:t>
            </a:r>
            <a:r>
              <a:rPr sz="2000" dirty="0"/>
              <a:t> </a:t>
            </a:r>
            <a:r>
              <a:rPr sz="2000" dirty="0" err="1"/>
              <a:t>id_veiculo</a:t>
            </a:r>
            <a:r>
              <a:rPr sz="2000" dirty="0"/>
              <a:t>.</a:t>
            </a:r>
          </a:p>
          <a:p>
            <a:pPr>
              <a:spcAft>
                <a:spcPts val="1000"/>
              </a:spcAft>
              <a:defRPr sz="1500"/>
            </a:pPr>
            <a:r>
              <a:rPr sz="2000" dirty="0"/>
              <a:t>No </a:t>
            </a:r>
            <a:r>
              <a:rPr sz="2000" dirty="0" err="1"/>
              <a:t>arquivo</a:t>
            </a:r>
            <a:r>
              <a:rPr sz="2000" dirty="0"/>
              <a:t>, </a:t>
            </a:r>
            <a:r>
              <a:rPr sz="2000" dirty="0" err="1"/>
              <a:t>os</a:t>
            </a:r>
            <a:r>
              <a:rPr sz="2000" dirty="0"/>
              <a:t> </a:t>
            </a:r>
            <a:r>
              <a:rPr sz="2000" dirty="0" err="1"/>
              <a:t>registros</a:t>
            </a:r>
            <a:r>
              <a:rPr sz="2000" dirty="0"/>
              <a:t> de </a:t>
            </a:r>
            <a:r>
              <a:rPr sz="2000" dirty="0" err="1"/>
              <a:t>operação</a:t>
            </a:r>
            <a:r>
              <a:rPr sz="2000" dirty="0"/>
              <a:t> </a:t>
            </a:r>
            <a:r>
              <a:rPr sz="2000" dirty="0" err="1"/>
              <a:t>utilizam</a:t>
            </a:r>
            <a:r>
              <a:rPr sz="2000" dirty="0"/>
              <a:t> </a:t>
            </a:r>
            <a:r>
              <a:rPr sz="2000" dirty="0" err="1"/>
              <a:t>os</a:t>
            </a:r>
            <a:r>
              <a:rPr sz="2000" dirty="0"/>
              <a:t> </a:t>
            </a:r>
            <a:r>
              <a:rPr sz="2000" dirty="0" err="1"/>
              <a:t>primeiros</a:t>
            </a:r>
            <a:r>
              <a:rPr sz="2000" dirty="0"/>
              <a:t> </a:t>
            </a:r>
            <a:r>
              <a:rPr sz="2000" dirty="0" err="1"/>
              <a:t>veículos</a:t>
            </a:r>
            <a:r>
              <a:rPr sz="2000" dirty="0"/>
              <a:t> </a:t>
            </a:r>
            <a:r>
              <a:rPr sz="2000" dirty="0" err="1"/>
              <a:t>cadastrados</a:t>
            </a:r>
            <a:r>
              <a:rPr sz="2000" dirty="0"/>
              <a:t>, </a:t>
            </a:r>
            <a:r>
              <a:rPr sz="2000" dirty="0" err="1"/>
              <a:t>classificados</a:t>
            </a:r>
            <a:r>
              <a:rPr sz="2000" dirty="0"/>
              <a:t> </a:t>
            </a:r>
            <a:r>
              <a:rPr sz="2000" dirty="0" err="1"/>
              <a:t>como</a:t>
            </a:r>
            <a:r>
              <a:rPr sz="2000" dirty="0"/>
              <a:t> </a:t>
            </a:r>
            <a:r>
              <a:rPr sz="2000" dirty="0" err="1"/>
              <a:t>Convencional</a:t>
            </a:r>
            <a:r>
              <a:rPr sz="2000" dirty="0"/>
              <a:t>.</a:t>
            </a:r>
          </a:p>
          <a:p>
            <a:pPr>
              <a:spcAft>
                <a:spcPts val="1000"/>
              </a:spcAft>
              <a:defRPr sz="1500"/>
            </a:pPr>
            <a:r>
              <a:rPr sz="2000" dirty="0"/>
              <a:t>Por </a:t>
            </a:r>
            <a:r>
              <a:rPr sz="2000" dirty="0" err="1"/>
              <a:t>isso</a:t>
            </a:r>
            <a:r>
              <a:rPr sz="2000" dirty="0"/>
              <a:t>, </a:t>
            </a:r>
            <a:r>
              <a:rPr sz="2000" dirty="0" err="1"/>
              <a:t>tipos</a:t>
            </a:r>
            <a:r>
              <a:rPr sz="2000" dirty="0"/>
              <a:t> </a:t>
            </a:r>
            <a:r>
              <a:rPr sz="2000" dirty="0" err="1"/>
              <a:t>como</a:t>
            </a:r>
            <a:r>
              <a:rPr sz="2000" dirty="0"/>
              <a:t> </a:t>
            </a:r>
            <a:r>
              <a:rPr sz="2000" dirty="0" err="1"/>
              <a:t>Articulado</a:t>
            </a:r>
            <a:r>
              <a:rPr sz="2000" dirty="0"/>
              <a:t>, Micro e </a:t>
            </a:r>
            <a:r>
              <a:rPr sz="2000" dirty="0" err="1"/>
              <a:t>Elétrico</a:t>
            </a:r>
            <a:r>
              <a:rPr sz="2000" dirty="0"/>
              <a:t> </a:t>
            </a:r>
            <a:r>
              <a:rPr sz="2000" dirty="0" err="1"/>
              <a:t>não</a:t>
            </a:r>
            <a:r>
              <a:rPr sz="2000" dirty="0"/>
              <a:t> </a:t>
            </a:r>
            <a:r>
              <a:rPr sz="2000" dirty="0" err="1"/>
              <a:t>aparecem</a:t>
            </a:r>
            <a:r>
              <a:rPr sz="2000" dirty="0"/>
              <a:t> </a:t>
            </a:r>
            <a:r>
              <a:rPr sz="2000" dirty="0" err="1"/>
              <a:t>nessa</a:t>
            </a:r>
            <a:r>
              <a:rPr sz="2000" dirty="0"/>
              <a:t> </a:t>
            </a:r>
            <a:r>
              <a:rPr sz="2000" dirty="0" err="1"/>
              <a:t>média</a:t>
            </a:r>
            <a:r>
              <a:rPr sz="2000" dirty="0"/>
              <a:t> da </a:t>
            </a:r>
            <a:r>
              <a:rPr sz="2000" dirty="0" err="1"/>
              <a:t>operação</a:t>
            </a:r>
            <a:r>
              <a:rPr sz="2000" dirty="0"/>
              <a:t>, </a:t>
            </a:r>
            <a:r>
              <a:rPr sz="2000" dirty="0" err="1"/>
              <a:t>apesar</a:t>
            </a:r>
            <a:r>
              <a:rPr sz="2000" dirty="0"/>
              <a:t> de </a:t>
            </a:r>
            <a:r>
              <a:rPr sz="2000" dirty="0" err="1"/>
              <a:t>existirem</a:t>
            </a:r>
            <a:r>
              <a:rPr sz="2000" dirty="0"/>
              <a:t> no </a:t>
            </a:r>
            <a:r>
              <a:rPr sz="2000" dirty="0" err="1"/>
              <a:t>cadastro</a:t>
            </a:r>
            <a:r>
              <a:rPr sz="2000" dirty="0"/>
              <a:t>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8823609"/>
              </p:ext>
            </p:extLst>
          </p:nvPr>
        </p:nvGraphicFramePr>
        <p:xfrm>
          <a:off x="6053328" y="1677508"/>
          <a:ext cx="5256751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D87"/>
                </a:solidFill>
              </a:defRPr>
            </a:pPr>
            <a:r>
              <a:t>Projeto SPTrans – Sambaíba | Base sptrans_uc6.sql | Slide 14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6CE78646-6898-621B-E82E-4AB9677C22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83056" y="0"/>
            <a:ext cx="1608944" cy="148421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 shadeToTitle="1">
        <a:gradFill flip="none" rotWithShape="1">
          <a:gsLst>
            <a:gs pos="86000">
              <a:schemeClr val="bg2">
                <a:tint val="80000"/>
                <a:satMod val="300000"/>
              </a:schemeClr>
            </a:gs>
            <a:gs pos="92000">
              <a:schemeClr val="bg2">
                <a:shade val="30000"/>
                <a:satMod val="200000"/>
              </a:schemeClr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057225" y="320040"/>
            <a:ext cx="404707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rPr dirty="0"/>
              <a:t>14. </a:t>
            </a:r>
            <a:r>
              <a:rPr dirty="0" err="1"/>
              <a:t>Síntese</a:t>
            </a:r>
            <a:r>
              <a:rPr dirty="0"/>
              <a:t> dos </a:t>
            </a:r>
            <a:r>
              <a:rPr dirty="0" err="1"/>
              <a:t>resultados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3147540" y="1096253"/>
            <a:ext cx="589661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A5F69"/>
                </a:solidFill>
              </a:defRPr>
            </a:pPr>
            <a:r>
              <a:rPr sz="2000" dirty="0"/>
              <a:t>O </a:t>
            </a:r>
            <a:r>
              <a:rPr sz="2000" dirty="0" err="1"/>
              <a:t>que</a:t>
            </a:r>
            <a:r>
              <a:rPr sz="2000" dirty="0"/>
              <a:t> as queries </a:t>
            </a:r>
            <a:r>
              <a:rPr sz="2000" dirty="0" err="1"/>
              <a:t>permitem</a:t>
            </a:r>
            <a:r>
              <a:rPr sz="2000" dirty="0"/>
              <a:t> </a:t>
            </a:r>
            <a:r>
              <a:rPr sz="2000" dirty="0" err="1"/>
              <a:t>concluir</a:t>
            </a:r>
            <a:r>
              <a:rPr sz="2000" dirty="0"/>
              <a:t> a </a:t>
            </a:r>
            <a:r>
              <a:rPr sz="2000" dirty="0" err="1"/>
              <a:t>partir</a:t>
            </a:r>
            <a:r>
              <a:rPr sz="2000" dirty="0"/>
              <a:t> do </a:t>
            </a:r>
            <a:r>
              <a:rPr sz="2000" dirty="0" err="1"/>
              <a:t>arquivo</a:t>
            </a:r>
            <a:endParaRPr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838047" y="2005919"/>
            <a:ext cx="10515600" cy="2323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rPr sz="2000" dirty="0"/>
              <a:t>A base </a:t>
            </a:r>
            <a:r>
              <a:rPr sz="2000" dirty="0" err="1"/>
              <a:t>permite</a:t>
            </a:r>
            <a:r>
              <a:rPr sz="2000" dirty="0"/>
              <a:t> </a:t>
            </a:r>
            <a:r>
              <a:rPr sz="2000" dirty="0" err="1"/>
              <a:t>analisar</a:t>
            </a:r>
            <a:r>
              <a:rPr sz="2000" dirty="0"/>
              <a:t> </a:t>
            </a:r>
            <a:r>
              <a:rPr sz="2000" dirty="0" err="1"/>
              <a:t>pontualidade</a:t>
            </a:r>
            <a:r>
              <a:rPr sz="2000" dirty="0"/>
              <a:t> </a:t>
            </a:r>
            <a:r>
              <a:rPr sz="2000" dirty="0" err="1"/>
              <a:t>por</a:t>
            </a:r>
            <a:r>
              <a:rPr sz="2000" dirty="0"/>
              <a:t> </a:t>
            </a:r>
            <a:r>
              <a:rPr sz="2000" dirty="0" err="1"/>
              <a:t>linha</a:t>
            </a:r>
            <a:r>
              <a:rPr sz="2000" dirty="0"/>
              <a:t>, </a:t>
            </a:r>
            <a:r>
              <a:rPr sz="2000" dirty="0" err="1"/>
              <a:t>horário</a:t>
            </a:r>
            <a:r>
              <a:rPr sz="2000" dirty="0"/>
              <a:t>, </a:t>
            </a:r>
            <a:r>
              <a:rPr sz="2000" dirty="0" err="1"/>
              <a:t>sentido</a:t>
            </a:r>
            <a:r>
              <a:rPr sz="2000" dirty="0"/>
              <a:t> e </a:t>
            </a:r>
            <a:r>
              <a:rPr sz="2000" dirty="0" err="1"/>
              <a:t>veículo</a:t>
            </a:r>
            <a:r>
              <a:rPr sz="2000" dirty="0"/>
              <a:t>.</a:t>
            </a:r>
          </a:p>
          <a:p>
            <a:pPr>
              <a:spcAft>
                <a:spcPts val="1000"/>
              </a:spcAft>
              <a:defRPr sz="1700"/>
            </a:pPr>
            <a:r>
              <a:rPr sz="2000" dirty="0" err="1"/>
              <a:t>Os</a:t>
            </a:r>
            <a:r>
              <a:rPr sz="2000" dirty="0"/>
              <a:t> </a:t>
            </a:r>
            <a:r>
              <a:rPr sz="2000" dirty="0" err="1"/>
              <a:t>maiores</a:t>
            </a:r>
            <a:r>
              <a:rPr sz="2000" dirty="0"/>
              <a:t> volumes de </a:t>
            </a:r>
            <a:r>
              <a:rPr sz="2000" dirty="0" err="1"/>
              <a:t>atrasos</a:t>
            </a:r>
            <a:r>
              <a:rPr sz="2000" dirty="0"/>
              <a:t> </a:t>
            </a:r>
            <a:r>
              <a:rPr sz="2000" dirty="0" err="1"/>
              <a:t>concentram</a:t>
            </a:r>
            <a:r>
              <a:rPr sz="2000" dirty="0"/>
              <a:t>-se </a:t>
            </a:r>
            <a:r>
              <a:rPr sz="2000" dirty="0" err="1"/>
              <a:t>em</a:t>
            </a:r>
            <a:r>
              <a:rPr sz="2000" dirty="0"/>
              <a:t> </a:t>
            </a:r>
            <a:r>
              <a:rPr sz="2000" dirty="0" err="1"/>
              <a:t>horários</a:t>
            </a:r>
            <a:r>
              <a:rPr sz="2000" dirty="0"/>
              <a:t> </a:t>
            </a:r>
            <a:r>
              <a:rPr sz="2000" dirty="0" err="1"/>
              <a:t>específicos</a:t>
            </a:r>
            <a:r>
              <a:rPr sz="2000" dirty="0"/>
              <a:t>, com </a:t>
            </a:r>
            <a:r>
              <a:rPr sz="2000" dirty="0" err="1"/>
              <a:t>destaque</a:t>
            </a:r>
            <a:r>
              <a:rPr sz="2000" dirty="0"/>
              <a:t> para 05h </a:t>
            </a:r>
            <a:r>
              <a:rPr sz="2000" dirty="0" err="1"/>
              <a:t>na</a:t>
            </a:r>
            <a:r>
              <a:rPr sz="2000" dirty="0"/>
              <a:t> consulta de </a:t>
            </a:r>
            <a:r>
              <a:rPr sz="2000" dirty="0" err="1"/>
              <a:t>frequência</a:t>
            </a:r>
            <a:r>
              <a:rPr sz="2000" dirty="0"/>
              <a:t>.</a:t>
            </a:r>
          </a:p>
          <a:p>
            <a:pPr>
              <a:spcAft>
                <a:spcPts val="1000"/>
              </a:spcAft>
              <a:defRPr sz="1700"/>
            </a:pPr>
            <a:r>
              <a:rPr sz="2000" dirty="0"/>
              <a:t>A query de </a:t>
            </a:r>
            <a:r>
              <a:rPr sz="2000" dirty="0" err="1"/>
              <a:t>ocorrências</a:t>
            </a:r>
            <a:r>
              <a:rPr sz="2000" dirty="0"/>
              <a:t> </a:t>
            </a:r>
            <a:r>
              <a:rPr sz="2000" dirty="0" err="1"/>
              <a:t>identifica</a:t>
            </a:r>
            <a:r>
              <a:rPr sz="2000" dirty="0"/>
              <a:t> 1936 </a:t>
            </a:r>
            <a:r>
              <a:rPr sz="2000" dirty="0" err="1"/>
              <a:t>registros</a:t>
            </a:r>
            <a:r>
              <a:rPr sz="2000" dirty="0"/>
              <a:t> com real &gt; </a:t>
            </a:r>
            <a:r>
              <a:rPr sz="2000" dirty="0" err="1"/>
              <a:t>programado</a:t>
            </a:r>
            <a:r>
              <a:rPr sz="2000" dirty="0"/>
              <a:t>.</a:t>
            </a:r>
          </a:p>
          <a:p>
            <a:pPr>
              <a:spcAft>
                <a:spcPts val="1000"/>
              </a:spcAft>
              <a:defRPr sz="1700"/>
            </a:pPr>
            <a:r>
              <a:rPr sz="2000" dirty="0"/>
              <a:t>As queries 2, 8 e 9 </a:t>
            </a:r>
            <a:r>
              <a:rPr sz="2000" dirty="0" err="1"/>
              <a:t>precisam</a:t>
            </a:r>
            <a:r>
              <a:rPr sz="2000" dirty="0"/>
              <a:t> de cautela </a:t>
            </a:r>
            <a:r>
              <a:rPr sz="2000" dirty="0" err="1"/>
              <a:t>por</a:t>
            </a:r>
            <a:r>
              <a:rPr sz="2000" dirty="0"/>
              <a:t> causa do </a:t>
            </a:r>
            <a:r>
              <a:rPr sz="2000" dirty="0" err="1"/>
              <a:t>tratamento</a:t>
            </a:r>
            <a:r>
              <a:rPr sz="2000" dirty="0"/>
              <a:t> de </a:t>
            </a:r>
            <a:r>
              <a:rPr sz="2000" dirty="0" err="1"/>
              <a:t>horários</a:t>
            </a:r>
            <a:r>
              <a:rPr sz="2000" dirty="0"/>
              <a:t> </a:t>
            </a:r>
            <a:r>
              <a:rPr sz="2000" dirty="0" err="1"/>
              <a:t>que</a:t>
            </a:r>
            <a:r>
              <a:rPr sz="2000" dirty="0"/>
              <a:t> </a:t>
            </a:r>
            <a:r>
              <a:rPr sz="2000" dirty="0" err="1"/>
              <a:t>cruzam</a:t>
            </a:r>
            <a:r>
              <a:rPr sz="2000" dirty="0"/>
              <a:t> a </a:t>
            </a:r>
            <a:r>
              <a:rPr sz="2000" dirty="0" err="1"/>
              <a:t>meia-noite</a:t>
            </a:r>
            <a:r>
              <a:rPr sz="2000" dirty="0"/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D87"/>
                </a:solidFill>
              </a:defRPr>
            </a:pPr>
            <a:r>
              <a:t>Projeto SPTrans – Sambaíba | Base sptrans_uc6.sql | Slide 15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A461BDE7-8259-9688-3130-AA30F49A9B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83056" y="0"/>
            <a:ext cx="1608944" cy="148421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1">
                <a:lumMod val="67000"/>
              </a:schemeClr>
            </a:gs>
            <a:gs pos="0">
              <a:schemeClr val="accent1">
                <a:lumMod val="97000"/>
                <a:lumOff val="3000"/>
              </a:schemeClr>
            </a:gs>
            <a:gs pos="87000">
              <a:schemeClr val="accent1">
                <a:lumMod val="60000"/>
                <a:lumOff val="40000"/>
              </a:schemeClr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956895" y="320040"/>
            <a:ext cx="224773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rPr dirty="0"/>
              <a:t>16. </a:t>
            </a:r>
            <a:r>
              <a:rPr dirty="0" err="1"/>
              <a:t>Conclusão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3370991" y="932688"/>
            <a:ext cx="536467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A5F69"/>
                </a:solidFill>
              </a:defRPr>
            </a:pPr>
            <a:r>
              <a:rPr sz="2400" b="1" dirty="0"/>
              <a:t>Da query SQL para a </a:t>
            </a:r>
            <a:r>
              <a:rPr sz="2400" b="1" dirty="0" err="1"/>
              <a:t>decisão</a:t>
            </a:r>
            <a:r>
              <a:rPr sz="2400" b="1" dirty="0"/>
              <a:t> </a:t>
            </a:r>
            <a:r>
              <a:rPr sz="2400" b="1" dirty="0" err="1"/>
              <a:t>operacional</a:t>
            </a:r>
            <a:endParaRPr sz="24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4329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rPr dirty="0"/>
              <a:t>As </a:t>
            </a:r>
            <a:r>
              <a:rPr dirty="0" err="1"/>
              <a:t>consultas</a:t>
            </a:r>
            <a:r>
              <a:rPr dirty="0"/>
              <a:t> </a:t>
            </a:r>
            <a:r>
              <a:rPr dirty="0" err="1"/>
              <a:t>transformam</a:t>
            </a:r>
            <a:r>
              <a:rPr dirty="0"/>
              <a:t> </a:t>
            </a:r>
            <a:r>
              <a:rPr dirty="0" err="1"/>
              <a:t>registros</a:t>
            </a:r>
            <a:r>
              <a:rPr dirty="0"/>
              <a:t> de </a:t>
            </a:r>
            <a:r>
              <a:rPr dirty="0" err="1"/>
              <a:t>operação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indicadores</a:t>
            </a:r>
            <a:r>
              <a:rPr dirty="0"/>
              <a:t> de </a:t>
            </a:r>
            <a:r>
              <a:rPr dirty="0" err="1"/>
              <a:t>desempenho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2200"/>
            </a:pPr>
            <a:r>
              <a:rPr dirty="0"/>
              <a:t>A </a:t>
            </a:r>
            <a:r>
              <a:rPr dirty="0" err="1"/>
              <a:t>análise</a:t>
            </a:r>
            <a:r>
              <a:rPr dirty="0"/>
              <a:t> </a:t>
            </a:r>
            <a:r>
              <a:rPr dirty="0" err="1"/>
              <a:t>permite</a:t>
            </a:r>
            <a:r>
              <a:rPr dirty="0"/>
              <a:t> </a:t>
            </a:r>
            <a:r>
              <a:rPr dirty="0" err="1"/>
              <a:t>localizar</a:t>
            </a:r>
            <a:r>
              <a:rPr dirty="0"/>
              <a:t> </a:t>
            </a:r>
            <a:r>
              <a:rPr dirty="0" err="1"/>
              <a:t>gargalos</a:t>
            </a:r>
            <a:r>
              <a:rPr dirty="0"/>
              <a:t> e </a:t>
            </a:r>
            <a:r>
              <a:rPr dirty="0" err="1"/>
              <a:t>priorizar</a:t>
            </a:r>
            <a:r>
              <a:rPr dirty="0"/>
              <a:t> </a:t>
            </a:r>
            <a:r>
              <a:rPr dirty="0" err="1"/>
              <a:t>linhas</a:t>
            </a:r>
            <a:r>
              <a:rPr dirty="0"/>
              <a:t>, </a:t>
            </a:r>
            <a:r>
              <a:rPr dirty="0" err="1"/>
              <a:t>horários</a:t>
            </a:r>
            <a:r>
              <a:rPr dirty="0"/>
              <a:t> e </a:t>
            </a:r>
            <a:r>
              <a:rPr dirty="0" err="1"/>
              <a:t>veículos</a:t>
            </a:r>
            <a:r>
              <a:rPr dirty="0"/>
              <a:t> para </a:t>
            </a:r>
            <a:r>
              <a:rPr dirty="0" err="1"/>
              <a:t>investigação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2200"/>
            </a:pPr>
            <a:r>
              <a:rPr lang="pt-BR" dirty="0"/>
              <a:t>Cabe ressaltar que  a </a:t>
            </a:r>
            <a:r>
              <a:rPr lang="pt-BR" dirty="0" err="1"/>
              <a:t>Sptrans</a:t>
            </a:r>
            <a:r>
              <a:rPr lang="pt-BR" dirty="0"/>
              <a:t> não possui uma unificação e padronização de dados entre as companhias de ônibus, dificultando, dessa forma , a qualidade, a transparência e a devida análise sobre o custo operacional e custo financeiro!</a:t>
            </a:r>
          </a:p>
          <a:p>
            <a:pPr>
              <a:spcAft>
                <a:spcPts val="1000"/>
              </a:spcAft>
              <a:defRPr sz="2200"/>
            </a:pPr>
            <a:r>
              <a:rPr lang="pt-BR" dirty="0"/>
              <a:t>Foram encaminhados e-mails junto à mesma e a </a:t>
            </a:r>
            <a:r>
              <a:rPr lang="pt-BR" dirty="0" err="1"/>
              <a:t>Sambaiba</a:t>
            </a:r>
            <a:r>
              <a:rPr lang="pt-BR" dirty="0"/>
              <a:t>, porém não houve retorno sobre o tema .</a:t>
            </a:r>
          </a:p>
          <a:p>
            <a:pPr>
              <a:spcAft>
                <a:spcPts val="1000"/>
              </a:spcAft>
              <a:defRPr sz="2200"/>
            </a:pPr>
            <a:r>
              <a:rPr lang="pt-BR" dirty="0"/>
              <a:t>Diante disso, a base de dados foi copulada sobre a região norte visando uma amostragem técnica ( parcialmente via site </a:t>
            </a:r>
            <a:r>
              <a:rPr lang="pt-BR" dirty="0" err="1"/>
              <a:t>Sptrans</a:t>
            </a:r>
            <a:r>
              <a:rPr lang="pt-BR" dirty="0"/>
              <a:t> e WEB ) e operacional sobre o tema( Visita Terminal Santana ).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D87"/>
                </a:solidFill>
              </a:defRPr>
            </a:pPr>
            <a:r>
              <a:t>Projeto SPTrans – Sambaíba | Base sptrans_uc6.sql | Slide 17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F32F9D9F-C060-8DDF-AFDF-F47210DA6E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83056" y="0"/>
            <a:ext cx="1608944" cy="14842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TM03457485[[fn=Malha]]</Template>
  <TotalTime>257</TotalTime>
  <Words>1594</Words>
  <Application>Microsoft Office PowerPoint</Application>
  <PresentationFormat>Widescreen</PresentationFormat>
  <Paragraphs>148</Paragraphs>
  <Slides>19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JOAO PAULO ALVES DOS SANTOS</cp:lastModifiedBy>
  <cp:revision>30</cp:revision>
  <dcterms:created xsi:type="dcterms:W3CDTF">2013-01-27T09:14:16Z</dcterms:created>
  <dcterms:modified xsi:type="dcterms:W3CDTF">2026-09-07T02:23:38Z</dcterms:modified>
  <cp:category/>
</cp:coreProperties>
</file>