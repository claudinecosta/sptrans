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4" r:id="rId2"/>
    <p:sldId id="275" r:id="rId3"/>
    <p:sldId id="256" r:id="rId4"/>
    <p:sldId id="257" r:id="rId5"/>
    <p:sldId id="273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7" r:id="rId20"/>
    <p:sldId id="276" r:id="rId21"/>
    <p:sldId id="272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2C7D9F-FF46-4C47-993C-8BD5084C977C}" v="4" dt="2026-09-07T20:01:38.3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AO PAULO ALVES DOS SANTOS" userId="191c84e4-4f79-4e9b-b489-737288fc33b5" providerId="ADAL" clId="{E89EF9B8-276E-4A73-902E-DC71F6C76BEA}"/>
    <pc:docChg chg="modSld">
      <pc:chgData name="JOAO PAULO ALVES DOS SANTOS" userId="191c84e4-4f79-4e9b-b489-737288fc33b5" providerId="ADAL" clId="{E89EF9B8-276E-4A73-902E-DC71F6C76BEA}" dt="2026-09-07T20:01:38.367" v="3"/>
      <pc:docMkLst>
        <pc:docMk/>
      </pc:docMkLst>
      <pc:sldChg chg="modSp">
        <pc:chgData name="JOAO PAULO ALVES DOS SANTOS" userId="191c84e4-4f79-4e9b-b489-737288fc33b5" providerId="ADAL" clId="{E89EF9B8-276E-4A73-902E-DC71F6C76BEA}" dt="2026-09-07T19:57:56.866" v="1"/>
        <pc:sldMkLst>
          <pc:docMk/>
          <pc:sldMk cId="0" sldId="270"/>
        </pc:sldMkLst>
        <pc:spChg chg="mod">
          <ac:chgData name="JOAO PAULO ALVES DOS SANTOS" userId="191c84e4-4f79-4e9b-b489-737288fc33b5" providerId="ADAL" clId="{E89EF9B8-276E-4A73-902E-DC71F6C76BEA}" dt="2026-09-07T19:57:56.866" v="1"/>
          <ac:spMkLst>
            <pc:docMk/>
            <pc:sldMk cId="0" sldId="270"/>
            <ac:spMk id="3" creationId="{00000000-0000-0000-0000-000000000000}"/>
          </ac:spMkLst>
        </pc:spChg>
      </pc:sldChg>
      <pc:sldChg chg="modSp">
        <pc:chgData name="JOAO PAULO ALVES DOS SANTOS" userId="191c84e4-4f79-4e9b-b489-737288fc33b5" providerId="ADAL" clId="{E89EF9B8-276E-4A73-902E-DC71F6C76BEA}" dt="2026-09-07T19:51:00.872" v="0"/>
        <pc:sldMkLst>
          <pc:docMk/>
          <pc:sldMk cId="3655356185" sldId="274"/>
        </pc:sldMkLst>
        <pc:spChg chg="mod">
          <ac:chgData name="JOAO PAULO ALVES DOS SANTOS" userId="191c84e4-4f79-4e9b-b489-737288fc33b5" providerId="ADAL" clId="{E89EF9B8-276E-4A73-902E-DC71F6C76BEA}" dt="2026-09-07T19:51:00.872" v="0"/>
          <ac:spMkLst>
            <pc:docMk/>
            <pc:sldMk cId="3655356185" sldId="274"/>
            <ac:spMk id="21" creationId="{F259AE28-C4DC-0424-5B00-72442191AE3E}"/>
          </ac:spMkLst>
        </pc:spChg>
      </pc:sldChg>
      <pc:sldChg chg="modSp">
        <pc:chgData name="JOAO PAULO ALVES DOS SANTOS" userId="191c84e4-4f79-4e9b-b489-737288fc33b5" providerId="ADAL" clId="{E89EF9B8-276E-4A73-902E-DC71F6C76BEA}" dt="2026-09-07T20:01:38.367" v="3"/>
        <pc:sldMkLst>
          <pc:docMk/>
          <pc:sldMk cId="2052497125" sldId="277"/>
        </pc:sldMkLst>
        <pc:spChg chg="mod">
          <ac:chgData name="JOAO PAULO ALVES DOS SANTOS" userId="191c84e4-4f79-4e9b-b489-737288fc33b5" providerId="ADAL" clId="{E89EF9B8-276E-4A73-902E-DC71F6C76BEA}" dt="2026-09-07T20:01:38.367" v="3"/>
          <ac:spMkLst>
            <pc:docMk/>
            <pc:sldMk cId="2052497125" sldId="277"/>
            <ac:spMk id="3" creationId="{509185C4-9C42-025B-C5A2-9AE78ED4D883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r>
              <a:rPr lang="pt-BR"/>
              <a:t>8 maiores médias (min)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8 maiores médias (min)</c:v>
                </c:pt>
              </c:strCache>
            </c:strRef>
          </c:tx>
          <c:invertIfNegative val="1"/>
          <c:cat>
            <c:strRef>
              <c:f>Sheet1!$A$2:$A$9</c:f>
              <c:strCache>
                <c:ptCount val="8"/>
                <c:pt idx="0">
                  <c:v>971F-10</c:v>
                </c:pt>
                <c:pt idx="1">
                  <c:v>971H-10</c:v>
                </c:pt>
                <c:pt idx="2">
                  <c:v>971G-10</c:v>
                </c:pt>
                <c:pt idx="3">
                  <c:v>972D-10</c:v>
                </c:pt>
                <c:pt idx="4">
                  <c:v>971N-10</c:v>
                </c:pt>
                <c:pt idx="5">
                  <c:v>972A-10</c:v>
                </c:pt>
                <c:pt idx="6">
                  <c:v>972B-10</c:v>
                </c:pt>
                <c:pt idx="7">
                  <c:v>971P-10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12.77777777777778</c:v>
                </c:pt>
                <c:pt idx="1">
                  <c:v>12.77777777777778</c:v>
                </c:pt>
                <c:pt idx="2">
                  <c:v>12.59259259259259</c:v>
                </c:pt>
                <c:pt idx="3">
                  <c:v>10.90740740740741</c:v>
                </c:pt>
                <c:pt idx="4">
                  <c:v>10.90476190476191</c:v>
                </c:pt>
                <c:pt idx="5">
                  <c:v>10.90476190476191</c:v>
                </c:pt>
                <c:pt idx="6">
                  <c:v>10.888888888888889</c:v>
                </c:pt>
                <c:pt idx="7">
                  <c:v>10.857142857142859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E7-4A99-AEF0-3444B5F884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20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pt-B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r>
              <a:rPr lang="pt-BR"/>
              <a:t>Top 10 horas com atrasos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Top 10 horas com atrasos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Sheet1!$A$2:$A$11</c:f>
              <c:strCache>
                <c:ptCount val="10"/>
                <c:pt idx="0">
                  <c:v>5</c:v>
                </c:pt>
                <c:pt idx="1">
                  <c:v>22</c:v>
                </c:pt>
                <c:pt idx="2">
                  <c:v>15</c:v>
                </c:pt>
                <c:pt idx="3">
                  <c:v>8</c:v>
                </c:pt>
                <c:pt idx="4">
                  <c:v>18</c:v>
                </c:pt>
                <c:pt idx="5">
                  <c:v>2</c:v>
                </c:pt>
                <c:pt idx="6">
                  <c:v>19</c:v>
                </c:pt>
                <c:pt idx="7">
                  <c:v>10</c:v>
                </c:pt>
                <c:pt idx="8">
                  <c:v>20</c:v>
                </c:pt>
                <c:pt idx="9">
                  <c:v>3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197</c:v>
                </c:pt>
                <c:pt idx="1">
                  <c:v>120</c:v>
                </c:pt>
                <c:pt idx="2">
                  <c:v>120</c:v>
                </c:pt>
                <c:pt idx="3">
                  <c:v>120</c:v>
                </c:pt>
                <c:pt idx="4">
                  <c:v>120</c:v>
                </c:pt>
                <c:pt idx="5">
                  <c:v>119</c:v>
                </c:pt>
                <c:pt idx="6">
                  <c:v>110</c:v>
                </c:pt>
                <c:pt idx="7">
                  <c:v>105</c:v>
                </c:pt>
                <c:pt idx="8">
                  <c:v>102</c:v>
                </c:pt>
                <c:pt idx="9">
                  <c:v>102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82-4B2A-AB95-FBA30FA324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pt-B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r>
              <a:rPr lang="pt-BR"/>
              <a:t>Top 10 combinações linha/sentido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Top 10 combinações linha/sentido</c:v>
                </c:pt>
              </c:strCache>
            </c:strRef>
          </c:tx>
          <c:invertIfNegative val="1"/>
          <c:cat>
            <c:strRef>
              <c:f>Sheet1!$A$2:$A$11</c:f>
              <c:strCache>
                <c:ptCount val="10"/>
                <c:pt idx="0">
                  <c:v>971F-10 ida</c:v>
                </c:pt>
                <c:pt idx="1">
                  <c:v>971H-10 ida</c:v>
                </c:pt>
                <c:pt idx="2">
                  <c:v>971J-10 volta</c:v>
                </c:pt>
                <c:pt idx="3">
                  <c:v>971E-10 volta</c:v>
                </c:pt>
                <c:pt idx="4">
                  <c:v>971G-10 ida</c:v>
                </c:pt>
                <c:pt idx="5">
                  <c:v>971F-10 volta</c:v>
                </c:pt>
                <c:pt idx="6">
                  <c:v>971H-10 volta</c:v>
                </c:pt>
                <c:pt idx="7">
                  <c:v>971G-10 volta</c:v>
                </c:pt>
                <c:pt idx="8">
                  <c:v>971B-10 volta</c:v>
                </c:pt>
                <c:pt idx="9">
                  <c:v>972D-10 ida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13.451612903225806</c:v>
                </c:pt>
                <c:pt idx="1">
                  <c:v>13.451612903225806</c:v>
                </c:pt>
                <c:pt idx="2">
                  <c:v>13.277777777777779</c:v>
                </c:pt>
                <c:pt idx="3">
                  <c:v>13.277777777777779</c:v>
                </c:pt>
                <c:pt idx="4">
                  <c:v>13.222222222222221</c:v>
                </c:pt>
                <c:pt idx="5">
                  <c:v>12.125</c:v>
                </c:pt>
                <c:pt idx="6">
                  <c:v>12.125</c:v>
                </c:pt>
                <c:pt idx="7">
                  <c:v>11.962962962962964</c:v>
                </c:pt>
                <c:pt idx="8">
                  <c:v>11.882352941176471</c:v>
                </c:pt>
                <c:pt idx="9">
                  <c:v>11.851851851851851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AC-4CA3-A59B-A441C8BBF3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pt-B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r>
              <a:rPr lang="pt-BR"/>
              <a:t>Maiores atrasos máximos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Maiores atrasos máximos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Sheet1!$A$2:$A$9</c:f>
              <c:strCache>
                <c:ptCount val="8"/>
                <c:pt idx="0">
                  <c:v>971E-10</c:v>
                </c:pt>
                <c:pt idx="1">
                  <c:v>971F-10</c:v>
                </c:pt>
                <c:pt idx="2">
                  <c:v>971B-10</c:v>
                </c:pt>
                <c:pt idx="3">
                  <c:v>971P-10</c:v>
                </c:pt>
                <c:pt idx="4">
                  <c:v>972B-10</c:v>
                </c:pt>
                <c:pt idx="5">
                  <c:v>971N-10</c:v>
                </c:pt>
                <c:pt idx="6">
                  <c:v>971M-10</c:v>
                </c:pt>
                <c:pt idx="7">
                  <c:v>972E-10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  <c:pt idx="5">
                  <c:v>20</c:v>
                </c:pt>
                <c:pt idx="6">
                  <c:v>20</c:v>
                </c:pt>
                <c:pt idx="7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62-4AA2-8AA6-12C978AA1C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pt-B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r>
              <a:rPr lang="pt-BR"/>
              <a:t>Top 8 veículos por média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Top 8 veículos por média</c:v>
                </c:pt>
              </c:strCache>
            </c:strRef>
          </c:tx>
          <c:invertIfNegative val="1"/>
          <c:cat>
            <c:strRef>
              <c:f>Sheet1!$A$2:$A$9</c:f>
              <c:strCache>
                <c:ptCount val="8"/>
                <c:pt idx="0">
                  <c:v>ID 5</c:v>
                </c:pt>
                <c:pt idx="1">
                  <c:v>ID 7</c:v>
                </c:pt>
                <c:pt idx="2">
                  <c:v>ID 3</c:v>
                </c:pt>
                <c:pt idx="3">
                  <c:v>ID 9</c:v>
                </c:pt>
                <c:pt idx="4">
                  <c:v>ID 1</c:v>
                </c:pt>
                <c:pt idx="5">
                  <c:v>ID 4</c:v>
                </c:pt>
                <c:pt idx="6">
                  <c:v>ID 2</c:v>
                </c:pt>
                <c:pt idx="7">
                  <c:v>ID 6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12.792592592592593</c:v>
                </c:pt>
                <c:pt idx="1">
                  <c:v>11.203703703703704</c:v>
                </c:pt>
                <c:pt idx="2">
                  <c:v>10.981481481481481</c:v>
                </c:pt>
                <c:pt idx="3">
                  <c:v>10.933333333333334</c:v>
                </c:pt>
                <c:pt idx="4">
                  <c:v>10.777777777777779</c:v>
                </c:pt>
                <c:pt idx="5">
                  <c:v>10.044444444444444</c:v>
                </c:pt>
                <c:pt idx="6">
                  <c:v>9.8407407407407401</c:v>
                </c:pt>
                <c:pt idx="7">
                  <c:v>9.6296296296296298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B9-4A82-863C-AEC727766B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pt-B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r>
              <a:rPr lang="pt-BR"/>
              <a:t>Menores médias calculadas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Menores médias calculadas</c:v>
                </c:pt>
              </c:strCache>
            </c:strRef>
          </c:tx>
          <c:invertIfNegative val="1"/>
          <c:cat>
            <c:strRef>
              <c:f>Sheet1!$A$2:$A$9</c:f>
              <c:strCache>
                <c:ptCount val="8"/>
                <c:pt idx="0">
                  <c:v>971L-10</c:v>
                </c:pt>
                <c:pt idx="1">
                  <c:v>972E-10</c:v>
                </c:pt>
                <c:pt idx="2">
                  <c:v>971M-10</c:v>
                </c:pt>
                <c:pt idx="3">
                  <c:v>972C-10</c:v>
                </c:pt>
                <c:pt idx="4">
                  <c:v>971K-10</c:v>
                </c:pt>
                <c:pt idx="5">
                  <c:v>971J-10</c:v>
                </c:pt>
                <c:pt idx="6">
                  <c:v>971E-10</c:v>
                </c:pt>
                <c:pt idx="7">
                  <c:v>971B-10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-9.4861111111111107</c:v>
                </c:pt>
                <c:pt idx="1">
                  <c:v>-9.4166666666666661</c:v>
                </c:pt>
                <c:pt idx="2">
                  <c:v>-9.4027777777777786</c:v>
                </c:pt>
                <c:pt idx="3">
                  <c:v>-9.1805555555555554</c:v>
                </c:pt>
                <c:pt idx="4">
                  <c:v>-7.1234567901234565</c:v>
                </c:pt>
                <c:pt idx="5">
                  <c:v>-6.1805555555555554</c:v>
                </c:pt>
                <c:pt idx="6">
                  <c:v>-6.1805555555555554</c:v>
                </c:pt>
                <c:pt idx="7">
                  <c:v>1.7333333333333334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E5-4156-8199-D03608F8A9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pt-B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r>
              <a:rPr lang="pt-BR"/>
              <a:t>Média calculada por sentido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Média calculada por sentido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ida</c:v>
                </c:pt>
                <c:pt idx="1">
                  <c:v>volta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-0.67179487179487174</c:v>
                </c:pt>
                <c:pt idx="1">
                  <c:v>10.363076923076923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59-4B6E-88A6-A38C891B69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24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pt-B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r>
              <a:rPr lang="pt-BR"/>
              <a:t>Capacidade cadastrada por tipo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Capacidade cadastrada por tipo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Articulado</c:v>
                </c:pt>
                <c:pt idx="1">
                  <c:v>Convencional</c:v>
                </c:pt>
                <c:pt idx="2">
                  <c:v>Elétrico</c:v>
                </c:pt>
                <c:pt idx="3">
                  <c:v>Micro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9750</c:v>
                </c:pt>
                <c:pt idx="1">
                  <c:v>9600</c:v>
                </c:pt>
                <c:pt idx="2">
                  <c:v>800</c:v>
                </c:pt>
                <c:pt idx="3">
                  <c:v>528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8F-423B-A184-109AACBAAA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20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pt-B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000">
              <a:schemeClr val="bg2">
                <a:tint val="80000"/>
                <a:satMod val="300000"/>
              </a:schemeClr>
            </a:gs>
            <a:gs pos="100000">
              <a:schemeClr val="bg2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815144-B49F-D20F-C0C9-431C09230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016B6D4-5773-4745-1050-47E1A0E8C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B15A84-0C80-CA18-EA30-DC365FBCFB4B}"/>
              </a:ext>
            </a:extLst>
          </p:cNvPr>
          <p:cNvSpPr txBox="1"/>
          <p:nvPr/>
        </p:nvSpPr>
        <p:spPr>
          <a:xfrm>
            <a:off x="2943777" y="2316046"/>
            <a:ext cx="690374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/>
            </a:pPr>
            <a:r>
              <a:rPr lang="pt-BR" sz="4400" dirty="0">
                <a:solidFill>
                  <a:schemeClr val="bg1"/>
                </a:solidFill>
              </a:rPr>
              <a:t>CURSO TÉCNICO:</a:t>
            </a:r>
          </a:p>
          <a:p>
            <a:pPr algn="ctr">
              <a:defRPr sz="3800" b="1"/>
            </a:pPr>
            <a:r>
              <a:rPr lang="pt-BR" sz="4400" dirty="0">
                <a:solidFill>
                  <a:schemeClr val="bg1"/>
                </a:solidFill>
              </a:rPr>
              <a:t>INTELIGENCIA ARTIFICIAL</a:t>
            </a:r>
            <a:endParaRPr sz="4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098DC4-4480-A69C-1E0F-B39535033989}"/>
              </a:ext>
            </a:extLst>
          </p:cNvPr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D87"/>
                </a:solidFill>
              </a:defRPr>
            </a:pPr>
            <a:r>
              <a:rPr dirty="0" err="1"/>
              <a:t>Projeto</a:t>
            </a:r>
            <a:r>
              <a:rPr dirty="0"/>
              <a:t> </a:t>
            </a:r>
            <a:r>
              <a:rPr dirty="0" err="1"/>
              <a:t>SPTrans</a:t>
            </a:r>
            <a:r>
              <a:rPr dirty="0"/>
              <a:t> – </a:t>
            </a:r>
            <a:r>
              <a:rPr dirty="0" err="1"/>
              <a:t>Sambaíba</a:t>
            </a:r>
            <a:r>
              <a:rPr dirty="0"/>
              <a:t> | Base sptrans_uc6.sql | Slide 1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89D141F9-A987-E160-0EB6-41447C50C35F}"/>
              </a:ext>
            </a:extLst>
          </p:cNvPr>
          <p:cNvSpPr txBox="1"/>
          <p:nvPr/>
        </p:nvSpPr>
        <p:spPr>
          <a:xfrm>
            <a:off x="5517805" y="4209127"/>
            <a:ext cx="1156086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rPr lang="pt-BR" dirty="0"/>
              <a:t>UC-6</a:t>
            </a:r>
            <a:endParaRPr dirty="0"/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77EE9B06-1C60-F035-0E2D-104A748FE01E}"/>
              </a:ext>
            </a:extLst>
          </p:cNvPr>
          <p:cNvSpPr txBox="1"/>
          <p:nvPr/>
        </p:nvSpPr>
        <p:spPr>
          <a:xfrm>
            <a:off x="2796373" y="206815"/>
            <a:ext cx="69037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/>
            </a:pPr>
            <a:r>
              <a:rPr lang="pt-BR" sz="4800" dirty="0">
                <a:solidFill>
                  <a:schemeClr val="bg1"/>
                </a:solidFill>
                <a:highlight>
                  <a:srgbClr val="0000FF"/>
                </a:highlight>
              </a:rPr>
              <a:t>SENAC – UNIDADE TITO</a:t>
            </a:r>
            <a:endParaRPr sz="4800" dirty="0">
              <a:solidFill>
                <a:schemeClr val="bg1"/>
              </a:solidFill>
              <a:highlight>
                <a:srgbClr val="0000FF"/>
              </a:highlight>
            </a:endParaRP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FFF00368-9744-9186-6F40-29BE976080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112847" y="2212976"/>
            <a:ext cx="5836100" cy="5836100"/>
          </a:xfrm>
          <a:prstGeom prst="rect">
            <a:avLst/>
          </a:prstGeom>
        </p:spPr>
      </p:pic>
      <p:sp>
        <p:nvSpPr>
          <p:cNvPr id="21" name="TextBox 2">
            <a:extLst>
              <a:ext uri="{FF2B5EF4-FFF2-40B4-BE49-F238E27FC236}">
                <a16:creationId xmlns:a16="http://schemas.microsoft.com/office/drawing/2014/main" id="{F259AE28-C4DC-0424-5B00-72442191AE3E}"/>
              </a:ext>
            </a:extLst>
          </p:cNvPr>
          <p:cNvSpPr txBox="1"/>
          <p:nvPr/>
        </p:nvSpPr>
        <p:spPr>
          <a:xfrm>
            <a:off x="1312345" y="1252658"/>
            <a:ext cx="1037998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/>
            </a:pPr>
            <a:r>
              <a:rPr lang="pt-BR" sz="4800" dirty="0">
                <a:solidFill>
                  <a:schemeClr val="bg1"/>
                </a:solidFill>
                <a:highlight>
                  <a:srgbClr val="0000FF"/>
                </a:highlight>
              </a:rPr>
              <a:t>Docente: Diego Rodrigues Joaquim</a:t>
            </a:r>
            <a:endParaRPr sz="4800" dirty="0">
              <a:solidFill>
                <a:schemeClr val="bg1"/>
              </a:solidFill>
              <a:highlight>
                <a:srgbClr val="0000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55356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B966FA-8E48-2A6F-5745-FF97C65C7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8EB12A-98AA-90EB-212A-814A0588A17C}"/>
              </a:ext>
            </a:extLst>
          </p:cNvPr>
          <p:cNvSpPr txBox="1"/>
          <p:nvPr/>
        </p:nvSpPr>
        <p:spPr>
          <a:xfrm>
            <a:off x="2437008" y="2200025"/>
            <a:ext cx="690374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/>
            </a:pPr>
            <a:r>
              <a:rPr lang="pt-BR" sz="4400" dirty="0"/>
              <a:t>GRUPO COMPOSTO:</a:t>
            </a:r>
            <a:endParaRPr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2D21C0-9673-C6CA-60BA-0ECB0667F7D8}"/>
              </a:ext>
            </a:extLst>
          </p:cNvPr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D87"/>
                </a:solidFill>
              </a:defRPr>
            </a:pPr>
            <a:r>
              <a:rPr dirty="0" err="1"/>
              <a:t>Projeto</a:t>
            </a:r>
            <a:r>
              <a:rPr dirty="0"/>
              <a:t> </a:t>
            </a:r>
            <a:r>
              <a:rPr dirty="0" err="1"/>
              <a:t>SPTrans</a:t>
            </a:r>
            <a:r>
              <a:rPr dirty="0"/>
              <a:t> – </a:t>
            </a:r>
            <a:r>
              <a:rPr dirty="0" err="1"/>
              <a:t>Sambaíba</a:t>
            </a:r>
            <a:r>
              <a:rPr dirty="0"/>
              <a:t> | Base sptrans_uc6.sql | Slide 1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6AB9B685-2764-E016-A5BB-B8074FE67120}"/>
              </a:ext>
            </a:extLst>
          </p:cNvPr>
          <p:cNvSpPr txBox="1"/>
          <p:nvPr/>
        </p:nvSpPr>
        <p:spPr>
          <a:xfrm>
            <a:off x="4797171" y="2962605"/>
            <a:ext cx="2249014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rPr lang="pt-BR" dirty="0"/>
              <a:t>CLAUDINE</a:t>
            </a:r>
            <a:endParaRPr dirty="0"/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32B3AC04-224E-733E-FF68-98A676C22B36}"/>
              </a:ext>
            </a:extLst>
          </p:cNvPr>
          <p:cNvSpPr txBox="1"/>
          <p:nvPr/>
        </p:nvSpPr>
        <p:spPr>
          <a:xfrm>
            <a:off x="2796373" y="479049"/>
            <a:ext cx="69037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/>
            </a:pPr>
            <a:r>
              <a:rPr lang="pt-BR" sz="4800" dirty="0"/>
              <a:t>SENAC – UNIDADE TITO</a:t>
            </a:r>
            <a:endParaRPr sz="4800" dirty="0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CB58102-B9AE-D0F5-9E2C-F1D754010123}"/>
              </a:ext>
            </a:extLst>
          </p:cNvPr>
          <p:cNvSpPr txBox="1"/>
          <p:nvPr/>
        </p:nvSpPr>
        <p:spPr>
          <a:xfrm>
            <a:off x="4797171" y="3723700"/>
            <a:ext cx="1572866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rPr lang="pt-BR" dirty="0"/>
              <a:t>OSCAR</a:t>
            </a:r>
            <a:endParaRPr dirty="0"/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79A35010-10F7-1671-AD6D-A77DC5C69EA0}"/>
              </a:ext>
            </a:extLst>
          </p:cNvPr>
          <p:cNvSpPr txBox="1"/>
          <p:nvPr/>
        </p:nvSpPr>
        <p:spPr>
          <a:xfrm>
            <a:off x="4797171" y="4484795"/>
            <a:ext cx="1692836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rPr lang="pt-BR" dirty="0"/>
              <a:t>HEITOR</a:t>
            </a:r>
            <a:endParaRPr dirty="0"/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9F383278-A6CA-F8DB-500C-E098D4B98D85}"/>
              </a:ext>
            </a:extLst>
          </p:cNvPr>
          <p:cNvSpPr txBox="1"/>
          <p:nvPr/>
        </p:nvSpPr>
        <p:spPr>
          <a:xfrm>
            <a:off x="4764375" y="5267692"/>
            <a:ext cx="2758256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rPr lang="pt-BR" dirty="0"/>
              <a:t>JOÃO PAULO</a:t>
            </a:r>
            <a:endParaRPr dirty="0"/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0641C02-6F07-462A-FEDD-1FAE4A192985}"/>
              </a:ext>
            </a:extLst>
          </p:cNvPr>
          <p:cNvSpPr txBox="1"/>
          <p:nvPr/>
        </p:nvSpPr>
        <p:spPr>
          <a:xfrm>
            <a:off x="2437008" y="1436973"/>
            <a:ext cx="690374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/>
            </a:pPr>
            <a:r>
              <a:rPr lang="pt-BR" sz="4400" dirty="0">
                <a:highlight>
                  <a:srgbClr val="FFFF00"/>
                </a:highlight>
              </a:rPr>
              <a:t>UC 6</a:t>
            </a:r>
            <a:endParaRPr sz="4400" dirty="0">
              <a:highlight>
                <a:srgbClr val="FFFF00"/>
              </a:highlight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5AED5CDE-69C9-081B-11D4-10DD1BACA0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645422" y="0"/>
            <a:ext cx="1484212" cy="148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788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72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43972" y="622092"/>
            <a:ext cx="6903749" cy="12926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rPr dirty="0"/>
              <a:t>ANÁLISE OPERACIONAL SPTRANS</a:t>
            </a:r>
          </a:p>
          <a:p>
            <a:pPr algn="ctr">
              <a:defRPr sz="2400"/>
            </a:pPr>
            <a:r>
              <a:rPr sz="2000" dirty="0" err="1"/>
              <a:t>Sambaíba</a:t>
            </a:r>
            <a:r>
              <a:rPr sz="2000" dirty="0"/>
              <a:t> – Zona Norte | Queries SQL e </a:t>
            </a:r>
            <a:r>
              <a:rPr sz="2000" dirty="0" err="1"/>
              <a:t>respostas</a:t>
            </a:r>
            <a:endParaRPr sz="2000" dirty="0"/>
          </a:p>
          <a:p>
            <a:pPr algn="ctr">
              <a:defRPr sz="1500"/>
            </a:pPr>
            <a:r>
              <a:rPr sz="2000" dirty="0"/>
              <a:t>Base: sptrans_uc6.sql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D87"/>
                </a:solidFill>
              </a:defRPr>
            </a:pPr>
            <a:r>
              <a:t>Projeto SPTrans – Sambaíba | Base sptrans_uc6.sql | Slide 1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710FC510-9125-6C4A-B82C-555AEC0DD883}"/>
              </a:ext>
            </a:extLst>
          </p:cNvPr>
          <p:cNvSpPr txBox="1"/>
          <p:nvPr/>
        </p:nvSpPr>
        <p:spPr>
          <a:xfrm>
            <a:off x="3982947" y="2502463"/>
            <a:ext cx="340413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1. </a:t>
            </a:r>
            <a:r>
              <a:rPr dirty="0" err="1"/>
              <a:t>Objetivo</a:t>
            </a:r>
            <a:r>
              <a:rPr dirty="0"/>
              <a:t> da </a:t>
            </a:r>
            <a:r>
              <a:rPr dirty="0" err="1"/>
              <a:t>análise</a:t>
            </a:r>
            <a:endParaRPr dirty="0"/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33CFF970-23EC-9B60-27E5-D85449AE63D5}"/>
              </a:ext>
            </a:extLst>
          </p:cNvPr>
          <p:cNvSpPr txBox="1"/>
          <p:nvPr/>
        </p:nvSpPr>
        <p:spPr>
          <a:xfrm>
            <a:off x="2643972" y="3658606"/>
            <a:ext cx="7422268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rPr sz="2000" dirty="0" err="1"/>
              <a:t>Avaliar</a:t>
            </a:r>
            <a:r>
              <a:rPr sz="2000" dirty="0"/>
              <a:t> </a:t>
            </a:r>
            <a:r>
              <a:rPr sz="2000" dirty="0" err="1"/>
              <a:t>viagens</a:t>
            </a:r>
            <a:r>
              <a:rPr sz="2000" dirty="0"/>
              <a:t>, </a:t>
            </a:r>
            <a:r>
              <a:rPr sz="2000" dirty="0" err="1"/>
              <a:t>atrasos</a:t>
            </a:r>
            <a:r>
              <a:rPr sz="2000" dirty="0"/>
              <a:t> e </a:t>
            </a:r>
            <a:r>
              <a:rPr sz="2000" dirty="0" err="1"/>
              <a:t>pontualidade</a:t>
            </a:r>
            <a:r>
              <a:rPr sz="2000" dirty="0"/>
              <a:t> da </a:t>
            </a:r>
            <a:r>
              <a:rPr sz="2000" dirty="0" err="1"/>
              <a:t>operação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900"/>
            </a:pPr>
            <a:r>
              <a:rPr sz="2000" dirty="0" err="1"/>
              <a:t>Identificar</a:t>
            </a:r>
            <a:r>
              <a:rPr sz="2000" dirty="0"/>
              <a:t> </a:t>
            </a:r>
            <a:r>
              <a:rPr sz="2000" dirty="0" err="1"/>
              <a:t>horários</a:t>
            </a:r>
            <a:r>
              <a:rPr sz="2000" dirty="0"/>
              <a:t>, </a:t>
            </a:r>
            <a:r>
              <a:rPr sz="2000" dirty="0" err="1"/>
              <a:t>sentidos</a:t>
            </a:r>
            <a:r>
              <a:rPr sz="2000" dirty="0"/>
              <a:t>, </a:t>
            </a:r>
            <a:r>
              <a:rPr sz="2000" dirty="0" err="1"/>
              <a:t>linhas</a:t>
            </a:r>
            <a:r>
              <a:rPr sz="2000" dirty="0"/>
              <a:t> e </a:t>
            </a:r>
            <a:r>
              <a:rPr sz="2000" dirty="0" err="1"/>
              <a:t>veículos</a:t>
            </a:r>
            <a:r>
              <a:rPr sz="2000" dirty="0"/>
              <a:t> com </a:t>
            </a:r>
            <a:r>
              <a:rPr sz="2000" dirty="0" err="1"/>
              <a:t>pior</a:t>
            </a:r>
            <a:r>
              <a:rPr sz="2000" dirty="0"/>
              <a:t> </a:t>
            </a:r>
            <a:r>
              <a:rPr sz="2000" dirty="0" err="1"/>
              <a:t>desempenho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900"/>
            </a:pPr>
            <a:r>
              <a:rPr sz="2000" dirty="0" err="1"/>
              <a:t>Relacionar</a:t>
            </a:r>
            <a:r>
              <a:rPr sz="2000" dirty="0"/>
              <a:t> </a:t>
            </a:r>
            <a:r>
              <a:rPr sz="2000" dirty="0" err="1"/>
              <a:t>os</a:t>
            </a:r>
            <a:r>
              <a:rPr sz="2000" dirty="0"/>
              <a:t> </a:t>
            </a:r>
            <a:r>
              <a:rPr sz="2000" dirty="0" err="1"/>
              <a:t>resultados</a:t>
            </a:r>
            <a:r>
              <a:rPr sz="2000" dirty="0"/>
              <a:t> à </a:t>
            </a:r>
            <a:r>
              <a:rPr sz="2000" dirty="0" err="1"/>
              <a:t>estrutura</a:t>
            </a:r>
            <a:r>
              <a:rPr sz="2000" dirty="0"/>
              <a:t> de </a:t>
            </a:r>
            <a:r>
              <a:rPr sz="2000" dirty="0" err="1"/>
              <a:t>linhas</a:t>
            </a:r>
            <a:r>
              <a:rPr sz="2000" dirty="0"/>
              <a:t> e </a:t>
            </a:r>
            <a:r>
              <a:rPr sz="2000" dirty="0" err="1"/>
              <a:t>frota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900"/>
            </a:pPr>
            <a:r>
              <a:rPr sz="2000" dirty="0" err="1"/>
              <a:t>Apresentar</a:t>
            </a:r>
            <a:r>
              <a:rPr sz="2000" dirty="0"/>
              <a:t> </a:t>
            </a:r>
            <a:r>
              <a:rPr sz="2000" dirty="0" err="1"/>
              <a:t>cada</a:t>
            </a:r>
            <a:r>
              <a:rPr sz="2000" dirty="0"/>
              <a:t> query com </a:t>
            </a:r>
            <a:r>
              <a:rPr sz="2000" dirty="0" err="1"/>
              <a:t>sua</a:t>
            </a:r>
            <a:r>
              <a:rPr sz="2000" dirty="0"/>
              <a:t> </a:t>
            </a:r>
            <a:r>
              <a:rPr sz="2000" dirty="0" err="1"/>
              <a:t>finalidade</a:t>
            </a:r>
            <a:r>
              <a:rPr sz="2000" dirty="0"/>
              <a:t> </a:t>
            </a:r>
            <a:r>
              <a:rPr dirty="0"/>
              <a:t>e principal </a:t>
            </a:r>
            <a:r>
              <a:rPr dirty="0" err="1"/>
              <a:t>resposta</a:t>
            </a:r>
            <a:r>
              <a:rPr dirty="0"/>
              <a:t>.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F886007C-C1E7-2902-9E02-FF985D1DBA3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101403" y="1648918"/>
            <a:ext cx="1608944" cy="148421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7459590-07ED-D03E-ECFE-610BB7F6CE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645422" y="0"/>
            <a:ext cx="1484212" cy="14842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6000">
              <a:schemeClr val="accent3">
                <a:lumMod val="5000"/>
                <a:lumOff val="95000"/>
              </a:schemeClr>
            </a:gs>
            <a:gs pos="53000">
              <a:schemeClr val="accent3">
                <a:lumMod val="45000"/>
                <a:lumOff val="55000"/>
              </a:schemeClr>
            </a:gs>
            <a:gs pos="10000">
              <a:schemeClr val="accent3">
                <a:lumMod val="45000"/>
                <a:lumOff val="55000"/>
              </a:schemeClr>
            </a:gs>
            <a:gs pos="76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73760" y="713613"/>
            <a:ext cx="340413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1. </a:t>
            </a:r>
            <a:r>
              <a:rPr dirty="0" err="1"/>
              <a:t>Objetivo</a:t>
            </a:r>
            <a:r>
              <a:rPr dirty="0"/>
              <a:t> da </a:t>
            </a:r>
            <a:r>
              <a:rPr dirty="0" err="1"/>
              <a:t>análise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2720650" y="2265239"/>
            <a:ext cx="7422268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rPr sz="2000" dirty="0" err="1"/>
              <a:t>Avaliar</a:t>
            </a:r>
            <a:r>
              <a:rPr sz="2000" dirty="0"/>
              <a:t> </a:t>
            </a:r>
            <a:r>
              <a:rPr sz="2000" dirty="0" err="1"/>
              <a:t>viagens</a:t>
            </a:r>
            <a:r>
              <a:rPr sz="2000" dirty="0"/>
              <a:t>, </a:t>
            </a:r>
            <a:r>
              <a:rPr sz="2000" dirty="0" err="1"/>
              <a:t>atrasos</a:t>
            </a:r>
            <a:r>
              <a:rPr sz="2000" dirty="0"/>
              <a:t> e </a:t>
            </a:r>
            <a:r>
              <a:rPr sz="2000" dirty="0" err="1"/>
              <a:t>pontualidade</a:t>
            </a:r>
            <a:r>
              <a:rPr sz="2000" dirty="0"/>
              <a:t> da </a:t>
            </a:r>
            <a:r>
              <a:rPr sz="2000" dirty="0" err="1"/>
              <a:t>operação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900"/>
            </a:pPr>
            <a:r>
              <a:rPr sz="2000" dirty="0" err="1"/>
              <a:t>Identificar</a:t>
            </a:r>
            <a:r>
              <a:rPr sz="2000" dirty="0"/>
              <a:t> </a:t>
            </a:r>
            <a:r>
              <a:rPr sz="2000" dirty="0" err="1"/>
              <a:t>horários</a:t>
            </a:r>
            <a:r>
              <a:rPr sz="2000" dirty="0"/>
              <a:t>, </a:t>
            </a:r>
            <a:r>
              <a:rPr sz="2000" dirty="0" err="1"/>
              <a:t>sentidos</a:t>
            </a:r>
            <a:r>
              <a:rPr sz="2000" dirty="0"/>
              <a:t>, </a:t>
            </a:r>
            <a:r>
              <a:rPr sz="2000" dirty="0" err="1"/>
              <a:t>linhas</a:t>
            </a:r>
            <a:r>
              <a:rPr sz="2000" dirty="0"/>
              <a:t> e </a:t>
            </a:r>
            <a:r>
              <a:rPr sz="2000" dirty="0" err="1"/>
              <a:t>veículos</a:t>
            </a:r>
            <a:r>
              <a:rPr sz="2000" dirty="0"/>
              <a:t> com </a:t>
            </a:r>
            <a:r>
              <a:rPr sz="2000" dirty="0" err="1"/>
              <a:t>pior</a:t>
            </a:r>
            <a:r>
              <a:rPr sz="2000" dirty="0"/>
              <a:t> </a:t>
            </a:r>
            <a:r>
              <a:rPr sz="2000" dirty="0" err="1"/>
              <a:t>desempenho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900"/>
            </a:pPr>
            <a:r>
              <a:rPr sz="2000" dirty="0" err="1"/>
              <a:t>Relacionar</a:t>
            </a:r>
            <a:r>
              <a:rPr sz="2000" dirty="0"/>
              <a:t> </a:t>
            </a:r>
            <a:r>
              <a:rPr sz="2000" dirty="0" err="1"/>
              <a:t>os</a:t>
            </a:r>
            <a:r>
              <a:rPr sz="2000" dirty="0"/>
              <a:t> </a:t>
            </a:r>
            <a:r>
              <a:rPr sz="2000" dirty="0" err="1"/>
              <a:t>resultados</a:t>
            </a:r>
            <a:r>
              <a:rPr sz="2000" dirty="0"/>
              <a:t> à </a:t>
            </a:r>
            <a:r>
              <a:rPr sz="2000" dirty="0" err="1"/>
              <a:t>estrutura</a:t>
            </a:r>
            <a:r>
              <a:rPr sz="2000" dirty="0"/>
              <a:t> de </a:t>
            </a:r>
            <a:r>
              <a:rPr sz="2000" dirty="0" err="1"/>
              <a:t>linhas</a:t>
            </a:r>
            <a:r>
              <a:rPr sz="2000" dirty="0"/>
              <a:t> e </a:t>
            </a:r>
            <a:r>
              <a:rPr sz="2000" dirty="0" err="1"/>
              <a:t>frota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900"/>
            </a:pPr>
            <a:r>
              <a:rPr sz="2000" dirty="0" err="1"/>
              <a:t>Apresentar</a:t>
            </a:r>
            <a:r>
              <a:rPr sz="2000" dirty="0"/>
              <a:t> </a:t>
            </a:r>
            <a:r>
              <a:rPr sz="2000" dirty="0" err="1"/>
              <a:t>cada</a:t>
            </a:r>
            <a:r>
              <a:rPr sz="2000" dirty="0"/>
              <a:t> query com </a:t>
            </a:r>
            <a:r>
              <a:rPr sz="2000" dirty="0" err="1"/>
              <a:t>sua</a:t>
            </a:r>
            <a:r>
              <a:rPr sz="2000" dirty="0"/>
              <a:t> </a:t>
            </a:r>
            <a:r>
              <a:rPr sz="2000" dirty="0" err="1"/>
              <a:t>finalidade</a:t>
            </a:r>
            <a:r>
              <a:rPr sz="2000" dirty="0"/>
              <a:t> </a:t>
            </a:r>
            <a:r>
              <a:rPr dirty="0"/>
              <a:t>e principal </a:t>
            </a:r>
            <a:r>
              <a:rPr dirty="0" err="1"/>
              <a:t>resposta</a:t>
            </a:r>
            <a:r>
              <a:rPr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D87"/>
                </a:solidFill>
              </a:defRPr>
            </a:pPr>
            <a:r>
              <a:t>Projeto SPTrans – Sambaíba | Base sptrans_uc6.sql | Slide 2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9C641334-A6D4-D6FB-B5F9-94E2D21016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645422" y="0"/>
            <a:ext cx="1484212" cy="14842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A6E95CC-7602-9743-AD8B-C263D928694A}"/>
              </a:ext>
            </a:extLst>
          </p:cNvPr>
          <p:cNvSpPr txBox="1"/>
          <p:nvPr/>
        </p:nvSpPr>
        <p:spPr>
          <a:xfrm>
            <a:off x="2141718" y="697096"/>
            <a:ext cx="7908561" cy="105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algn="ctr">
              <a:lnSpc>
                <a:spcPct val="100000"/>
              </a:lnSpc>
              <a:spcAft>
                <a:spcPts val="800"/>
              </a:spcAft>
              <a:buNone/>
            </a:pPr>
            <a:r>
              <a:rPr lang="pt-BR" sz="2800" b="1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Modelagem do banco de dados – Diagrama MER </a:t>
            </a:r>
            <a:endParaRPr lang="pt-BR" sz="28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0000"/>
              </a:lnSpc>
              <a:spcAft>
                <a:spcPts val="800"/>
              </a:spcAft>
              <a:buNone/>
            </a:pPr>
            <a:r>
              <a:rPr lang="pt-BR" sz="28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7F368B1-48AC-55EE-379C-C9E808BA8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389" y="697096"/>
            <a:ext cx="10822899" cy="6087881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EB52EBD8-4C94-4F28-6D87-49165F5903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45422" y="0"/>
            <a:ext cx="1484212" cy="148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869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500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80143" y="201835"/>
            <a:ext cx="520123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sz="3200" dirty="0"/>
              <a:t>2. </a:t>
            </a:r>
            <a:r>
              <a:rPr sz="3200" dirty="0" err="1"/>
              <a:t>Estrutura</a:t>
            </a:r>
            <a:r>
              <a:rPr sz="3200" dirty="0"/>
              <a:t> da base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7815" y="932688"/>
            <a:ext cx="679102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5F69"/>
                </a:solidFill>
              </a:defRPr>
            </a:pPr>
            <a:r>
              <a:rPr sz="2000" dirty="0"/>
              <a:t>O </a:t>
            </a:r>
            <a:r>
              <a:rPr sz="2000" dirty="0" err="1"/>
              <a:t>arquivo</a:t>
            </a:r>
            <a:r>
              <a:rPr sz="2000" dirty="0"/>
              <a:t> </a:t>
            </a:r>
            <a:r>
              <a:rPr sz="2000" dirty="0" err="1"/>
              <a:t>cria</a:t>
            </a:r>
            <a:r>
              <a:rPr sz="2000" dirty="0"/>
              <a:t> </a:t>
            </a:r>
            <a:r>
              <a:rPr sz="2000" dirty="0" err="1"/>
              <a:t>três</a:t>
            </a:r>
            <a:r>
              <a:rPr sz="2000" dirty="0"/>
              <a:t> </a:t>
            </a:r>
            <a:r>
              <a:rPr sz="2000" dirty="0" err="1"/>
              <a:t>tabelas</a:t>
            </a:r>
            <a:r>
              <a:rPr sz="2000" dirty="0"/>
              <a:t> </a:t>
            </a:r>
            <a:r>
              <a:rPr sz="2000" dirty="0" err="1"/>
              <a:t>relacionadas</a:t>
            </a:r>
            <a:r>
              <a:rPr sz="2000" dirty="0"/>
              <a:t> </a:t>
            </a:r>
            <a:r>
              <a:rPr sz="2000" dirty="0" err="1"/>
              <a:t>por</a:t>
            </a:r>
            <a:r>
              <a:rPr sz="2000" dirty="0"/>
              <a:t> </a:t>
            </a:r>
            <a:r>
              <a:rPr sz="2000" dirty="0" err="1"/>
              <a:t>chaves</a:t>
            </a:r>
            <a:r>
              <a:rPr sz="2000" dirty="0"/>
              <a:t> </a:t>
            </a:r>
            <a:r>
              <a:rPr sz="2000" dirty="0" err="1"/>
              <a:t>estrangeiras</a:t>
            </a:r>
            <a:endParaRPr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2098304"/>
            <a:ext cx="640080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rPr sz="2000" dirty="0"/>
              <a:t>LINHA: </a:t>
            </a:r>
            <a:r>
              <a:rPr sz="2000" dirty="0" err="1"/>
              <a:t>número</a:t>
            </a:r>
            <a:r>
              <a:rPr sz="2000" dirty="0"/>
              <a:t>, </a:t>
            </a:r>
            <a:r>
              <a:rPr sz="2000" dirty="0" err="1"/>
              <a:t>nome</a:t>
            </a:r>
            <a:r>
              <a:rPr sz="2000" dirty="0"/>
              <a:t>, </a:t>
            </a:r>
            <a:r>
              <a:rPr sz="2000" dirty="0" err="1"/>
              <a:t>origem</a:t>
            </a:r>
            <a:r>
              <a:rPr sz="2000" dirty="0"/>
              <a:t>, </a:t>
            </a:r>
            <a:r>
              <a:rPr sz="2000" dirty="0" err="1"/>
              <a:t>destino</a:t>
            </a:r>
            <a:r>
              <a:rPr sz="2000" dirty="0"/>
              <a:t> e </a:t>
            </a:r>
            <a:r>
              <a:rPr sz="2000" dirty="0" err="1"/>
              <a:t>quantidade</a:t>
            </a:r>
            <a:r>
              <a:rPr sz="2000" dirty="0"/>
              <a:t> de </a:t>
            </a:r>
            <a:r>
              <a:rPr sz="2000" dirty="0" err="1"/>
              <a:t>frota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700"/>
            </a:pPr>
            <a:r>
              <a:rPr sz="2000" dirty="0"/>
              <a:t>VEICULO: </a:t>
            </a:r>
            <a:r>
              <a:rPr sz="2000" dirty="0" err="1"/>
              <a:t>prefixo</a:t>
            </a:r>
            <a:r>
              <a:rPr sz="2000" dirty="0"/>
              <a:t>, </a:t>
            </a:r>
            <a:r>
              <a:rPr sz="2000" dirty="0" err="1"/>
              <a:t>fabricante</a:t>
            </a:r>
            <a:r>
              <a:rPr sz="2000" dirty="0"/>
              <a:t>, </a:t>
            </a:r>
            <a:r>
              <a:rPr sz="2000" dirty="0" err="1"/>
              <a:t>modelo</a:t>
            </a:r>
            <a:r>
              <a:rPr sz="2000" dirty="0"/>
              <a:t>, </a:t>
            </a:r>
            <a:r>
              <a:rPr sz="2000" dirty="0" err="1"/>
              <a:t>tipo</a:t>
            </a:r>
            <a:r>
              <a:rPr sz="2000" dirty="0"/>
              <a:t> e </a:t>
            </a:r>
            <a:r>
              <a:rPr sz="2000" dirty="0" err="1"/>
              <a:t>capacidade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700"/>
            </a:pPr>
            <a:r>
              <a:rPr sz="2000" dirty="0"/>
              <a:t>OPERACAO: </a:t>
            </a:r>
            <a:r>
              <a:rPr sz="2000" dirty="0" err="1"/>
              <a:t>linha</a:t>
            </a:r>
            <a:r>
              <a:rPr sz="2000" dirty="0"/>
              <a:t>, </a:t>
            </a:r>
            <a:r>
              <a:rPr sz="2000" dirty="0" err="1"/>
              <a:t>veículo</a:t>
            </a:r>
            <a:r>
              <a:rPr sz="2000" dirty="0"/>
              <a:t>, data, </a:t>
            </a:r>
            <a:r>
              <a:rPr sz="2000" dirty="0" err="1"/>
              <a:t>horário</a:t>
            </a:r>
            <a:r>
              <a:rPr sz="2000" dirty="0"/>
              <a:t> </a:t>
            </a:r>
            <a:r>
              <a:rPr sz="2000" dirty="0" err="1"/>
              <a:t>programado</a:t>
            </a:r>
            <a:r>
              <a:rPr sz="2000" dirty="0"/>
              <a:t>, </a:t>
            </a:r>
            <a:r>
              <a:rPr sz="2000" dirty="0" err="1"/>
              <a:t>horário</a:t>
            </a:r>
            <a:r>
              <a:rPr sz="2000" dirty="0"/>
              <a:t> real e </a:t>
            </a:r>
            <a:r>
              <a:rPr sz="2000" dirty="0" err="1"/>
              <a:t>sentido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700"/>
            </a:pPr>
            <a:r>
              <a:rPr sz="2000" dirty="0" err="1"/>
              <a:t>Relacionamentos</a:t>
            </a:r>
            <a:r>
              <a:rPr sz="2000" dirty="0"/>
              <a:t>: </a:t>
            </a:r>
            <a:r>
              <a:rPr sz="2000" dirty="0" err="1"/>
              <a:t>operação</a:t>
            </a:r>
            <a:r>
              <a:rPr sz="2000" dirty="0"/>
              <a:t> → </a:t>
            </a:r>
            <a:r>
              <a:rPr sz="2000" dirty="0" err="1"/>
              <a:t>linha</a:t>
            </a:r>
            <a:r>
              <a:rPr sz="2000" dirty="0"/>
              <a:t> e </a:t>
            </a:r>
            <a:r>
              <a:rPr sz="2000" dirty="0" err="1"/>
              <a:t>operação</a:t>
            </a:r>
            <a:r>
              <a:rPr sz="2000" dirty="0"/>
              <a:t> → </a:t>
            </a:r>
            <a:r>
              <a:rPr sz="2000" dirty="0" err="1"/>
              <a:t>veículo</a:t>
            </a:r>
            <a:r>
              <a:rPr sz="2000"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417320"/>
            <a:ext cx="4572000" cy="4206240"/>
          </a:xfrm>
          <a:prstGeom prst="roundRect">
            <a:avLst/>
          </a:prstGeom>
          <a:solidFill>
            <a:srgbClr val="20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68579" y="1928218"/>
            <a:ext cx="393372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EBEEF2"/>
                </a:solidFill>
                <a:latin typeface="Consolas"/>
              </a:defRPr>
            </a:pPr>
            <a:r>
              <a:rPr sz="2000" dirty="0"/>
              <a:t>CREATE TABLE </a:t>
            </a:r>
            <a:r>
              <a:rPr sz="2000" dirty="0" err="1"/>
              <a:t>operacao</a:t>
            </a:r>
            <a:r>
              <a:rPr sz="2000" dirty="0"/>
              <a:t> (</a:t>
            </a:r>
            <a:br>
              <a:rPr sz="2000" dirty="0"/>
            </a:br>
            <a:r>
              <a:rPr sz="2000" dirty="0"/>
              <a:t>  </a:t>
            </a:r>
            <a:r>
              <a:rPr sz="2000" dirty="0" err="1"/>
              <a:t>id_operacao</a:t>
            </a:r>
            <a:r>
              <a:rPr sz="2000" dirty="0"/>
              <a:t> INT PRIMARY KEY,</a:t>
            </a:r>
            <a:br>
              <a:rPr sz="2000" dirty="0"/>
            </a:br>
            <a:r>
              <a:rPr sz="2000" dirty="0"/>
              <a:t>  </a:t>
            </a:r>
            <a:r>
              <a:rPr sz="2000" dirty="0" err="1"/>
              <a:t>id_linha</a:t>
            </a:r>
            <a:r>
              <a:rPr sz="2000" dirty="0"/>
              <a:t> INT NOT NULL,</a:t>
            </a:r>
            <a:br>
              <a:rPr sz="2000" dirty="0"/>
            </a:br>
            <a:r>
              <a:rPr sz="2000" dirty="0"/>
              <a:t>  </a:t>
            </a:r>
            <a:r>
              <a:rPr sz="2000" dirty="0" err="1"/>
              <a:t>id_veiculo</a:t>
            </a:r>
            <a:r>
              <a:rPr sz="2000" dirty="0"/>
              <a:t> INT NOT NULL,</a:t>
            </a:r>
            <a:br>
              <a:rPr sz="2000" dirty="0"/>
            </a:br>
            <a:r>
              <a:rPr sz="2000" dirty="0"/>
              <a:t>  </a:t>
            </a:r>
            <a:r>
              <a:rPr sz="2000" dirty="0" err="1"/>
              <a:t>data_operacao</a:t>
            </a:r>
            <a:r>
              <a:rPr sz="2000" dirty="0"/>
              <a:t> DATE,</a:t>
            </a:r>
            <a:br>
              <a:rPr sz="2000" dirty="0"/>
            </a:br>
            <a:r>
              <a:rPr sz="2000" dirty="0"/>
              <a:t>  </a:t>
            </a:r>
            <a:r>
              <a:rPr sz="2000" dirty="0" err="1"/>
              <a:t>horario_programado</a:t>
            </a:r>
            <a:r>
              <a:rPr sz="2000" dirty="0"/>
              <a:t> TIME,</a:t>
            </a:r>
            <a:br>
              <a:rPr sz="2000" dirty="0"/>
            </a:br>
            <a:r>
              <a:rPr sz="2000" dirty="0"/>
              <a:t>  </a:t>
            </a:r>
            <a:r>
              <a:rPr sz="2000" dirty="0" err="1"/>
              <a:t>horario_real</a:t>
            </a:r>
            <a:r>
              <a:rPr sz="2000" dirty="0"/>
              <a:t> TIME,</a:t>
            </a:r>
            <a:br>
              <a:rPr sz="2000" dirty="0"/>
            </a:br>
            <a:r>
              <a:rPr sz="2000" dirty="0"/>
              <a:t>  </a:t>
            </a:r>
            <a:r>
              <a:rPr sz="2000" dirty="0" err="1"/>
              <a:t>sentido</a:t>
            </a:r>
            <a:r>
              <a:rPr sz="2000" dirty="0"/>
              <a:t> ENUM('</a:t>
            </a:r>
            <a:r>
              <a:rPr sz="2000" dirty="0" err="1"/>
              <a:t>ida</a:t>
            </a:r>
            <a:r>
              <a:rPr sz="2000" dirty="0"/>
              <a:t>','volta')</a:t>
            </a:r>
            <a:br>
              <a:rPr sz="2000" dirty="0"/>
            </a:br>
            <a:r>
              <a:rPr sz="2000" dirty="0"/>
              <a:t>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D87"/>
                </a:solidFill>
              </a:defRPr>
            </a:pPr>
            <a:r>
              <a:t>Projeto SPTrans – Sambaíba | Base sptrans_uc6.sql | Slide 3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30F4ED5-8323-7D3A-AD34-9E09A3362A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645422" y="0"/>
            <a:ext cx="1484212" cy="14842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38000">
              <a:schemeClr val="accent3">
                <a:lumMod val="5000"/>
                <a:lumOff val="9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44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321560" y="320040"/>
            <a:ext cx="351839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3. </a:t>
            </a:r>
            <a:r>
              <a:rPr sz="3200" dirty="0" err="1"/>
              <a:t>Visão</a:t>
            </a:r>
            <a:r>
              <a:rPr dirty="0"/>
              <a:t> </a:t>
            </a:r>
            <a:r>
              <a:rPr dirty="0" err="1"/>
              <a:t>geral</a:t>
            </a:r>
            <a:r>
              <a:rPr dirty="0"/>
              <a:t> da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88253" y="932688"/>
            <a:ext cx="593015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5F69"/>
                </a:solidFill>
              </a:defRPr>
            </a:pPr>
            <a:r>
              <a:rPr sz="2000" dirty="0" err="1"/>
              <a:t>Contagens</a:t>
            </a:r>
            <a:r>
              <a:rPr sz="2000" dirty="0"/>
              <a:t> </a:t>
            </a:r>
            <a:r>
              <a:rPr sz="2000" dirty="0" err="1"/>
              <a:t>obtidas</a:t>
            </a:r>
            <a:r>
              <a:rPr sz="2000" dirty="0"/>
              <a:t> </a:t>
            </a:r>
            <a:r>
              <a:rPr sz="2000" dirty="0" err="1"/>
              <a:t>diretamente</a:t>
            </a:r>
            <a:r>
              <a:rPr sz="2000" dirty="0"/>
              <a:t> dos INSERTs do </a:t>
            </a:r>
            <a:r>
              <a:rPr sz="2000" dirty="0" err="1"/>
              <a:t>arquivo</a:t>
            </a:r>
            <a:endParaRPr sz="2000" dirty="0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240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73529" y="1596968"/>
            <a:ext cx="60144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/>
            </a:pPr>
            <a:r>
              <a:rPr sz="3200" dirty="0"/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5746" y="2075471"/>
            <a:ext cx="79701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F69"/>
                </a:solidFill>
              </a:defRPr>
            </a:pPr>
            <a:r>
              <a:rPr sz="2000" dirty="0" err="1"/>
              <a:t>linhas</a:t>
            </a:r>
            <a:endParaRPr sz="2000" dirty="0"/>
          </a:p>
        </p:txBody>
      </p:sp>
      <p:sp>
        <p:nvSpPr>
          <p:cNvPr id="8" name="Rounded Rectangle 7"/>
          <p:cNvSpPr/>
          <p:nvPr/>
        </p:nvSpPr>
        <p:spPr>
          <a:xfrm>
            <a:off x="3063240" y="1417320"/>
            <a:ext cx="2240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78461" y="1545115"/>
            <a:ext cx="80983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/>
            </a:pPr>
            <a:r>
              <a:rPr sz="3200" dirty="0"/>
              <a:t>217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8068" y="2021275"/>
            <a:ext cx="102374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F69"/>
                </a:solidFill>
              </a:defRPr>
            </a:pPr>
            <a:r>
              <a:rPr sz="2000" dirty="0" err="1"/>
              <a:t>veículos</a:t>
            </a:r>
            <a:endParaRPr sz="2000" dirty="0"/>
          </a:p>
        </p:txBody>
      </p:sp>
      <p:sp>
        <p:nvSpPr>
          <p:cNvPr id="11" name="Rounded Rectangle 10"/>
          <p:cNvSpPr/>
          <p:nvPr/>
        </p:nvSpPr>
        <p:spPr>
          <a:xfrm>
            <a:off x="5486400" y="1417320"/>
            <a:ext cx="2240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41036" y="1527048"/>
            <a:ext cx="101822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/>
            </a:pPr>
            <a:r>
              <a:rPr sz="3200" dirty="0"/>
              <a:t>1950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1933" y="2049375"/>
            <a:ext cx="216835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F69"/>
                </a:solidFill>
              </a:defRPr>
            </a:pPr>
            <a:r>
              <a:rPr sz="2000" dirty="0" err="1"/>
              <a:t>viagens</a:t>
            </a:r>
            <a:r>
              <a:rPr sz="2000" dirty="0"/>
              <a:t> </a:t>
            </a:r>
            <a:r>
              <a:rPr sz="2000" dirty="0" err="1"/>
              <a:t>registradas</a:t>
            </a:r>
            <a:endParaRPr sz="2000" dirty="0"/>
          </a:p>
        </p:txBody>
      </p:sp>
      <p:sp>
        <p:nvSpPr>
          <p:cNvPr id="14" name="Rounded Rectangle 13"/>
          <p:cNvSpPr/>
          <p:nvPr/>
        </p:nvSpPr>
        <p:spPr>
          <a:xfrm>
            <a:off x="7909560" y="1417320"/>
            <a:ext cx="3642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467" y="1506757"/>
            <a:ext cx="101822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/>
            </a:pPr>
            <a:r>
              <a:rPr sz="3200" dirty="0"/>
              <a:t>1936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9071" y="2049375"/>
            <a:ext cx="344902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A5F69"/>
                </a:solidFill>
              </a:defRPr>
            </a:pPr>
            <a:r>
              <a:rPr sz="2000" dirty="0" err="1"/>
              <a:t>viagens</a:t>
            </a:r>
            <a:r>
              <a:rPr sz="2000" dirty="0"/>
              <a:t> com real &gt; </a:t>
            </a:r>
            <a:r>
              <a:rPr sz="2000" dirty="0" err="1"/>
              <a:t>programado</a:t>
            </a:r>
            <a:endParaRPr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731520" y="2880360"/>
            <a:ext cx="1042416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600"/>
            </a:pPr>
            <a:r>
              <a:rPr sz="2000" dirty="0"/>
              <a:t>O SQL </a:t>
            </a:r>
            <a:r>
              <a:rPr sz="2000" dirty="0" err="1"/>
              <a:t>contém</a:t>
            </a:r>
            <a:r>
              <a:rPr sz="2000" dirty="0"/>
              <a:t> 30 </a:t>
            </a:r>
            <a:r>
              <a:rPr sz="2000" dirty="0" err="1"/>
              <a:t>linhas</a:t>
            </a:r>
            <a:r>
              <a:rPr sz="2000" dirty="0"/>
              <a:t> </a:t>
            </a:r>
            <a:r>
              <a:rPr sz="2000" dirty="0" err="1"/>
              <a:t>cadastradas</a:t>
            </a:r>
            <a:r>
              <a:rPr sz="2000" dirty="0"/>
              <a:t> e 217 </a:t>
            </a:r>
            <a:r>
              <a:rPr sz="2000" dirty="0" err="1"/>
              <a:t>veículos</a:t>
            </a:r>
            <a:r>
              <a:rPr sz="2000" dirty="0"/>
              <a:t>.</a:t>
            </a:r>
          </a:p>
          <a:p>
            <a:pPr algn="ctr">
              <a:spcAft>
                <a:spcPts val="1000"/>
              </a:spcAft>
              <a:defRPr sz="1600"/>
            </a:pPr>
            <a:r>
              <a:rPr sz="2000" dirty="0"/>
              <a:t>Ao </a:t>
            </a:r>
            <a:r>
              <a:rPr sz="2000" dirty="0" err="1"/>
              <a:t>contar</a:t>
            </a:r>
            <a:r>
              <a:rPr sz="2000" dirty="0"/>
              <a:t> as </a:t>
            </a:r>
            <a:r>
              <a:rPr sz="2000" dirty="0" err="1"/>
              <a:t>tuplas</a:t>
            </a:r>
            <a:r>
              <a:rPr sz="2000" dirty="0"/>
              <a:t> de INSERT </a:t>
            </a:r>
            <a:r>
              <a:rPr sz="2000" dirty="0" err="1"/>
              <a:t>em</a:t>
            </a:r>
            <a:r>
              <a:rPr sz="2000" dirty="0"/>
              <a:t> </a:t>
            </a:r>
            <a:r>
              <a:rPr sz="2000" dirty="0" err="1"/>
              <a:t>operacao</a:t>
            </a:r>
            <a:r>
              <a:rPr sz="2000" dirty="0"/>
              <a:t>, </a:t>
            </a:r>
            <a:r>
              <a:rPr sz="2000" dirty="0" err="1"/>
              <a:t>são</a:t>
            </a:r>
            <a:r>
              <a:rPr sz="2000" dirty="0"/>
              <a:t> 1.950 </a:t>
            </a:r>
            <a:r>
              <a:rPr sz="2000" dirty="0" err="1"/>
              <a:t>registros</a:t>
            </a:r>
            <a:r>
              <a:rPr sz="2000" dirty="0"/>
              <a:t>.</a:t>
            </a:r>
          </a:p>
          <a:p>
            <a:pPr algn="ctr">
              <a:spcAft>
                <a:spcPts val="1000"/>
              </a:spcAft>
              <a:defRPr sz="1600"/>
            </a:pPr>
            <a:r>
              <a:rPr sz="2000" dirty="0"/>
              <a:t>O </a:t>
            </a:r>
            <a:r>
              <a:rPr sz="2000" dirty="0" err="1"/>
              <a:t>comentário</a:t>
            </a:r>
            <a:r>
              <a:rPr sz="2000" dirty="0"/>
              <a:t> do </a:t>
            </a:r>
            <a:r>
              <a:rPr sz="2000" dirty="0" err="1"/>
              <a:t>arquivo</a:t>
            </a:r>
            <a:r>
              <a:rPr sz="2000" dirty="0"/>
              <a:t> </a:t>
            </a:r>
            <a:r>
              <a:rPr sz="2000" dirty="0" err="1"/>
              <a:t>menciona</a:t>
            </a:r>
            <a:r>
              <a:rPr sz="2000" dirty="0"/>
              <a:t> 1.680 e </a:t>
            </a:r>
            <a:r>
              <a:rPr sz="2000" dirty="0" err="1"/>
              <a:t>também</a:t>
            </a:r>
            <a:r>
              <a:rPr sz="2000" dirty="0"/>
              <a:t> 1.860 </a:t>
            </a:r>
            <a:r>
              <a:rPr sz="2000" dirty="0" err="1"/>
              <a:t>viagens</a:t>
            </a:r>
            <a:r>
              <a:rPr sz="2000" dirty="0"/>
              <a:t>; o </a:t>
            </a:r>
            <a:r>
              <a:rPr sz="2000" dirty="0" err="1"/>
              <a:t>conteúdo</a:t>
            </a:r>
            <a:r>
              <a:rPr sz="2000" dirty="0"/>
              <a:t> </a:t>
            </a:r>
            <a:r>
              <a:rPr sz="2000" dirty="0" err="1"/>
              <a:t>efetivamente</a:t>
            </a:r>
            <a:r>
              <a:rPr sz="2000" dirty="0"/>
              <a:t> </a:t>
            </a:r>
            <a:r>
              <a:rPr sz="2000" dirty="0" err="1"/>
              <a:t>inserido</a:t>
            </a:r>
            <a:r>
              <a:rPr sz="2000" dirty="0"/>
              <a:t> soma 1.950.</a:t>
            </a:r>
          </a:p>
          <a:p>
            <a:pPr algn="ctr">
              <a:spcAft>
                <a:spcPts val="1000"/>
              </a:spcAft>
              <a:defRPr sz="1600"/>
            </a:pPr>
            <a:r>
              <a:rPr sz="2000" dirty="0"/>
              <a:t>Essa </a:t>
            </a:r>
            <a:r>
              <a:rPr sz="2000" dirty="0" err="1"/>
              <a:t>diferença</a:t>
            </a:r>
            <a:r>
              <a:rPr sz="2000" dirty="0"/>
              <a:t> </a:t>
            </a:r>
            <a:r>
              <a:rPr sz="2000" dirty="0" err="1"/>
              <a:t>deve</a:t>
            </a:r>
            <a:r>
              <a:rPr sz="2000" dirty="0"/>
              <a:t> ser </a:t>
            </a:r>
            <a:r>
              <a:rPr sz="2000" dirty="0" err="1"/>
              <a:t>apresentada</a:t>
            </a:r>
            <a:r>
              <a:rPr sz="2000" dirty="0"/>
              <a:t> </a:t>
            </a:r>
            <a:r>
              <a:rPr sz="2000" dirty="0" err="1"/>
              <a:t>como</a:t>
            </a:r>
            <a:r>
              <a:rPr sz="2000" dirty="0"/>
              <a:t> </a:t>
            </a:r>
            <a:r>
              <a:rPr sz="2000" dirty="0" err="1"/>
              <a:t>observação</a:t>
            </a:r>
            <a:r>
              <a:rPr sz="2000" dirty="0"/>
              <a:t> de </a:t>
            </a:r>
            <a:r>
              <a:rPr sz="2000" dirty="0" err="1"/>
              <a:t>consistência</a:t>
            </a:r>
            <a:r>
              <a:rPr sz="2000" dirty="0"/>
              <a:t> da base.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D87"/>
                </a:solidFill>
              </a:defRPr>
            </a:pPr>
            <a:r>
              <a:t>Projeto SPTrans – Sambaíba | Base sptrans_uc6.sql | Slide 4</a:t>
            </a:r>
          </a:p>
        </p:txBody>
      </p:sp>
      <p:pic>
        <p:nvPicPr>
          <p:cNvPr id="19" name="Gráfico 18">
            <a:extLst>
              <a:ext uri="{FF2B5EF4-FFF2-40B4-BE49-F238E27FC236}">
                <a16:creationId xmlns:a16="http://schemas.microsoft.com/office/drawing/2014/main" id="{5E0016BF-DF6E-775D-B244-AAF8F62A40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645422" y="0"/>
            <a:ext cx="1484212" cy="14842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0"/>
                <a:lumOff val="100000"/>
              </a:schemeClr>
            </a:gs>
            <a:gs pos="35000">
              <a:schemeClr val="accent6">
                <a:lumMod val="0"/>
                <a:lumOff val="100000"/>
              </a:schemeClr>
            </a:gs>
            <a:gs pos="100000">
              <a:schemeClr val="accent6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141750" y="320040"/>
            <a:ext cx="587801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4. Query 1 – Quais </a:t>
            </a:r>
            <a:r>
              <a:rPr dirty="0" err="1"/>
              <a:t>viagens</a:t>
            </a:r>
            <a:r>
              <a:rPr dirty="0"/>
              <a:t> </a:t>
            </a:r>
            <a:r>
              <a:rPr dirty="0" err="1"/>
              <a:t>atrasaram</a:t>
            </a:r>
            <a:r>
              <a:rPr dirty="0"/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98756" y="932688"/>
            <a:ext cx="670914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5F69"/>
                </a:solidFill>
              </a:defRPr>
            </a:pPr>
            <a:r>
              <a:rPr sz="2000" dirty="0"/>
              <a:t>Filtra </a:t>
            </a:r>
            <a:r>
              <a:rPr sz="2000" dirty="0" err="1"/>
              <a:t>viagens</a:t>
            </a:r>
            <a:r>
              <a:rPr sz="2000" dirty="0"/>
              <a:t> </a:t>
            </a:r>
            <a:r>
              <a:rPr sz="2000" dirty="0" err="1"/>
              <a:t>em</a:t>
            </a:r>
            <a:r>
              <a:rPr sz="2000" dirty="0"/>
              <a:t> </a:t>
            </a:r>
            <a:r>
              <a:rPr sz="2000" dirty="0" err="1"/>
              <a:t>que</a:t>
            </a:r>
            <a:r>
              <a:rPr sz="2000" dirty="0"/>
              <a:t> o </a:t>
            </a:r>
            <a:r>
              <a:rPr sz="2000" dirty="0" err="1"/>
              <a:t>horário</a:t>
            </a:r>
            <a:r>
              <a:rPr sz="2000" dirty="0"/>
              <a:t> real é </a:t>
            </a:r>
            <a:r>
              <a:rPr sz="2000" dirty="0" err="1"/>
              <a:t>maior</a:t>
            </a:r>
            <a:r>
              <a:rPr sz="2000" dirty="0"/>
              <a:t> </a:t>
            </a:r>
            <a:r>
              <a:rPr sz="2000" dirty="0" err="1"/>
              <a:t>que</a:t>
            </a:r>
            <a:r>
              <a:rPr sz="2000" dirty="0"/>
              <a:t> o </a:t>
            </a:r>
            <a:r>
              <a:rPr sz="2000" dirty="0" err="1"/>
              <a:t>programado</a:t>
            </a:r>
            <a:endParaRPr sz="2000" dirty="0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120640" cy="4297680"/>
          </a:xfrm>
          <a:prstGeom prst="roundRect">
            <a:avLst/>
          </a:prstGeom>
          <a:solidFill>
            <a:srgbClr val="20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1450" y="1986210"/>
            <a:ext cx="4800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EBEEF2"/>
                </a:solidFill>
                <a:latin typeface="Consolas"/>
              </a:defRPr>
            </a:pPr>
            <a:r>
              <a:rPr sz="2000" dirty="0"/>
              <a:t>SELECT ...</a:t>
            </a:r>
            <a:br>
              <a:rPr sz="2000" dirty="0"/>
            </a:br>
            <a:r>
              <a:rPr sz="2000" dirty="0"/>
              <a:t>FROM </a:t>
            </a:r>
            <a:r>
              <a:rPr sz="2000" dirty="0" err="1"/>
              <a:t>operacao</a:t>
            </a:r>
            <a:r>
              <a:rPr sz="2000" dirty="0"/>
              <a:t> o</a:t>
            </a:r>
            <a:br>
              <a:rPr sz="2000" dirty="0"/>
            </a:br>
            <a:r>
              <a:rPr sz="2000" dirty="0"/>
              <a:t>JOIN </a:t>
            </a:r>
            <a:r>
              <a:rPr sz="2000" dirty="0" err="1"/>
              <a:t>linha</a:t>
            </a:r>
            <a:r>
              <a:rPr sz="2000" dirty="0"/>
              <a:t> l ON </a:t>
            </a:r>
            <a:r>
              <a:rPr sz="2000" dirty="0" err="1"/>
              <a:t>o.id_linha</a:t>
            </a:r>
            <a:r>
              <a:rPr sz="2000" dirty="0"/>
              <a:t> = </a:t>
            </a:r>
            <a:r>
              <a:rPr sz="2000" dirty="0" err="1"/>
              <a:t>l.id_linha</a:t>
            </a:r>
            <a:br>
              <a:rPr sz="2000" dirty="0"/>
            </a:br>
            <a:r>
              <a:rPr sz="2000" dirty="0"/>
              <a:t>WHERE </a:t>
            </a:r>
            <a:r>
              <a:rPr sz="2000" dirty="0" err="1"/>
              <a:t>o.horario_real</a:t>
            </a:r>
            <a:r>
              <a:rPr sz="2000" dirty="0"/>
              <a:t> &gt; </a:t>
            </a:r>
            <a:r>
              <a:rPr sz="2000" dirty="0" err="1"/>
              <a:t>o.horario_programado</a:t>
            </a:r>
            <a:br>
              <a:rPr sz="2000" dirty="0"/>
            </a:br>
            <a:r>
              <a:rPr sz="2000" dirty="0"/>
              <a:t>ORDER BY </a:t>
            </a:r>
            <a:r>
              <a:rPr sz="2000" dirty="0" err="1"/>
              <a:t>o.data_operacao</a:t>
            </a:r>
            <a:r>
              <a:rPr sz="2000" dirty="0"/>
              <a:t>, </a:t>
            </a:r>
            <a:r>
              <a:rPr sz="2000" dirty="0" err="1"/>
              <a:t>o.id_linha</a:t>
            </a:r>
            <a:r>
              <a:rPr sz="2000" dirty="0"/>
              <a:t>, </a:t>
            </a:r>
            <a:r>
              <a:rPr sz="2000" dirty="0" err="1"/>
              <a:t>o.id_veiculo</a:t>
            </a:r>
            <a:br>
              <a:rPr sz="2000" dirty="0"/>
            </a:br>
            <a:r>
              <a:rPr sz="2000" dirty="0"/>
              <a:t>LIMIT 15;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92369" y="2013792"/>
            <a:ext cx="5394960" cy="293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rPr sz="2000" dirty="0" err="1"/>
              <a:t>Resultado</a:t>
            </a:r>
            <a:r>
              <a:rPr sz="2000" dirty="0"/>
              <a:t>: 15 </a:t>
            </a:r>
            <a:r>
              <a:rPr sz="2000" dirty="0" err="1"/>
              <a:t>primeiras</a:t>
            </a:r>
            <a:r>
              <a:rPr sz="2000" dirty="0"/>
              <a:t> </a:t>
            </a:r>
            <a:r>
              <a:rPr sz="2000" dirty="0" err="1"/>
              <a:t>viagens</a:t>
            </a:r>
            <a:r>
              <a:rPr sz="2000" dirty="0"/>
              <a:t> </a:t>
            </a:r>
            <a:r>
              <a:rPr sz="2000" dirty="0" err="1"/>
              <a:t>atrasadas</a:t>
            </a:r>
            <a:r>
              <a:rPr sz="2000" dirty="0"/>
              <a:t> </a:t>
            </a:r>
            <a:r>
              <a:rPr sz="2000" dirty="0" err="1"/>
              <a:t>são</a:t>
            </a:r>
            <a:r>
              <a:rPr sz="2000" dirty="0"/>
              <a:t> </a:t>
            </a:r>
            <a:r>
              <a:rPr sz="2000" dirty="0" err="1"/>
              <a:t>exibidas</a:t>
            </a:r>
            <a:r>
              <a:rPr sz="2000" dirty="0"/>
              <a:t> pela query.</a:t>
            </a:r>
          </a:p>
          <a:p>
            <a:pPr>
              <a:spcAft>
                <a:spcPts val="1000"/>
              </a:spcAft>
              <a:defRPr sz="1500"/>
            </a:pPr>
            <a:r>
              <a:rPr sz="2000" dirty="0"/>
              <a:t>No conjunto </a:t>
            </a:r>
            <a:r>
              <a:rPr sz="2000" dirty="0" err="1"/>
              <a:t>completo</a:t>
            </a:r>
            <a:r>
              <a:rPr sz="2000" dirty="0"/>
              <a:t>, 1936 de 1950 </a:t>
            </a:r>
            <a:r>
              <a:rPr sz="2000" dirty="0" err="1"/>
              <a:t>registros</a:t>
            </a:r>
            <a:r>
              <a:rPr sz="2000" dirty="0"/>
              <a:t> </a:t>
            </a:r>
            <a:r>
              <a:rPr sz="2000" dirty="0" err="1"/>
              <a:t>têm</a:t>
            </a:r>
            <a:r>
              <a:rPr sz="2000" dirty="0"/>
              <a:t> </a:t>
            </a:r>
            <a:r>
              <a:rPr sz="2000" dirty="0" err="1"/>
              <a:t>horário</a:t>
            </a:r>
            <a:r>
              <a:rPr sz="2000" dirty="0"/>
              <a:t> real </a:t>
            </a:r>
            <a:r>
              <a:rPr sz="2000" dirty="0" err="1"/>
              <a:t>maior</a:t>
            </a:r>
            <a:r>
              <a:rPr sz="2000" dirty="0"/>
              <a:t> </a:t>
            </a:r>
            <a:r>
              <a:rPr sz="2000" dirty="0" err="1"/>
              <a:t>que</a:t>
            </a:r>
            <a:r>
              <a:rPr sz="2000" dirty="0"/>
              <a:t> o </a:t>
            </a:r>
            <a:r>
              <a:rPr sz="2000" dirty="0" err="1"/>
              <a:t>programado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500"/>
            </a:pPr>
            <a:r>
              <a:rPr sz="2000" dirty="0" err="1"/>
              <a:t>Exemplo</a:t>
            </a:r>
            <a:r>
              <a:rPr sz="2000" dirty="0"/>
              <a:t> do </a:t>
            </a:r>
            <a:r>
              <a:rPr sz="2000" dirty="0" err="1"/>
              <a:t>arquivo</a:t>
            </a:r>
            <a:r>
              <a:rPr sz="2000" dirty="0"/>
              <a:t>: a </a:t>
            </a:r>
            <a:r>
              <a:rPr sz="2000" dirty="0" err="1"/>
              <a:t>linha</a:t>
            </a:r>
            <a:r>
              <a:rPr sz="2000" dirty="0"/>
              <a:t> 971C-10 </a:t>
            </a:r>
            <a:r>
              <a:rPr sz="2000" dirty="0" err="1"/>
              <a:t>apresenta</a:t>
            </a:r>
            <a:r>
              <a:rPr sz="2000" dirty="0"/>
              <a:t> </a:t>
            </a:r>
            <a:r>
              <a:rPr sz="2000" dirty="0" err="1"/>
              <a:t>viagens</a:t>
            </a:r>
            <a:r>
              <a:rPr sz="2000" dirty="0"/>
              <a:t> com 2, 5, 10 e 12 </a:t>
            </a:r>
            <a:r>
              <a:rPr sz="2000" dirty="0" err="1"/>
              <a:t>minutos</a:t>
            </a:r>
            <a:r>
              <a:rPr sz="2000" dirty="0"/>
              <a:t> de </a:t>
            </a:r>
            <a:r>
              <a:rPr sz="2000" dirty="0" err="1"/>
              <a:t>diferença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500"/>
            </a:pPr>
            <a:r>
              <a:rPr sz="2000" dirty="0" err="1"/>
              <a:t>Objetivo</a:t>
            </a:r>
            <a:r>
              <a:rPr sz="2000" dirty="0"/>
              <a:t>: </a:t>
            </a:r>
            <a:r>
              <a:rPr sz="2000" dirty="0" err="1"/>
              <a:t>localizar</a:t>
            </a:r>
            <a:r>
              <a:rPr sz="2000" dirty="0"/>
              <a:t> </a:t>
            </a:r>
            <a:r>
              <a:rPr sz="2000" dirty="0" err="1"/>
              <a:t>ocorrências</a:t>
            </a:r>
            <a:r>
              <a:rPr sz="2000" dirty="0"/>
              <a:t> </a:t>
            </a:r>
            <a:r>
              <a:rPr sz="2000" dirty="0" err="1"/>
              <a:t>concretas</a:t>
            </a:r>
            <a:r>
              <a:rPr sz="2000" dirty="0"/>
              <a:t> de </a:t>
            </a:r>
            <a:r>
              <a:rPr sz="2000" dirty="0" err="1"/>
              <a:t>atraso</a:t>
            </a:r>
            <a:r>
              <a:rPr sz="2000" dirty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D87"/>
                </a:solidFill>
              </a:defRPr>
            </a:pPr>
            <a:r>
              <a:t>Projeto SPTrans – Sambaíba | Base sptrans_uc6.sql | Slide 5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F323FB44-19AB-55E6-46CA-92D0DB702D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645422" y="0"/>
            <a:ext cx="1484212" cy="14842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75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124662" y="320040"/>
            <a:ext cx="591219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5. Query 2 – </a:t>
            </a:r>
            <a:r>
              <a:rPr dirty="0" err="1"/>
              <a:t>Média</a:t>
            </a:r>
            <a:r>
              <a:rPr dirty="0"/>
              <a:t> de </a:t>
            </a:r>
            <a:r>
              <a:rPr dirty="0" err="1"/>
              <a:t>atraso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linha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922246" y="932688"/>
            <a:ext cx="626216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5F69"/>
                </a:solidFill>
              </a:defRPr>
            </a:pPr>
            <a:r>
              <a:rPr sz="2000" dirty="0"/>
              <a:t>Ordena as </a:t>
            </a:r>
            <a:r>
              <a:rPr sz="2000" dirty="0" err="1"/>
              <a:t>linhas</a:t>
            </a:r>
            <a:r>
              <a:rPr lang="pt-BR" sz="2000" dirty="0"/>
              <a:t>pela</a:t>
            </a:r>
            <a:r>
              <a:rPr sz="2000" dirty="0"/>
              <a:t> </a:t>
            </a:r>
            <a:r>
              <a:rPr sz="2000" dirty="0" err="1"/>
              <a:t>média</a:t>
            </a:r>
            <a:r>
              <a:rPr sz="2000" dirty="0"/>
              <a:t> </a:t>
            </a:r>
            <a:r>
              <a:rPr sz="2000" dirty="0" err="1"/>
              <a:t>calculada</a:t>
            </a:r>
            <a:r>
              <a:rPr sz="2000" dirty="0"/>
              <a:t> </a:t>
            </a:r>
            <a:r>
              <a:rPr sz="2000" dirty="0" err="1"/>
              <a:t>em</a:t>
            </a:r>
            <a:r>
              <a:rPr sz="2000" dirty="0"/>
              <a:t> TIMESTAMPDIFF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51499"/>
              </p:ext>
            </p:extLst>
          </p:nvPr>
        </p:nvGraphicFramePr>
        <p:xfrm>
          <a:off x="6400800" y="1325880"/>
          <a:ext cx="52120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79120" y="1877199"/>
            <a:ext cx="539496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500"/>
            </a:pPr>
            <a:endParaRPr lang="pt-BR" sz="2000" dirty="0"/>
          </a:p>
          <a:p>
            <a:pPr algn="ctr">
              <a:spcAft>
                <a:spcPts val="1000"/>
              </a:spcAft>
              <a:defRPr sz="1500"/>
            </a:pPr>
            <a:r>
              <a:rPr sz="2000" dirty="0"/>
              <a:t>1º: 971F-10 – 12.78 min.</a:t>
            </a:r>
          </a:p>
          <a:p>
            <a:pPr algn="ctr">
              <a:spcAft>
                <a:spcPts val="1000"/>
              </a:spcAft>
              <a:defRPr sz="1500"/>
            </a:pPr>
            <a:r>
              <a:rPr sz="2000" dirty="0"/>
              <a:t>2º: 971H-10 – 12.78 min.</a:t>
            </a:r>
          </a:p>
          <a:p>
            <a:pPr algn="ctr">
              <a:spcAft>
                <a:spcPts val="1000"/>
              </a:spcAft>
              <a:defRPr sz="1500"/>
            </a:pPr>
            <a:r>
              <a:rPr sz="2000" dirty="0"/>
              <a:t>3º: 971G-10 – 12.59 min.</a:t>
            </a:r>
            <a:endParaRPr lang="pt-BR" sz="2000" dirty="0"/>
          </a:p>
          <a:p>
            <a:pPr algn="ctr">
              <a:spcAft>
                <a:spcPts val="1000"/>
              </a:spcAft>
              <a:defRPr sz="1500"/>
            </a:pPr>
            <a:endParaRPr lang="pt-BR" sz="2000" dirty="0"/>
          </a:p>
          <a:p>
            <a:pPr algn="ctr">
              <a:spcAft>
                <a:spcPts val="1000"/>
              </a:spcAft>
              <a:defRPr sz="1500"/>
            </a:pPr>
            <a:endParaRPr sz="2000" dirty="0"/>
          </a:p>
          <a:p>
            <a:pPr algn="ctr">
              <a:spcAft>
                <a:spcPts val="1000"/>
              </a:spcAft>
              <a:defRPr sz="1500"/>
            </a:pPr>
            <a:r>
              <a:rPr sz="2000" dirty="0"/>
              <a:t>A query </a:t>
            </a:r>
            <a:r>
              <a:rPr sz="2000" dirty="0" err="1"/>
              <a:t>inclui</a:t>
            </a:r>
            <a:r>
              <a:rPr sz="2000" dirty="0"/>
              <a:t> </a:t>
            </a:r>
            <a:r>
              <a:rPr sz="2000" dirty="0" err="1"/>
              <a:t>todos</a:t>
            </a:r>
            <a:r>
              <a:rPr sz="2000" dirty="0"/>
              <a:t> </a:t>
            </a:r>
            <a:r>
              <a:rPr sz="2000" dirty="0" err="1"/>
              <a:t>os</a:t>
            </a:r>
            <a:r>
              <a:rPr sz="2000" dirty="0"/>
              <a:t> </a:t>
            </a:r>
            <a:r>
              <a:rPr sz="2000" dirty="0" err="1"/>
              <a:t>valores</a:t>
            </a:r>
            <a:r>
              <a:rPr sz="2000" dirty="0"/>
              <a:t> de </a:t>
            </a:r>
            <a:r>
              <a:rPr sz="2000" dirty="0" err="1"/>
              <a:t>diferença</a:t>
            </a:r>
            <a:r>
              <a:rPr sz="2000" dirty="0"/>
              <a:t> de </a:t>
            </a:r>
            <a:r>
              <a:rPr sz="2000" dirty="0" err="1"/>
              <a:t>horário</a:t>
            </a:r>
            <a:r>
              <a:rPr sz="2000" dirty="0"/>
              <a:t>, inclusive </a:t>
            </a:r>
            <a:r>
              <a:rPr sz="2000" dirty="0" err="1"/>
              <a:t>diferenças</a:t>
            </a:r>
            <a:r>
              <a:rPr sz="2000" dirty="0"/>
              <a:t> </a:t>
            </a:r>
            <a:r>
              <a:rPr sz="2000" dirty="0" err="1"/>
              <a:t>negativas</a:t>
            </a:r>
            <a:r>
              <a:rPr sz="2000" dirty="0"/>
              <a:t> </a:t>
            </a:r>
            <a:r>
              <a:rPr sz="2000" dirty="0" err="1"/>
              <a:t>geradas</a:t>
            </a:r>
            <a:r>
              <a:rPr sz="2000" dirty="0"/>
              <a:t> pela </a:t>
            </a:r>
            <a:r>
              <a:rPr sz="2000" dirty="0" err="1"/>
              <a:t>representação</a:t>
            </a:r>
            <a:r>
              <a:rPr sz="2000" dirty="0"/>
              <a:t> de </a:t>
            </a:r>
            <a:r>
              <a:rPr sz="2000" dirty="0" err="1"/>
              <a:t>horários</a:t>
            </a:r>
            <a:r>
              <a:rPr sz="2000" dirty="0"/>
              <a:t> </a:t>
            </a:r>
            <a:r>
              <a:rPr sz="2000" dirty="0" err="1"/>
              <a:t>após</a:t>
            </a:r>
            <a:r>
              <a:rPr sz="2000" dirty="0"/>
              <a:t> </a:t>
            </a:r>
            <a:r>
              <a:rPr sz="2000" dirty="0" err="1"/>
              <a:t>meia-noite</a:t>
            </a:r>
            <a:r>
              <a:rPr sz="2000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D87"/>
                </a:solidFill>
              </a:defRPr>
            </a:pPr>
            <a:r>
              <a:t>Projeto SPTrans – Sambaíba | Base sptrans_uc6.sql | Slide 6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930D2D81-12AC-FB08-4428-9CFC051BC6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45422" y="0"/>
            <a:ext cx="1484212" cy="14842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5900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43169" y="320040"/>
            <a:ext cx="487518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6. Query 3 – </a:t>
            </a:r>
            <a:r>
              <a:rPr dirty="0" err="1"/>
              <a:t>Programado</a:t>
            </a:r>
            <a:r>
              <a:rPr dirty="0"/>
              <a:t> x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72200" y="932688"/>
            <a:ext cx="636225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5F69"/>
                </a:solidFill>
              </a:defRPr>
            </a:pPr>
            <a:r>
              <a:rPr sz="2000"/>
              <a:t>Mede o impacto do horário real em relação ao programado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12080" cy="4114800"/>
          </a:xfrm>
          <a:prstGeom prst="roundRect">
            <a:avLst/>
          </a:prstGeom>
          <a:solidFill>
            <a:srgbClr val="20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2248910"/>
            <a:ext cx="489204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EBEEF2"/>
                </a:solidFill>
                <a:latin typeface="Consolas"/>
              </a:defRPr>
            </a:pPr>
            <a:r>
              <a:rPr sz="2000" dirty="0"/>
              <a:t>SELECT </a:t>
            </a:r>
            <a:r>
              <a:rPr sz="2000" dirty="0" err="1"/>
              <a:t>id_linha</a:t>
            </a:r>
            <a:r>
              <a:rPr sz="2000" dirty="0"/>
              <a:t>,</a:t>
            </a:r>
            <a:br>
              <a:rPr sz="2000" dirty="0"/>
            </a:br>
            <a:r>
              <a:rPr sz="2000" dirty="0"/>
              <a:t>       </a:t>
            </a:r>
            <a:r>
              <a:rPr sz="2000" dirty="0" err="1"/>
              <a:t>horario_programado</a:t>
            </a:r>
            <a:r>
              <a:rPr sz="2000" dirty="0"/>
              <a:t>,</a:t>
            </a:r>
            <a:br>
              <a:rPr sz="2000" dirty="0"/>
            </a:br>
            <a:r>
              <a:rPr sz="2000" dirty="0"/>
              <a:t>       </a:t>
            </a:r>
            <a:r>
              <a:rPr sz="2000" dirty="0" err="1"/>
              <a:t>horario_real</a:t>
            </a:r>
            <a:r>
              <a:rPr sz="2000" dirty="0"/>
              <a:t>,</a:t>
            </a:r>
            <a:br>
              <a:rPr sz="2000" dirty="0"/>
            </a:br>
            <a:r>
              <a:rPr sz="2000" dirty="0"/>
              <a:t>       TIMESTAMPDIFF(MINUTE,</a:t>
            </a:r>
            <a:br>
              <a:rPr sz="2000" dirty="0"/>
            </a:br>
            <a:r>
              <a:rPr sz="2000" dirty="0"/>
              <a:t>         </a:t>
            </a:r>
            <a:r>
              <a:rPr sz="2000" dirty="0" err="1"/>
              <a:t>horario_programado</a:t>
            </a:r>
            <a:r>
              <a:rPr sz="2000" dirty="0"/>
              <a:t>,</a:t>
            </a:r>
            <a:br>
              <a:rPr sz="2000" dirty="0"/>
            </a:br>
            <a:r>
              <a:rPr sz="2000" dirty="0"/>
              <a:t>         </a:t>
            </a:r>
            <a:r>
              <a:rPr sz="2000" dirty="0" err="1"/>
              <a:t>horario_real</a:t>
            </a:r>
            <a:r>
              <a:rPr sz="2000" dirty="0"/>
              <a:t>) AS </a:t>
            </a:r>
            <a:r>
              <a:rPr sz="2000" dirty="0" err="1"/>
              <a:t>atraso</a:t>
            </a:r>
            <a:br>
              <a:rPr sz="2000" dirty="0"/>
            </a:br>
            <a:r>
              <a:rPr sz="2000" dirty="0"/>
              <a:t>FROM </a:t>
            </a:r>
            <a:r>
              <a:rPr sz="2000" dirty="0" err="1"/>
              <a:t>operacao</a:t>
            </a:r>
            <a:r>
              <a:rPr sz="2000" dirty="0"/>
              <a:t>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59" y="2158975"/>
            <a:ext cx="521208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rPr sz="2000" dirty="0"/>
              <a:t>A consulta </a:t>
            </a:r>
            <a:r>
              <a:rPr sz="2000" dirty="0" err="1"/>
              <a:t>permite</a:t>
            </a:r>
            <a:r>
              <a:rPr sz="2000" dirty="0"/>
              <a:t> </a:t>
            </a:r>
            <a:r>
              <a:rPr sz="2000" dirty="0" err="1"/>
              <a:t>comparar</a:t>
            </a:r>
            <a:r>
              <a:rPr sz="2000" dirty="0"/>
              <a:t> </a:t>
            </a:r>
            <a:r>
              <a:rPr sz="2000" dirty="0" err="1"/>
              <a:t>cada</a:t>
            </a:r>
            <a:r>
              <a:rPr sz="2000" dirty="0"/>
              <a:t> </a:t>
            </a:r>
            <a:r>
              <a:rPr sz="2000" dirty="0" err="1"/>
              <a:t>viagem</a:t>
            </a:r>
            <a:r>
              <a:rPr sz="2000" dirty="0"/>
              <a:t> </a:t>
            </a:r>
            <a:r>
              <a:rPr sz="2000" dirty="0" err="1"/>
              <a:t>individualmente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600"/>
            </a:pPr>
            <a:r>
              <a:rPr sz="2000" dirty="0"/>
              <a:t>A </a:t>
            </a:r>
            <a:r>
              <a:rPr sz="2000" dirty="0" err="1"/>
              <a:t>diferença</a:t>
            </a:r>
            <a:r>
              <a:rPr sz="2000" dirty="0"/>
              <a:t> é </a:t>
            </a:r>
            <a:r>
              <a:rPr sz="2000" dirty="0" err="1"/>
              <a:t>expressa</a:t>
            </a:r>
            <a:r>
              <a:rPr sz="2000" dirty="0"/>
              <a:t> </a:t>
            </a:r>
            <a:r>
              <a:rPr sz="2000" dirty="0" err="1"/>
              <a:t>em</a:t>
            </a:r>
            <a:r>
              <a:rPr sz="2000" dirty="0"/>
              <a:t> </a:t>
            </a:r>
            <a:r>
              <a:rPr sz="2000" dirty="0" err="1"/>
              <a:t>minutos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600"/>
            </a:pPr>
            <a:r>
              <a:rPr sz="2000" dirty="0" err="1"/>
              <a:t>Exemplo</a:t>
            </a:r>
            <a:r>
              <a:rPr sz="2000" dirty="0"/>
              <a:t>: 05:00 → 05:15 </a:t>
            </a:r>
            <a:r>
              <a:rPr sz="2000" dirty="0" err="1"/>
              <a:t>representa</a:t>
            </a:r>
            <a:r>
              <a:rPr sz="2000" dirty="0"/>
              <a:t> 15 </a:t>
            </a:r>
            <a:r>
              <a:rPr sz="2000" dirty="0" err="1"/>
              <a:t>minutos</a:t>
            </a:r>
            <a:r>
              <a:rPr sz="2000" dirty="0"/>
              <a:t> de </a:t>
            </a:r>
            <a:r>
              <a:rPr sz="2000" dirty="0" err="1"/>
              <a:t>diferença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600"/>
            </a:pPr>
            <a:r>
              <a:rPr sz="2000" dirty="0"/>
              <a:t>A </a:t>
            </a:r>
            <a:r>
              <a:rPr sz="2000" dirty="0" err="1"/>
              <a:t>mesma</a:t>
            </a:r>
            <a:r>
              <a:rPr sz="2000" dirty="0"/>
              <a:t> </a:t>
            </a:r>
            <a:r>
              <a:rPr sz="2000" dirty="0" err="1"/>
              <a:t>regra</a:t>
            </a:r>
            <a:r>
              <a:rPr sz="2000" dirty="0"/>
              <a:t> </a:t>
            </a:r>
            <a:r>
              <a:rPr sz="2000" dirty="0" err="1"/>
              <a:t>também</a:t>
            </a:r>
            <a:r>
              <a:rPr sz="2000" dirty="0"/>
              <a:t> </a:t>
            </a:r>
            <a:r>
              <a:rPr sz="2000" dirty="0" err="1"/>
              <a:t>evidencia</a:t>
            </a:r>
            <a:r>
              <a:rPr sz="2000" dirty="0"/>
              <a:t> </a:t>
            </a:r>
            <a:r>
              <a:rPr sz="2000" dirty="0" err="1"/>
              <a:t>casos</a:t>
            </a:r>
            <a:r>
              <a:rPr sz="2000" dirty="0"/>
              <a:t> </a:t>
            </a:r>
            <a:r>
              <a:rPr sz="2000" dirty="0" err="1"/>
              <a:t>em</a:t>
            </a:r>
            <a:r>
              <a:rPr sz="2000" dirty="0"/>
              <a:t> </a:t>
            </a:r>
            <a:r>
              <a:rPr sz="2000" dirty="0" err="1"/>
              <a:t>que</a:t>
            </a:r>
            <a:r>
              <a:rPr sz="2000" dirty="0"/>
              <a:t> o </a:t>
            </a:r>
            <a:r>
              <a:rPr sz="2000" dirty="0" err="1"/>
              <a:t>horário</a:t>
            </a:r>
            <a:r>
              <a:rPr sz="2000" dirty="0"/>
              <a:t> real </a:t>
            </a:r>
            <a:r>
              <a:rPr sz="2000" dirty="0" err="1"/>
              <a:t>ficou</a:t>
            </a:r>
            <a:r>
              <a:rPr sz="2000" dirty="0"/>
              <a:t> antes do </a:t>
            </a:r>
            <a:r>
              <a:rPr sz="2000" dirty="0" err="1"/>
              <a:t>programado</a:t>
            </a:r>
            <a:r>
              <a:rPr sz="2000" dirty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D87"/>
                </a:solidFill>
              </a:defRPr>
            </a:pPr>
            <a:r>
              <a:t>Projeto SPTrans – Sambaíba | Base sptrans_uc6.sql | Slide 7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BA786FBA-130C-846A-5A21-5930750605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645422" y="0"/>
            <a:ext cx="1484212" cy="14842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102220" y="320040"/>
            <a:ext cx="595708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7. Query 4 – </a:t>
            </a:r>
            <a:r>
              <a:rPr dirty="0" err="1"/>
              <a:t>Horários</a:t>
            </a:r>
            <a:r>
              <a:rPr dirty="0"/>
              <a:t> </a:t>
            </a:r>
            <a:r>
              <a:rPr dirty="0" err="1"/>
              <a:t>críticos</a:t>
            </a:r>
            <a:r>
              <a:rPr dirty="0"/>
              <a:t> de </a:t>
            </a:r>
            <a:r>
              <a:rPr dirty="0" err="1"/>
              <a:t>atraso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851811" y="932688"/>
            <a:ext cx="640303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5F69"/>
                </a:solidFill>
              </a:defRPr>
            </a:pPr>
            <a:r>
              <a:rPr sz="2000" dirty="0"/>
              <a:t>Conta </a:t>
            </a:r>
            <a:r>
              <a:rPr sz="2000" dirty="0" err="1"/>
              <a:t>quantos</a:t>
            </a:r>
            <a:r>
              <a:rPr sz="2000" dirty="0"/>
              <a:t> </a:t>
            </a:r>
            <a:r>
              <a:rPr sz="2000" dirty="0" err="1"/>
              <a:t>atrasos</a:t>
            </a:r>
            <a:r>
              <a:rPr sz="2000" dirty="0"/>
              <a:t> </a:t>
            </a:r>
            <a:r>
              <a:rPr sz="2000" dirty="0" err="1"/>
              <a:t>aparecem</a:t>
            </a:r>
            <a:r>
              <a:rPr sz="2000" dirty="0"/>
              <a:t> </a:t>
            </a:r>
            <a:r>
              <a:rPr sz="2000" dirty="0" err="1"/>
              <a:t>em</a:t>
            </a:r>
            <a:r>
              <a:rPr sz="2000" dirty="0"/>
              <a:t> </a:t>
            </a:r>
            <a:r>
              <a:rPr sz="2000" dirty="0" err="1"/>
              <a:t>cada</a:t>
            </a:r>
            <a:r>
              <a:rPr sz="2000" dirty="0"/>
              <a:t> hora </a:t>
            </a:r>
            <a:r>
              <a:rPr sz="2000" dirty="0" err="1"/>
              <a:t>programada</a:t>
            </a:r>
            <a:endParaRPr sz="2000" dirty="0"/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63299"/>
              </p:ext>
            </p:extLst>
          </p:nvPr>
        </p:nvGraphicFramePr>
        <p:xfrm>
          <a:off x="6099997" y="1601539"/>
          <a:ext cx="52120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79923" y="2679963"/>
            <a:ext cx="539496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rPr sz="2000" dirty="0" err="1"/>
              <a:t>Horário</a:t>
            </a:r>
            <a:r>
              <a:rPr sz="2000" dirty="0"/>
              <a:t> </a:t>
            </a:r>
            <a:r>
              <a:rPr sz="2000" dirty="0" err="1"/>
              <a:t>líder</a:t>
            </a:r>
            <a:r>
              <a:rPr sz="2000" dirty="0"/>
              <a:t>: 05h, com 197 </a:t>
            </a:r>
            <a:r>
              <a:rPr sz="2000" dirty="0" err="1"/>
              <a:t>ocorrências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500"/>
            </a:pPr>
            <a:r>
              <a:rPr sz="2000" dirty="0" err="1"/>
              <a:t>Depois</a:t>
            </a:r>
            <a:r>
              <a:rPr sz="2000" dirty="0"/>
              <a:t>: 22h (120) e 15h (120).</a:t>
            </a:r>
          </a:p>
          <a:p>
            <a:pPr>
              <a:spcAft>
                <a:spcPts val="1000"/>
              </a:spcAft>
              <a:defRPr sz="1500"/>
            </a:pPr>
            <a:r>
              <a:rPr sz="2000" dirty="0"/>
              <a:t>O </a:t>
            </a:r>
            <a:r>
              <a:rPr sz="2000" dirty="0" err="1"/>
              <a:t>pico</a:t>
            </a:r>
            <a:r>
              <a:rPr sz="2000" dirty="0"/>
              <a:t> de 05h </a:t>
            </a:r>
            <a:r>
              <a:rPr sz="2000" dirty="0" err="1"/>
              <a:t>aparece</a:t>
            </a:r>
            <a:r>
              <a:rPr sz="2000" dirty="0"/>
              <a:t> </a:t>
            </a:r>
            <a:r>
              <a:rPr sz="2000" dirty="0" err="1"/>
              <a:t>como</a:t>
            </a:r>
            <a:r>
              <a:rPr sz="2000" dirty="0"/>
              <a:t> o </a:t>
            </a:r>
            <a:r>
              <a:rPr sz="2000" dirty="0" err="1"/>
              <a:t>maior</a:t>
            </a:r>
            <a:r>
              <a:rPr sz="2000" dirty="0"/>
              <a:t> volume </a:t>
            </a:r>
            <a:r>
              <a:rPr sz="2000" dirty="0" err="1"/>
              <a:t>na</a:t>
            </a:r>
            <a:r>
              <a:rPr sz="2000" dirty="0"/>
              <a:t> consulta.</a:t>
            </a:r>
          </a:p>
          <a:p>
            <a:pPr>
              <a:spcAft>
                <a:spcPts val="1000"/>
              </a:spcAft>
              <a:defRPr sz="1500"/>
            </a:pPr>
            <a:r>
              <a:rPr sz="2000" dirty="0"/>
              <a:t>A query é </a:t>
            </a:r>
            <a:r>
              <a:rPr sz="2000" dirty="0" err="1"/>
              <a:t>útil</a:t>
            </a:r>
            <a:r>
              <a:rPr sz="2000" dirty="0"/>
              <a:t> para </a:t>
            </a:r>
            <a:r>
              <a:rPr sz="2000" dirty="0" err="1"/>
              <a:t>direcionar</a:t>
            </a:r>
            <a:r>
              <a:rPr sz="2000" dirty="0"/>
              <a:t> </a:t>
            </a:r>
            <a:r>
              <a:rPr sz="2000" dirty="0" err="1"/>
              <a:t>análise</a:t>
            </a:r>
            <a:r>
              <a:rPr sz="2000" dirty="0"/>
              <a:t> de </a:t>
            </a:r>
            <a:r>
              <a:rPr sz="2000" dirty="0" err="1"/>
              <a:t>horários</a:t>
            </a:r>
            <a:r>
              <a:rPr sz="2000" dirty="0"/>
              <a:t> </a:t>
            </a:r>
            <a:r>
              <a:rPr sz="2000" dirty="0" err="1"/>
              <a:t>críticos</a:t>
            </a:r>
            <a:r>
              <a:rPr sz="2000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D87"/>
                </a:solidFill>
              </a:defRPr>
            </a:pPr>
            <a:r>
              <a:t>Projeto SPTrans – Sambaíba | Base sptrans_uc6.sql | Slide 8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CD9A76BB-FEE0-E1F4-F0FC-F6ED8703EE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45422" y="0"/>
            <a:ext cx="1484212" cy="14842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5000">
              <a:schemeClr val="accent3">
                <a:lumMod val="40000"/>
                <a:lumOff val="60000"/>
              </a:schemeClr>
            </a:gs>
            <a:gs pos="46000">
              <a:schemeClr val="accent3">
                <a:lumMod val="95000"/>
                <a:lumOff val="5000"/>
              </a:schemeClr>
            </a:gs>
            <a:gs pos="97000">
              <a:schemeClr val="tx2">
                <a:lumMod val="20000"/>
                <a:lumOff val="8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65717" y="320040"/>
            <a:ext cx="663008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8. Query 5 – </a:t>
            </a:r>
            <a:r>
              <a:rPr dirty="0" err="1"/>
              <a:t>Sentido</a:t>
            </a:r>
            <a:r>
              <a:rPr dirty="0"/>
              <a:t> com </a:t>
            </a:r>
            <a:r>
              <a:rPr dirty="0" err="1"/>
              <a:t>pior</a:t>
            </a:r>
            <a:r>
              <a:rPr dirty="0"/>
              <a:t> </a:t>
            </a:r>
            <a:r>
              <a:rPr dirty="0" err="1"/>
              <a:t>desempenho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430704" y="932688"/>
            <a:ext cx="324524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5F69"/>
                </a:solidFill>
              </a:defRPr>
            </a:pPr>
            <a:r>
              <a:rPr sz="2000" dirty="0" err="1"/>
              <a:t>Compara</a:t>
            </a:r>
            <a:r>
              <a:rPr sz="2000" dirty="0"/>
              <a:t> </a:t>
            </a:r>
            <a:r>
              <a:rPr sz="2000" dirty="0" err="1"/>
              <a:t>ida</a:t>
            </a:r>
            <a:r>
              <a:rPr sz="2000" dirty="0"/>
              <a:t> e volta </a:t>
            </a:r>
            <a:r>
              <a:rPr sz="2000" dirty="0" err="1"/>
              <a:t>por</a:t>
            </a:r>
            <a:r>
              <a:rPr sz="2000" dirty="0"/>
              <a:t> </a:t>
            </a:r>
            <a:r>
              <a:rPr sz="2000" dirty="0" err="1"/>
              <a:t>linha</a:t>
            </a:r>
            <a:endParaRPr sz="2000" dirty="0"/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670397"/>
              </p:ext>
            </p:extLst>
          </p:nvPr>
        </p:nvGraphicFramePr>
        <p:xfrm>
          <a:off x="5636302" y="1332798"/>
          <a:ext cx="5976578" cy="53520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49705" y="2642134"/>
            <a:ext cx="530352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/>
            </a:pPr>
            <a:r>
              <a:rPr sz="2000" dirty="0"/>
              <a:t>Maior </a:t>
            </a:r>
            <a:r>
              <a:rPr sz="2000" dirty="0" err="1"/>
              <a:t>média</a:t>
            </a:r>
            <a:r>
              <a:rPr sz="2000" dirty="0"/>
              <a:t>: 971F-10 – </a:t>
            </a:r>
            <a:r>
              <a:rPr sz="2000" dirty="0" err="1"/>
              <a:t>ida</a:t>
            </a:r>
            <a:r>
              <a:rPr sz="2000" dirty="0"/>
              <a:t>: 13.45 min.</a:t>
            </a:r>
          </a:p>
          <a:p>
            <a:pPr>
              <a:spcAft>
                <a:spcPts val="1000"/>
              </a:spcAft>
              <a:defRPr sz="1400"/>
            </a:pPr>
            <a:r>
              <a:rPr sz="2000" dirty="0"/>
              <a:t>2ª </a:t>
            </a:r>
            <a:r>
              <a:rPr sz="2000" dirty="0" err="1"/>
              <a:t>maior</a:t>
            </a:r>
            <a:r>
              <a:rPr sz="2000" dirty="0"/>
              <a:t>: 971H-10 – </a:t>
            </a:r>
            <a:r>
              <a:rPr sz="2000" dirty="0" err="1"/>
              <a:t>ida</a:t>
            </a:r>
            <a:r>
              <a:rPr sz="2000" dirty="0"/>
              <a:t>: 13.45 min.</a:t>
            </a:r>
          </a:p>
          <a:p>
            <a:pPr>
              <a:spcAft>
                <a:spcPts val="1000"/>
              </a:spcAft>
              <a:defRPr sz="1400"/>
            </a:pPr>
            <a:r>
              <a:rPr sz="2000" dirty="0"/>
              <a:t>A consulta </a:t>
            </a:r>
            <a:r>
              <a:rPr sz="2000" dirty="0" err="1"/>
              <a:t>usa</a:t>
            </a:r>
            <a:r>
              <a:rPr sz="2000" dirty="0"/>
              <a:t> JOIN com </a:t>
            </a:r>
            <a:r>
              <a:rPr sz="2000" dirty="0" err="1"/>
              <a:t>linha</a:t>
            </a:r>
            <a:r>
              <a:rPr sz="2000" dirty="0"/>
              <a:t> para </a:t>
            </a:r>
            <a:r>
              <a:rPr sz="2000" dirty="0" err="1"/>
              <a:t>exibir</a:t>
            </a:r>
            <a:r>
              <a:rPr sz="2000" dirty="0"/>
              <a:t> o </a:t>
            </a:r>
            <a:r>
              <a:rPr sz="2000" dirty="0" err="1"/>
              <a:t>nome</a:t>
            </a:r>
            <a:r>
              <a:rPr sz="2000" dirty="0"/>
              <a:t> da </a:t>
            </a:r>
            <a:r>
              <a:rPr sz="2000" dirty="0" err="1"/>
              <a:t>linha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400"/>
            </a:pPr>
            <a:r>
              <a:rPr sz="2000" dirty="0"/>
              <a:t>A </a:t>
            </a:r>
            <a:r>
              <a:rPr sz="2000" dirty="0" err="1"/>
              <a:t>análise</a:t>
            </a:r>
            <a:r>
              <a:rPr sz="2000" dirty="0"/>
              <a:t> </a:t>
            </a:r>
            <a:r>
              <a:rPr sz="2000" dirty="0" err="1"/>
              <a:t>mostra</a:t>
            </a:r>
            <a:r>
              <a:rPr sz="2000" dirty="0"/>
              <a:t> </a:t>
            </a:r>
            <a:r>
              <a:rPr sz="2000" dirty="0" err="1"/>
              <a:t>que</a:t>
            </a:r>
            <a:r>
              <a:rPr sz="2000" dirty="0"/>
              <a:t> o </a:t>
            </a:r>
            <a:r>
              <a:rPr sz="2000" dirty="0" err="1"/>
              <a:t>sentido</a:t>
            </a:r>
            <a:r>
              <a:rPr sz="2000" dirty="0"/>
              <a:t> </a:t>
            </a:r>
            <a:r>
              <a:rPr sz="2000" dirty="0" err="1"/>
              <a:t>pode</a:t>
            </a:r>
            <a:r>
              <a:rPr sz="2000" dirty="0"/>
              <a:t> </a:t>
            </a:r>
            <a:r>
              <a:rPr sz="2000" dirty="0" err="1"/>
              <a:t>alterar</a:t>
            </a:r>
            <a:r>
              <a:rPr sz="2000" dirty="0"/>
              <a:t> o </a:t>
            </a:r>
            <a:r>
              <a:rPr sz="2000" dirty="0" err="1"/>
              <a:t>desempenho</a:t>
            </a:r>
            <a:r>
              <a:rPr sz="2000" dirty="0"/>
              <a:t> </a:t>
            </a:r>
            <a:r>
              <a:rPr sz="2000" dirty="0" err="1"/>
              <a:t>dentro</a:t>
            </a:r>
            <a:r>
              <a:rPr sz="2000" dirty="0"/>
              <a:t> da </a:t>
            </a:r>
            <a:r>
              <a:rPr sz="2000" dirty="0" err="1"/>
              <a:t>mesma</a:t>
            </a:r>
            <a:r>
              <a:rPr sz="2000" dirty="0"/>
              <a:t> </a:t>
            </a:r>
            <a:r>
              <a:rPr sz="2000" dirty="0" err="1"/>
              <a:t>linha</a:t>
            </a:r>
            <a:r>
              <a:rPr sz="2000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D87"/>
                </a:solidFill>
              </a:defRPr>
            </a:pPr>
            <a:r>
              <a:t>Projeto SPTrans – Sambaíba | Base sptrans_uc6.sql | Slide 9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FC365D49-0C1F-7D88-460C-37E57C575E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45422" y="0"/>
            <a:ext cx="1484212" cy="148421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5000">
              <a:schemeClr val="bg2">
                <a:tint val="80000"/>
                <a:satMod val="300000"/>
              </a:schemeClr>
            </a:gs>
            <a:gs pos="45000">
              <a:schemeClr val="bg2">
                <a:shade val="30000"/>
                <a:satMod val="200000"/>
              </a:schemeClr>
            </a:gs>
          </a:gsLst>
          <a:path path="rect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11128" y="320040"/>
            <a:ext cx="573926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9. Query 6 – </a:t>
            </a:r>
            <a:r>
              <a:rPr dirty="0" err="1"/>
              <a:t>Atraso</a:t>
            </a:r>
            <a:r>
              <a:rPr dirty="0"/>
              <a:t> </a:t>
            </a:r>
            <a:r>
              <a:rPr dirty="0" err="1"/>
              <a:t>máximo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linha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347683" y="932688"/>
            <a:ext cx="541129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5F69"/>
                </a:solidFill>
              </a:defRPr>
            </a:pPr>
            <a:r>
              <a:rPr sz="2000" dirty="0" err="1"/>
              <a:t>Identifica</a:t>
            </a:r>
            <a:r>
              <a:rPr sz="2000" dirty="0"/>
              <a:t> o </a:t>
            </a:r>
            <a:r>
              <a:rPr sz="2000" dirty="0" err="1"/>
              <a:t>maior</a:t>
            </a:r>
            <a:r>
              <a:rPr sz="2000" dirty="0"/>
              <a:t> </a:t>
            </a:r>
            <a:r>
              <a:rPr sz="2000" dirty="0" err="1"/>
              <a:t>atraso</a:t>
            </a:r>
            <a:r>
              <a:rPr sz="2000" dirty="0"/>
              <a:t> </a:t>
            </a:r>
            <a:r>
              <a:rPr sz="2000" dirty="0" err="1"/>
              <a:t>calculado</a:t>
            </a:r>
            <a:r>
              <a:rPr sz="2000" dirty="0"/>
              <a:t> para </a:t>
            </a:r>
            <a:r>
              <a:rPr sz="2000" dirty="0" err="1"/>
              <a:t>cada</a:t>
            </a:r>
            <a:r>
              <a:rPr sz="2000" dirty="0"/>
              <a:t> </a:t>
            </a:r>
            <a:r>
              <a:rPr sz="2000" dirty="0" err="1"/>
              <a:t>linha</a:t>
            </a:r>
            <a:endParaRPr sz="2000" dirty="0"/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5295527"/>
              </p:ext>
            </p:extLst>
          </p:nvPr>
        </p:nvGraphicFramePr>
        <p:xfrm>
          <a:off x="6400800" y="1325880"/>
          <a:ext cx="52120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5799" y="2357661"/>
            <a:ext cx="5394960" cy="293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rPr sz="2000" dirty="0"/>
              <a:t>Maior </a:t>
            </a:r>
            <a:r>
              <a:rPr sz="2000" dirty="0" err="1"/>
              <a:t>atraso</a:t>
            </a:r>
            <a:r>
              <a:rPr sz="2000" dirty="0"/>
              <a:t> </a:t>
            </a:r>
            <a:r>
              <a:rPr sz="2000" dirty="0" err="1"/>
              <a:t>máximo</a:t>
            </a:r>
            <a:r>
              <a:rPr sz="2000" dirty="0"/>
              <a:t> </a:t>
            </a:r>
            <a:r>
              <a:rPr sz="2000" dirty="0" err="1"/>
              <a:t>encontrado</a:t>
            </a:r>
            <a:r>
              <a:rPr sz="2000" dirty="0"/>
              <a:t>: 20 min </a:t>
            </a:r>
            <a:r>
              <a:rPr sz="2000" dirty="0" err="1"/>
              <a:t>na</a:t>
            </a:r>
            <a:r>
              <a:rPr sz="2000" dirty="0"/>
              <a:t> </a:t>
            </a:r>
            <a:r>
              <a:rPr sz="2000" dirty="0" err="1"/>
              <a:t>linha</a:t>
            </a:r>
            <a:r>
              <a:rPr sz="2000" dirty="0"/>
              <a:t> 971E-10.</a:t>
            </a:r>
          </a:p>
          <a:p>
            <a:pPr>
              <a:spcAft>
                <a:spcPts val="1000"/>
              </a:spcAft>
              <a:defRPr sz="1500"/>
            </a:pPr>
            <a:r>
              <a:rPr sz="2000" dirty="0"/>
              <a:t>A query </a:t>
            </a:r>
            <a:r>
              <a:rPr sz="2000" dirty="0" err="1"/>
              <a:t>usa</a:t>
            </a:r>
            <a:r>
              <a:rPr sz="2000" dirty="0"/>
              <a:t> MAX(TIMESTAMPDIFF(...)) </a:t>
            </a:r>
            <a:r>
              <a:rPr sz="2000" dirty="0" err="1"/>
              <a:t>por</a:t>
            </a:r>
            <a:r>
              <a:rPr sz="2000" dirty="0"/>
              <a:t> </a:t>
            </a:r>
            <a:r>
              <a:rPr sz="2000" dirty="0" err="1"/>
              <a:t>id_linha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500"/>
            </a:pPr>
            <a:r>
              <a:rPr sz="2000" dirty="0"/>
              <a:t>Esse </a:t>
            </a:r>
            <a:r>
              <a:rPr sz="2000" dirty="0" err="1"/>
              <a:t>indicador</a:t>
            </a:r>
            <a:r>
              <a:rPr sz="2000" dirty="0"/>
              <a:t> </a:t>
            </a:r>
            <a:r>
              <a:rPr sz="2000" dirty="0" err="1"/>
              <a:t>destaca</a:t>
            </a:r>
            <a:r>
              <a:rPr sz="2000" dirty="0"/>
              <a:t> </a:t>
            </a:r>
            <a:r>
              <a:rPr sz="2000" dirty="0" err="1"/>
              <a:t>ocorrências</a:t>
            </a:r>
            <a:r>
              <a:rPr sz="2000" dirty="0"/>
              <a:t> </a:t>
            </a:r>
            <a:r>
              <a:rPr sz="2000" dirty="0" err="1"/>
              <a:t>extremas</a:t>
            </a:r>
            <a:r>
              <a:rPr sz="2000" dirty="0"/>
              <a:t>, </a:t>
            </a:r>
            <a:r>
              <a:rPr sz="2000" dirty="0" err="1"/>
              <a:t>diferente</a:t>
            </a:r>
            <a:r>
              <a:rPr sz="2000" dirty="0"/>
              <a:t> da </a:t>
            </a:r>
            <a:r>
              <a:rPr sz="2000" dirty="0" err="1"/>
              <a:t>média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500"/>
            </a:pPr>
            <a:r>
              <a:rPr sz="2000" dirty="0"/>
              <a:t>É </a:t>
            </a:r>
            <a:r>
              <a:rPr sz="2000" dirty="0" err="1"/>
              <a:t>útil</a:t>
            </a:r>
            <a:r>
              <a:rPr sz="2000" dirty="0"/>
              <a:t> para </a:t>
            </a:r>
            <a:r>
              <a:rPr sz="2000" dirty="0" err="1"/>
              <a:t>investigar</a:t>
            </a:r>
            <a:r>
              <a:rPr sz="2000" dirty="0"/>
              <a:t> </a:t>
            </a:r>
            <a:r>
              <a:rPr sz="2000" dirty="0" err="1"/>
              <a:t>casos</a:t>
            </a:r>
            <a:r>
              <a:rPr sz="2000" dirty="0"/>
              <a:t> </a:t>
            </a:r>
            <a:r>
              <a:rPr sz="2000" dirty="0" err="1"/>
              <a:t>pontuais</a:t>
            </a:r>
            <a:r>
              <a:rPr sz="2000" dirty="0"/>
              <a:t> de forte </a:t>
            </a:r>
            <a:r>
              <a:rPr sz="2000" dirty="0" err="1"/>
              <a:t>desvio</a:t>
            </a:r>
            <a:r>
              <a:rPr sz="2000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D87"/>
                </a:solidFill>
              </a:defRPr>
            </a:pPr>
            <a:r>
              <a:t>Projeto SPTrans – Sambaíba | Base sptrans_uc6.sql | Slide 10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EB941BA1-90EE-B25C-06E1-C5E38083C7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45422" y="0"/>
            <a:ext cx="1484212" cy="148421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accent4">
                <a:lumMod val="5000"/>
                <a:lumOff val="95000"/>
              </a:schemeClr>
            </a:gs>
            <a:gs pos="61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85613" y="320040"/>
            <a:ext cx="739029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10. Query 7 – </a:t>
            </a:r>
            <a:r>
              <a:rPr dirty="0" err="1"/>
              <a:t>Distribuição</a:t>
            </a:r>
            <a:r>
              <a:rPr dirty="0"/>
              <a:t> de </a:t>
            </a:r>
            <a:r>
              <a:rPr dirty="0" err="1"/>
              <a:t>atrasos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veículo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022626" y="932688"/>
            <a:ext cx="606140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5F69"/>
                </a:solidFill>
              </a:defRPr>
            </a:pPr>
            <a:r>
              <a:rPr sz="2000" dirty="0" err="1"/>
              <a:t>Busca</a:t>
            </a:r>
            <a:r>
              <a:rPr sz="2000" dirty="0"/>
              <a:t> </a:t>
            </a:r>
            <a:r>
              <a:rPr sz="2000" dirty="0" err="1"/>
              <a:t>veículos</a:t>
            </a:r>
            <a:r>
              <a:rPr sz="2000" dirty="0"/>
              <a:t> com </a:t>
            </a:r>
            <a:r>
              <a:rPr sz="2000" dirty="0" err="1"/>
              <a:t>maior</a:t>
            </a:r>
            <a:r>
              <a:rPr sz="2000" dirty="0"/>
              <a:t> </a:t>
            </a:r>
            <a:r>
              <a:rPr sz="2000" dirty="0" err="1"/>
              <a:t>média</a:t>
            </a:r>
            <a:r>
              <a:rPr sz="2000" dirty="0"/>
              <a:t> de </a:t>
            </a:r>
            <a:r>
              <a:rPr sz="2000" dirty="0" err="1"/>
              <a:t>diferença</a:t>
            </a:r>
            <a:r>
              <a:rPr sz="2000" dirty="0"/>
              <a:t> de </a:t>
            </a:r>
            <a:r>
              <a:rPr sz="2000" dirty="0" err="1"/>
              <a:t>horário</a:t>
            </a:r>
            <a:endParaRPr sz="2000" dirty="0"/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9109094"/>
              </p:ext>
            </p:extLst>
          </p:nvPr>
        </p:nvGraphicFramePr>
        <p:xfrm>
          <a:off x="6400800" y="1325880"/>
          <a:ext cx="52120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00887" y="2404303"/>
            <a:ext cx="539496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rPr sz="2000" dirty="0" err="1"/>
              <a:t>Veículo</a:t>
            </a:r>
            <a:r>
              <a:rPr sz="2000" dirty="0"/>
              <a:t> ID 5 </a:t>
            </a:r>
            <a:r>
              <a:rPr sz="2000" dirty="0" err="1"/>
              <a:t>apresenta</a:t>
            </a:r>
            <a:r>
              <a:rPr sz="2000" dirty="0"/>
              <a:t> 12.79 min de </a:t>
            </a:r>
            <a:r>
              <a:rPr sz="2000" dirty="0" err="1"/>
              <a:t>média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500"/>
            </a:pPr>
            <a:r>
              <a:rPr sz="2000" dirty="0"/>
              <a:t>Em </a:t>
            </a:r>
            <a:r>
              <a:rPr sz="2000" dirty="0" err="1"/>
              <a:t>seguida</a:t>
            </a:r>
            <a:r>
              <a:rPr sz="2000" dirty="0"/>
              <a:t>: ID 7 (11.20 min) e ID 3 (10.98 min).</a:t>
            </a:r>
          </a:p>
          <a:p>
            <a:pPr>
              <a:spcAft>
                <a:spcPts val="1000"/>
              </a:spcAft>
              <a:defRPr sz="1500"/>
            </a:pPr>
            <a:r>
              <a:rPr sz="2000" dirty="0"/>
              <a:t>A consulta </a:t>
            </a:r>
            <a:r>
              <a:rPr sz="2000" dirty="0" err="1"/>
              <a:t>pode</a:t>
            </a:r>
            <a:r>
              <a:rPr sz="2000" dirty="0"/>
              <a:t> </a:t>
            </a:r>
            <a:r>
              <a:rPr sz="2000" dirty="0" err="1"/>
              <a:t>apontar</a:t>
            </a:r>
            <a:r>
              <a:rPr sz="2000" dirty="0"/>
              <a:t> </a:t>
            </a:r>
            <a:r>
              <a:rPr sz="2000" dirty="0" err="1"/>
              <a:t>veículos</a:t>
            </a:r>
            <a:r>
              <a:rPr sz="2000" dirty="0"/>
              <a:t> </a:t>
            </a:r>
            <a:r>
              <a:rPr sz="2000" dirty="0" err="1"/>
              <a:t>que</a:t>
            </a:r>
            <a:r>
              <a:rPr sz="2000" dirty="0"/>
              <a:t> </a:t>
            </a:r>
            <a:r>
              <a:rPr sz="2000" dirty="0" err="1"/>
              <a:t>merecem</a:t>
            </a:r>
            <a:r>
              <a:rPr sz="2000" dirty="0"/>
              <a:t> </a:t>
            </a:r>
            <a:r>
              <a:rPr sz="2000" dirty="0" err="1"/>
              <a:t>investigação</a:t>
            </a:r>
            <a:r>
              <a:rPr sz="2000" dirty="0"/>
              <a:t> </a:t>
            </a:r>
            <a:r>
              <a:rPr sz="2000" dirty="0" err="1"/>
              <a:t>operacional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500"/>
            </a:pPr>
            <a:r>
              <a:rPr sz="2000" dirty="0"/>
              <a:t>A </a:t>
            </a:r>
            <a:r>
              <a:rPr sz="2000" dirty="0" err="1"/>
              <a:t>média</a:t>
            </a:r>
            <a:r>
              <a:rPr sz="2000" dirty="0"/>
              <a:t> é </a:t>
            </a:r>
            <a:r>
              <a:rPr sz="2000" dirty="0" err="1"/>
              <a:t>calculada</a:t>
            </a:r>
            <a:r>
              <a:rPr sz="2000" dirty="0"/>
              <a:t> </a:t>
            </a:r>
            <a:r>
              <a:rPr sz="2000" dirty="0" err="1"/>
              <a:t>sobre</a:t>
            </a:r>
            <a:r>
              <a:rPr sz="2000" dirty="0"/>
              <a:t> </a:t>
            </a:r>
            <a:r>
              <a:rPr sz="2000" dirty="0" err="1"/>
              <a:t>os</a:t>
            </a:r>
            <a:r>
              <a:rPr sz="2000" dirty="0"/>
              <a:t> </a:t>
            </a:r>
            <a:r>
              <a:rPr sz="2000" dirty="0" err="1"/>
              <a:t>registros</a:t>
            </a:r>
            <a:r>
              <a:rPr sz="2000" dirty="0"/>
              <a:t> </a:t>
            </a:r>
            <a:r>
              <a:rPr sz="2000" dirty="0" err="1"/>
              <a:t>presentes</a:t>
            </a:r>
            <a:r>
              <a:rPr sz="2000" dirty="0"/>
              <a:t> </a:t>
            </a:r>
            <a:r>
              <a:rPr sz="2000" dirty="0" err="1"/>
              <a:t>em</a:t>
            </a:r>
            <a:r>
              <a:rPr sz="2000" dirty="0"/>
              <a:t> </a:t>
            </a:r>
            <a:r>
              <a:rPr sz="2000" dirty="0" err="1"/>
              <a:t>operacao</a:t>
            </a:r>
            <a:r>
              <a:rPr sz="2000" dirty="0"/>
              <a:t> para </a:t>
            </a:r>
            <a:r>
              <a:rPr sz="2000" dirty="0" err="1"/>
              <a:t>cada</a:t>
            </a:r>
            <a:r>
              <a:rPr sz="2000" dirty="0"/>
              <a:t> </a:t>
            </a:r>
            <a:r>
              <a:rPr sz="2000" dirty="0" err="1"/>
              <a:t>veículo</a:t>
            </a:r>
            <a:r>
              <a:rPr sz="2000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D87"/>
                </a:solidFill>
              </a:defRPr>
            </a:pPr>
            <a:r>
              <a:t>Projeto SPTrans – Sambaíba | Base sptrans_uc6.sql | Slide 11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F47A82E4-F7D4-F476-BD06-FB1940389D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45422" y="0"/>
            <a:ext cx="1484212" cy="14842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0">
              <a:schemeClr val="accent3">
                <a:lumMod val="0"/>
                <a:lumOff val="100000"/>
              </a:schemeClr>
            </a:gs>
            <a:gs pos="58000">
              <a:schemeClr val="accent3">
                <a:lumMod val="0"/>
                <a:lumOff val="100000"/>
              </a:schemeClr>
            </a:gs>
            <a:gs pos="26000">
              <a:schemeClr val="accent3">
                <a:lumMod val="10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63675" y="320040"/>
            <a:ext cx="703416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11. Query 8 – Ranking de </a:t>
            </a:r>
            <a:r>
              <a:rPr dirty="0" err="1"/>
              <a:t>linhas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pontuais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345632" y="932688"/>
            <a:ext cx="541539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5F69"/>
                </a:solidFill>
              </a:defRPr>
            </a:pPr>
            <a:r>
              <a:rPr sz="2000" dirty="0"/>
              <a:t>Ordena pela </a:t>
            </a:r>
            <a:r>
              <a:rPr sz="2000" dirty="0" err="1"/>
              <a:t>menor</a:t>
            </a:r>
            <a:r>
              <a:rPr sz="2000" dirty="0"/>
              <a:t> </a:t>
            </a:r>
            <a:r>
              <a:rPr sz="2000" dirty="0" err="1"/>
              <a:t>média</a:t>
            </a:r>
            <a:r>
              <a:rPr sz="2000" dirty="0"/>
              <a:t> de </a:t>
            </a:r>
            <a:r>
              <a:rPr sz="2000" dirty="0" err="1"/>
              <a:t>diferença</a:t>
            </a:r>
            <a:r>
              <a:rPr sz="2000" dirty="0"/>
              <a:t> de </a:t>
            </a:r>
            <a:r>
              <a:rPr sz="2000" dirty="0" err="1"/>
              <a:t>horário</a:t>
            </a:r>
            <a:endParaRPr sz="2000" dirty="0"/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607649"/>
              </p:ext>
            </p:extLst>
          </p:nvPr>
        </p:nvGraphicFramePr>
        <p:xfrm>
          <a:off x="6217918" y="1401303"/>
          <a:ext cx="5394961" cy="46431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00887" y="2296682"/>
            <a:ext cx="539496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/>
            </a:pPr>
            <a:r>
              <a:rPr sz="2000" dirty="0"/>
              <a:t>1º no ranking: 971L-10 – -9.49 min.</a:t>
            </a:r>
          </a:p>
          <a:p>
            <a:pPr>
              <a:spcAft>
                <a:spcPts val="1000"/>
              </a:spcAft>
              <a:defRPr sz="1400"/>
            </a:pPr>
            <a:r>
              <a:rPr sz="2000" dirty="0"/>
              <a:t>2º: 972E-10 – -9.42 min.</a:t>
            </a:r>
          </a:p>
          <a:p>
            <a:pPr>
              <a:spcAft>
                <a:spcPts val="1000"/>
              </a:spcAft>
              <a:defRPr sz="1400"/>
            </a:pPr>
            <a:r>
              <a:rPr sz="2000" dirty="0"/>
              <a:t>3º: 971M-10 – -9.40 min.</a:t>
            </a:r>
          </a:p>
          <a:p>
            <a:pPr>
              <a:spcAft>
                <a:spcPts val="1000"/>
              </a:spcAft>
              <a:defRPr sz="1400"/>
            </a:pPr>
            <a:r>
              <a:rPr sz="2000" dirty="0" err="1"/>
              <a:t>Importante</a:t>
            </a:r>
            <a:r>
              <a:rPr sz="2000" dirty="0"/>
              <a:t>: </a:t>
            </a:r>
            <a:r>
              <a:rPr sz="2000" dirty="0" err="1"/>
              <a:t>valores</a:t>
            </a:r>
            <a:r>
              <a:rPr sz="2000" dirty="0"/>
              <a:t> </a:t>
            </a:r>
            <a:r>
              <a:rPr sz="2000" dirty="0" err="1"/>
              <a:t>negativos</a:t>
            </a:r>
            <a:r>
              <a:rPr sz="2000" dirty="0"/>
              <a:t> </a:t>
            </a:r>
            <a:r>
              <a:rPr sz="2000" dirty="0" err="1"/>
              <a:t>aparecem</a:t>
            </a:r>
            <a:r>
              <a:rPr sz="2000" dirty="0"/>
              <a:t> </a:t>
            </a:r>
            <a:r>
              <a:rPr sz="2000" dirty="0" err="1"/>
              <a:t>por</a:t>
            </a:r>
            <a:r>
              <a:rPr sz="2000" dirty="0"/>
              <a:t> causa da </a:t>
            </a:r>
            <a:r>
              <a:rPr sz="2000" dirty="0" err="1"/>
              <a:t>comparação</a:t>
            </a:r>
            <a:r>
              <a:rPr sz="2000" dirty="0"/>
              <a:t> </a:t>
            </a:r>
            <a:r>
              <a:rPr sz="2000" dirty="0" err="1"/>
              <a:t>direta</a:t>
            </a:r>
            <a:r>
              <a:rPr sz="2000" dirty="0"/>
              <a:t> entre campos TIME </a:t>
            </a:r>
            <a:r>
              <a:rPr sz="2000" dirty="0" err="1"/>
              <a:t>quando</a:t>
            </a:r>
            <a:r>
              <a:rPr sz="2000" dirty="0"/>
              <a:t> </a:t>
            </a:r>
            <a:r>
              <a:rPr sz="2000" dirty="0" err="1"/>
              <a:t>há</a:t>
            </a:r>
            <a:r>
              <a:rPr sz="2000" dirty="0"/>
              <a:t> </a:t>
            </a:r>
            <a:r>
              <a:rPr sz="2000" dirty="0" err="1"/>
              <a:t>passagem</a:t>
            </a:r>
            <a:r>
              <a:rPr sz="2000" dirty="0"/>
              <a:t> de 23h para 00h.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D87"/>
                </a:solidFill>
              </a:defRPr>
            </a:pPr>
            <a:r>
              <a:t>Projeto SPTrans – Sambaíba | Base sptrans_uc6.sql | Slide 12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5D0C49F7-4205-38E8-E251-486195285A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45422" y="0"/>
            <a:ext cx="1484212" cy="148421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71000">
              <a:schemeClr val="bg2">
                <a:tint val="80000"/>
                <a:satMod val="300000"/>
              </a:schemeClr>
            </a:gs>
            <a:gs pos="47000">
              <a:schemeClr val="bg2">
                <a:shade val="30000"/>
                <a:satMod val="20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167896" y="320040"/>
            <a:ext cx="382572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12. Query 9 – Ida x Volta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73757" y="932688"/>
            <a:ext cx="575914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5F69"/>
                </a:solidFill>
              </a:defRPr>
            </a:pPr>
            <a:r>
              <a:rPr sz="2000" dirty="0" err="1"/>
              <a:t>Compara</a:t>
            </a:r>
            <a:r>
              <a:rPr sz="2000" dirty="0"/>
              <a:t> a </a:t>
            </a:r>
            <a:r>
              <a:rPr sz="2000" dirty="0" err="1"/>
              <a:t>média</a:t>
            </a:r>
            <a:r>
              <a:rPr sz="2000" dirty="0"/>
              <a:t> de </a:t>
            </a:r>
            <a:r>
              <a:rPr sz="2000" dirty="0" err="1"/>
              <a:t>diferença</a:t>
            </a:r>
            <a:r>
              <a:rPr sz="2000" dirty="0"/>
              <a:t> de </a:t>
            </a:r>
            <a:r>
              <a:rPr sz="2000" dirty="0" err="1"/>
              <a:t>horário</a:t>
            </a:r>
            <a:r>
              <a:rPr sz="2000" dirty="0"/>
              <a:t> </a:t>
            </a:r>
            <a:r>
              <a:rPr sz="2000" dirty="0" err="1"/>
              <a:t>por</a:t>
            </a:r>
            <a:r>
              <a:rPr sz="2000" dirty="0"/>
              <a:t> </a:t>
            </a:r>
            <a:r>
              <a:rPr sz="2000" dirty="0" err="1"/>
              <a:t>sentido</a:t>
            </a:r>
            <a:endParaRPr sz="2000" dirty="0"/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23281"/>
              </p:ext>
            </p:extLst>
          </p:nvPr>
        </p:nvGraphicFramePr>
        <p:xfrm>
          <a:off x="6464018" y="1503854"/>
          <a:ext cx="49377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90222" y="2428389"/>
            <a:ext cx="539496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rPr sz="2000" dirty="0"/>
              <a:t>Ida: -0.67 min.</a:t>
            </a:r>
          </a:p>
          <a:p>
            <a:pPr>
              <a:spcAft>
                <a:spcPts val="1000"/>
              </a:spcAft>
              <a:defRPr sz="1600"/>
            </a:pPr>
            <a:r>
              <a:rPr sz="2000" dirty="0"/>
              <a:t>Volta: 10.36 min.</a:t>
            </a:r>
          </a:p>
          <a:p>
            <a:pPr>
              <a:spcAft>
                <a:spcPts val="1000"/>
              </a:spcAft>
              <a:defRPr sz="1600"/>
            </a:pPr>
            <a:r>
              <a:rPr sz="2000" dirty="0"/>
              <a:t>Na </a:t>
            </a:r>
            <a:r>
              <a:rPr sz="2000" dirty="0" err="1"/>
              <a:t>execução</a:t>
            </a:r>
            <a:r>
              <a:rPr sz="2000" dirty="0"/>
              <a:t> </a:t>
            </a:r>
            <a:r>
              <a:rPr sz="2000" dirty="0" err="1"/>
              <a:t>baseada</a:t>
            </a:r>
            <a:r>
              <a:rPr sz="2000" dirty="0"/>
              <a:t> no </a:t>
            </a:r>
            <a:r>
              <a:rPr sz="2000" dirty="0" err="1"/>
              <a:t>arquivo</a:t>
            </a:r>
            <a:r>
              <a:rPr sz="2000" dirty="0"/>
              <a:t>, a volta </a:t>
            </a:r>
            <a:r>
              <a:rPr sz="2000" dirty="0" err="1"/>
              <a:t>apresenta</a:t>
            </a:r>
            <a:r>
              <a:rPr sz="2000" dirty="0"/>
              <a:t> </a:t>
            </a:r>
            <a:r>
              <a:rPr sz="2000" dirty="0" err="1"/>
              <a:t>média</a:t>
            </a:r>
            <a:r>
              <a:rPr sz="2000" dirty="0"/>
              <a:t> </a:t>
            </a:r>
            <a:r>
              <a:rPr sz="2000" dirty="0" err="1"/>
              <a:t>calculada</a:t>
            </a:r>
            <a:r>
              <a:rPr sz="2000" dirty="0"/>
              <a:t> superior à </a:t>
            </a:r>
            <a:r>
              <a:rPr sz="2000" dirty="0" err="1"/>
              <a:t>ida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600"/>
            </a:pPr>
            <a:r>
              <a:rPr sz="2000" dirty="0"/>
              <a:t>O </a:t>
            </a:r>
            <a:r>
              <a:rPr sz="2000" dirty="0" err="1"/>
              <a:t>resultado</a:t>
            </a:r>
            <a:r>
              <a:rPr sz="2000" dirty="0"/>
              <a:t> </a:t>
            </a:r>
            <a:r>
              <a:rPr sz="2000" dirty="0" err="1"/>
              <a:t>deve</a:t>
            </a:r>
            <a:r>
              <a:rPr sz="2000" dirty="0"/>
              <a:t> ser </a:t>
            </a:r>
            <a:r>
              <a:rPr sz="2000" dirty="0" err="1"/>
              <a:t>interpretado</a:t>
            </a:r>
            <a:r>
              <a:rPr sz="2000" dirty="0"/>
              <a:t> com a </a:t>
            </a:r>
            <a:r>
              <a:rPr sz="2000" dirty="0" err="1"/>
              <a:t>mesma</a:t>
            </a:r>
            <a:r>
              <a:rPr sz="2000" dirty="0"/>
              <a:t> </a:t>
            </a:r>
            <a:r>
              <a:rPr sz="2000" dirty="0" err="1"/>
              <a:t>ressalva</a:t>
            </a:r>
            <a:r>
              <a:rPr sz="2000" dirty="0"/>
              <a:t> dos </a:t>
            </a:r>
            <a:r>
              <a:rPr sz="2000" dirty="0" err="1"/>
              <a:t>horários</a:t>
            </a:r>
            <a:r>
              <a:rPr sz="2000" dirty="0"/>
              <a:t> </a:t>
            </a:r>
            <a:r>
              <a:rPr sz="2000" dirty="0" err="1"/>
              <a:t>que</a:t>
            </a:r>
            <a:r>
              <a:rPr sz="2000" dirty="0"/>
              <a:t> </a:t>
            </a:r>
            <a:r>
              <a:rPr sz="2000" dirty="0" err="1"/>
              <a:t>atravessam</a:t>
            </a:r>
            <a:r>
              <a:rPr sz="2000" dirty="0"/>
              <a:t> a </a:t>
            </a:r>
            <a:r>
              <a:rPr sz="2000" dirty="0" err="1"/>
              <a:t>meia-noite</a:t>
            </a:r>
            <a:r>
              <a:rPr sz="2000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D87"/>
                </a:solidFill>
              </a:defRPr>
            </a:pPr>
            <a:r>
              <a:t>Projeto SPTrans – Sambaíba | Base sptrans_uc6.sql | Slide 13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9A391BBB-B90A-CA04-966F-8A176E5E7C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45422" y="0"/>
            <a:ext cx="1484212" cy="148421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1000">
              <a:schemeClr val="accent1">
                <a:lumMod val="0"/>
                <a:lumOff val="100000"/>
              </a:schemeClr>
            </a:gs>
            <a:gs pos="49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49197" y="320040"/>
            <a:ext cx="626312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13. Query 10 – </a:t>
            </a:r>
            <a:r>
              <a:rPr dirty="0" err="1"/>
              <a:t>Média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tipo</a:t>
            </a:r>
            <a:r>
              <a:rPr dirty="0"/>
              <a:t> de </a:t>
            </a:r>
            <a:r>
              <a:rPr dirty="0" err="1"/>
              <a:t>veículo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766195" y="932688"/>
            <a:ext cx="457426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5F69"/>
                </a:solidFill>
              </a:defRPr>
            </a:pPr>
            <a:r>
              <a:rPr sz="2000" dirty="0" err="1"/>
              <a:t>Relaciona</a:t>
            </a:r>
            <a:r>
              <a:rPr sz="2000" dirty="0"/>
              <a:t> </a:t>
            </a:r>
            <a:r>
              <a:rPr sz="2000" dirty="0" err="1"/>
              <a:t>operação</a:t>
            </a:r>
            <a:r>
              <a:rPr sz="2000" dirty="0"/>
              <a:t> e </a:t>
            </a:r>
            <a:r>
              <a:rPr sz="2000" dirty="0" err="1"/>
              <a:t>cadastro</a:t>
            </a:r>
            <a:r>
              <a:rPr sz="2000" dirty="0"/>
              <a:t> de </a:t>
            </a:r>
            <a:r>
              <a:rPr sz="2000" dirty="0" err="1"/>
              <a:t>veículos</a:t>
            </a:r>
            <a:endParaRPr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566928" y="1782822"/>
            <a:ext cx="5486400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rPr sz="2000" dirty="0" err="1"/>
              <a:t>Resultado</a:t>
            </a:r>
            <a:r>
              <a:rPr sz="2000" dirty="0"/>
              <a:t> no conjunto </a:t>
            </a:r>
            <a:r>
              <a:rPr sz="2000" dirty="0" err="1"/>
              <a:t>operacional</a:t>
            </a:r>
            <a:r>
              <a:rPr sz="2000" dirty="0"/>
              <a:t>: </a:t>
            </a:r>
            <a:r>
              <a:rPr sz="2000" dirty="0" err="1"/>
              <a:t>Convencional</a:t>
            </a:r>
            <a:r>
              <a:rPr sz="2000" dirty="0"/>
              <a:t> – 4.85 min.</a:t>
            </a:r>
          </a:p>
          <a:p>
            <a:pPr>
              <a:spcAft>
                <a:spcPts val="1000"/>
              </a:spcAft>
              <a:defRPr sz="1500"/>
            </a:pPr>
            <a:r>
              <a:rPr sz="2000" dirty="0"/>
              <a:t>A query </a:t>
            </a:r>
            <a:r>
              <a:rPr sz="2000" dirty="0" err="1"/>
              <a:t>faz</a:t>
            </a:r>
            <a:r>
              <a:rPr sz="2000" dirty="0"/>
              <a:t> JOIN entre </a:t>
            </a:r>
            <a:r>
              <a:rPr sz="2000" dirty="0" err="1"/>
              <a:t>operacao</a:t>
            </a:r>
            <a:r>
              <a:rPr sz="2000" dirty="0"/>
              <a:t> e </a:t>
            </a:r>
            <a:r>
              <a:rPr sz="2000" dirty="0" err="1"/>
              <a:t>veiculo</a:t>
            </a:r>
            <a:r>
              <a:rPr sz="2000" dirty="0"/>
              <a:t> </a:t>
            </a:r>
            <a:r>
              <a:rPr sz="2000" dirty="0" err="1"/>
              <a:t>pelo</a:t>
            </a:r>
            <a:r>
              <a:rPr sz="2000" dirty="0"/>
              <a:t> </a:t>
            </a:r>
            <a:r>
              <a:rPr sz="2000" dirty="0" err="1"/>
              <a:t>id_veiculo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500"/>
            </a:pPr>
            <a:r>
              <a:rPr sz="2000" dirty="0"/>
              <a:t>No </a:t>
            </a:r>
            <a:r>
              <a:rPr sz="2000" dirty="0" err="1"/>
              <a:t>arquivo</a:t>
            </a:r>
            <a:r>
              <a:rPr sz="2000" dirty="0"/>
              <a:t>, </a:t>
            </a:r>
            <a:r>
              <a:rPr sz="2000" dirty="0" err="1"/>
              <a:t>os</a:t>
            </a:r>
            <a:r>
              <a:rPr sz="2000" dirty="0"/>
              <a:t> </a:t>
            </a:r>
            <a:r>
              <a:rPr sz="2000" dirty="0" err="1"/>
              <a:t>registros</a:t>
            </a:r>
            <a:r>
              <a:rPr sz="2000" dirty="0"/>
              <a:t> de </a:t>
            </a:r>
            <a:r>
              <a:rPr sz="2000" dirty="0" err="1"/>
              <a:t>operação</a:t>
            </a:r>
            <a:r>
              <a:rPr sz="2000" dirty="0"/>
              <a:t> </a:t>
            </a:r>
            <a:r>
              <a:rPr sz="2000" dirty="0" err="1"/>
              <a:t>utilizam</a:t>
            </a:r>
            <a:r>
              <a:rPr sz="2000" dirty="0"/>
              <a:t> </a:t>
            </a:r>
            <a:r>
              <a:rPr sz="2000" dirty="0" err="1"/>
              <a:t>os</a:t>
            </a:r>
            <a:r>
              <a:rPr sz="2000" dirty="0"/>
              <a:t> </a:t>
            </a:r>
            <a:r>
              <a:rPr sz="2000" dirty="0" err="1"/>
              <a:t>primeiros</a:t>
            </a:r>
            <a:r>
              <a:rPr sz="2000" dirty="0"/>
              <a:t> </a:t>
            </a:r>
            <a:r>
              <a:rPr sz="2000" dirty="0" err="1"/>
              <a:t>veículos</a:t>
            </a:r>
            <a:r>
              <a:rPr sz="2000" dirty="0"/>
              <a:t> </a:t>
            </a:r>
            <a:r>
              <a:rPr sz="2000" dirty="0" err="1"/>
              <a:t>cadastrados</a:t>
            </a:r>
            <a:r>
              <a:rPr sz="2000" dirty="0"/>
              <a:t>, </a:t>
            </a:r>
            <a:r>
              <a:rPr sz="2000" dirty="0" err="1"/>
              <a:t>classificados</a:t>
            </a:r>
            <a:r>
              <a:rPr sz="2000" dirty="0"/>
              <a:t> </a:t>
            </a:r>
            <a:r>
              <a:rPr sz="2000" dirty="0" err="1"/>
              <a:t>como</a:t>
            </a:r>
            <a:r>
              <a:rPr sz="2000" dirty="0"/>
              <a:t> </a:t>
            </a:r>
            <a:r>
              <a:rPr sz="2000" dirty="0" err="1"/>
              <a:t>Convencional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500"/>
            </a:pPr>
            <a:r>
              <a:rPr sz="2000" dirty="0"/>
              <a:t>Por </a:t>
            </a:r>
            <a:r>
              <a:rPr sz="2000" dirty="0" err="1"/>
              <a:t>isso</a:t>
            </a:r>
            <a:r>
              <a:rPr sz="2000" dirty="0"/>
              <a:t>, </a:t>
            </a:r>
            <a:r>
              <a:rPr sz="2000" dirty="0" err="1"/>
              <a:t>tipos</a:t>
            </a:r>
            <a:r>
              <a:rPr sz="2000" dirty="0"/>
              <a:t> </a:t>
            </a:r>
            <a:r>
              <a:rPr sz="2000" dirty="0" err="1"/>
              <a:t>como</a:t>
            </a:r>
            <a:r>
              <a:rPr sz="2000" dirty="0"/>
              <a:t> </a:t>
            </a:r>
            <a:r>
              <a:rPr sz="2000" dirty="0" err="1"/>
              <a:t>Articulado</a:t>
            </a:r>
            <a:r>
              <a:rPr sz="2000" dirty="0"/>
              <a:t>, Micro e </a:t>
            </a:r>
            <a:r>
              <a:rPr sz="2000" dirty="0" err="1"/>
              <a:t>Elétrico</a:t>
            </a:r>
            <a:r>
              <a:rPr sz="2000" dirty="0"/>
              <a:t> </a:t>
            </a:r>
            <a:r>
              <a:rPr sz="2000" dirty="0" err="1"/>
              <a:t>não</a:t>
            </a:r>
            <a:r>
              <a:rPr sz="2000" dirty="0"/>
              <a:t> </a:t>
            </a:r>
            <a:r>
              <a:rPr sz="2000" dirty="0" err="1"/>
              <a:t>aparecem</a:t>
            </a:r>
            <a:r>
              <a:rPr sz="2000" dirty="0"/>
              <a:t> </a:t>
            </a:r>
            <a:r>
              <a:rPr sz="2000" dirty="0" err="1"/>
              <a:t>nessa</a:t>
            </a:r>
            <a:r>
              <a:rPr sz="2000" dirty="0"/>
              <a:t> </a:t>
            </a:r>
            <a:r>
              <a:rPr sz="2000" dirty="0" err="1"/>
              <a:t>média</a:t>
            </a:r>
            <a:r>
              <a:rPr sz="2000" dirty="0"/>
              <a:t> da </a:t>
            </a:r>
            <a:r>
              <a:rPr sz="2000" dirty="0" err="1"/>
              <a:t>operação</a:t>
            </a:r>
            <a:r>
              <a:rPr sz="2000" dirty="0"/>
              <a:t>, </a:t>
            </a:r>
            <a:r>
              <a:rPr sz="2000" dirty="0" err="1"/>
              <a:t>apesar</a:t>
            </a:r>
            <a:r>
              <a:rPr sz="2000" dirty="0"/>
              <a:t> de </a:t>
            </a:r>
            <a:r>
              <a:rPr sz="2000" dirty="0" err="1"/>
              <a:t>existirem</a:t>
            </a:r>
            <a:r>
              <a:rPr sz="2000" dirty="0"/>
              <a:t> no </a:t>
            </a:r>
            <a:r>
              <a:rPr sz="2000" dirty="0" err="1"/>
              <a:t>cadastro</a:t>
            </a:r>
            <a:r>
              <a:rPr sz="2000" dirty="0"/>
              <a:t>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823609"/>
              </p:ext>
            </p:extLst>
          </p:nvPr>
        </p:nvGraphicFramePr>
        <p:xfrm>
          <a:off x="6053328" y="1677508"/>
          <a:ext cx="5256751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D87"/>
                </a:solidFill>
              </a:defRPr>
            </a:pPr>
            <a:r>
              <a:t>Projeto SPTrans – Sambaíba | Base sptrans_uc6.sql | Slide 14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D0FEC709-8A24-AC50-E468-DE3E7C5EC8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45422" y="0"/>
            <a:ext cx="1484212" cy="148421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flip="none" rotWithShape="1">
          <a:gsLst>
            <a:gs pos="86000">
              <a:schemeClr val="bg2">
                <a:tint val="80000"/>
                <a:satMod val="300000"/>
              </a:schemeClr>
            </a:gs>
            <a:gs pos="92000">
              <a:schemeClr val="bg2">
                <a:shade val="30000"/>
                <a:satMod val="20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31407" y="562895"/>
            <a:ext cx="369870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1</a:t>
            </a:r>
            <a:r>
              <a:rPr lang="pt-BR" dirty="0"/>
              <a:t>4. </a:t>
            </a:r>
            <a:r>
              <a:rPr lang="pt-BR" sz="2800" dirty="0"/>
              <a:t>Os dados utilizados: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D87"/>
                </a:solidFill>
              </a:defRPr>
            </a:pPr>
            <a:r>
              <a:t>Projeto SPTrans – Sambaíba | Base sptrans_uc6.sql | Slide 15</a:t>
            </a: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979A7334-F847-BD53-B155-BACC4701F1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645422" y="0"/>
            <a:ext cx="1484212" cy="1484212"/>
          </a:xfrm>
          <a:prstGeom prst="rect">
            <a:avLst/>
          </a:prstGeom>
        </p:spPr>
      </p:pic>
      <p:sp>
        <p:nvSpPr>
          <p:cNvPr id="10" name="TextBox 3">
            <a:extLst>
              <a:ext uri="{FF2B5EF4-FFF2-40B4-BE49-F238E27FC236}">
                <a16:creationId xmlns:a16="http://schemas.microsoft.com/office/drawing/2014/main" id="{0BDA790D-468E-FA96-2785-2D8C0346DDE8}"/>
              </a:ext>
            </a:extLst>
          </p:cNvPr>
          <p:cNvSpPr txBox="1"/>
          <p:nvPr/>
        </p:nvSpPr>
        <p:spPr>
          <a:xfrm>
            <a:off x="1197930" y="1457458"/>
            <a:ext cx="979114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800" dirty="0"/>
              <a:t>Os dados utilizados no projeto são provenientes de fontes oficiais: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8FA5A4A-5716-5C94-7C03-1CCA8614B883}"/>
              </a:ext>
            </a:extLst>
          </p:cNvPr>
          <p:cNvSpPr txBox="1"/>
          <p:nvPr/>
        </p:nvSpPr>
        <p:spPr>
          <a:xfrm>
            <a:off x="1197930" y="2456535"/>
            <a:ext cx="9949720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pt-BR" sz="3600" dirty="0"/>
              <a:t>Bases públicas da SPTrans – Api SPTrans (GTFS e API OLHO VIVO) - download dia 28/07/26 última atualização as 11h39;</a:t>
            </a:r>
          </a:p>
          <a:p>
            <a:pPr lvl="0"/>
            <a:r>
              <a:rPr lang="pt-BR" sz="3600" dirty="0"/>
              <a:t>Portal de Dados Abertos da Prefeitura de São Paulo.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</a:pPr>
            <a:endParaRPr lang="pt-BR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flip="none" rotWithShape="1">
          <a:gsLst>
            <a:gs pos="86000">
              <a:schemeClr val="bg2">
                <a:tint val="80000"/>
                <a:satMod val="300000"/>
              </a:schemeClr>
            </a:gs>
            <a:gs pos="92000">
              <a:schemeClr val="bg2">
                <a:shade val="30000"/>
                <a:satMod val="20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389BEA-C3E9-F0CD-5C62-23DE0DB32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9185C4-9C42-025B-C5A2-9AE78ED4D883}"/>
              </a:ext>
            </a:extLst>
          </p:cNvPr>
          <p:cNvSpPr txBox="1"/>
          <p:nvPr/>
        </p:nvSpPr>
        <p:spPr>
          <a:xfrm>
            <a:off x="4222117" y="-78730"/>
            <a:ext cx="404707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1</a:t>
            </a:r>
            <a:r>
              <a:rPr lang="pt-BR"/>
              <a:t>5</a:t>
            </a:r>
            <a:r>
              <a:t>. Síntese dos resultados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8E8A8C-1DCC-9302-8A1E-98408B9DD535}"/>
              </a:ext>
            </a:extLst>
          </p:cNvPr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D87"/>
                </a:solidFill>
              </a:defRPr>
            </a:pPr>
            <a:r>
              <a:t>Projeto SPTrans – Sambaíba | Base sptrans_uc6.sql | Slide 15</a:t>
            </a: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D345E1F6-FAAC-CF18-5D6D-47EE022EF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645422" y="0"/>
            <a:ext cx="1484212" cy="1484212"/>
          </a:xfrm>
          <a:prstGeom prst="rect">
            <a:avLst/>
          </a:prstGeom>
        </p:spPr>
      </p:pic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DC08C764-AC32-0035-04B3-87D453C86C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882280"/>
              </p:ext>
            </p:extLst>
          </p:nvPr>
        </p:nvGraphicFramePr>
        <p:xfrm>
          <a:off x="0" y="0"/>
          <a:ext cx="12191999" cy="68579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33295">
                  <a:extLst>
                    <a:ext uri="{9D8B030D-6E8A-4147-A177-3AD203B41FA5}">
                      <a16:colId xmlns:a16="http://schemas.microsoft.com/office/drawing/2014/main" val="4241782154"/>
                    </a:ext>
                  </a:extLst>
                </a:gridCol>
                <a:gridCol w="2581047">
                  <a:extLst>
                    <a:ext uri="{9D8B030D-6E8A-4147-A177-3AD203B41FA5}">
                      <a16:colId xmlns:a16="http://schemas.microsoft.com/office/drawing/2014/main" val="3413288872"/>
                    </a:ext>
                  </a:extLst>
                </a:gridCol>
                <a:gridCol w="2581047">
                  <a:extLst>
                    <a:ext uri="{9D8B030D-6E8A-4147-A177-3AD203B41FA5}">
                      <a16:colId xmlns:a16="http://schemas.microsoft.com/office/drawing/2014/main" val="2696762377"/>
                    </a:ext>
                  </a:extLst>
                </a:gridCol>
                <a:gridCol w="1974581">
                  <a:extLst>
                    <a:ext uri="{9D8B030D-6E8A-4147-A177-3AD203B41FA5}">
                      <a16:colId xmlns:a16="http://schemas.microsoft.com/office/drawing/2014/main" val="2480974965"/>
                    </a:ext>
                  </a:extLst>
                </a:gridCol>
                <a:gridCol w="1571690">
                  <a:extLst>
                    <a:ext uri="{9D8B030D-6E8A-4147-A177-3AD203B41FA5}">
                      <a16:colId xmlns:a16="http://schemas.microsoft.com/office/drawing/2014/main" val="1437005672"/>
                    </a:ext>
                  </a:extLst>
                </a:gridCol>
                <a:gridCol w="1550339">
                  <a:extLst>
                    <a:ext uri="{9D8B030D-6E8A-4147-A177-3AD203B41FA5}">
                      <a16:colId xmlns:a16="http://schemas.microsoft.com/office/drawing/2014/main" val="85524675"/>
                    </a:ext>
                  </a:extLst>
                </a:gridCol>
              </a:tblGrid>
              <a:tr h="30430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dirty="0">
                          <a:effectLst/>
                        </a:rPr>
                        <a:t>Terminal</a:t>
                      </a:r>
                      <a:endParaRPr lang="pt-B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id_linha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dirty="0">
                          <a:effectLst/>
                        </a:rPr>
                        <a:t>Linha</a:t>
                      </a:r>
                      <a:endParaRPr lang="pt-B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Veículos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Viagens/ turno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Total/ dia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extLst>
                  <a:ext uri="{0D108BD9-81ED-4DB2-BD59-A6C34878D82A}">
                    <a16:rowId xmlns:a16="http://schemas.microsoft.com/office/drawing/2014/main" val="3995468756"/>
                  </a:ext>
                </a:extLst>
              </a:tr>
              <a:tr h="211409">
                <a:tc rowSpan="10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dirty="0">
                          <a:effectLst/>
                        </a:rPr>
                        <a:t>Santana</a:t>
                      </a:r>
                      <a:endParaRPr lang="pt-B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1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971C-10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7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63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extLst>
                  <a:ext uri="{0D108BD9-81ED-4DB2-BD59-A6C34878D82A}">
                    <a16:rowId xmlns:a16="http://schemas.microsoft.com/office/drawing/2014/main" val="341925329"/>
                  </a:ext>
                </a:extLst>
              </a:tr>
              <a:tr h="21140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2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971D-10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6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54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extLst>
                  <a:ext uri="{0D108BD9-81ED-4DB2-BD59-A6C34878D82A}">
                    <a16:rowId xmlns:a16="http://schemas.microsoft.com/office/drawing/2014/main" val="328607796"/>
                  </a:ext>
                </a:extLst>
              </a:tr>
              <a:tr h="21140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dirty="0">
                          <a:effectLst/>
                        </a:rPr>
                        <a:t>3</a:t>
                      </a:r>
                      <a:endParaRPr lang="pt-B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971M-10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8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72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extLst>
                  <a:ext uri="{0D108BD9-81ED-4DB2-BD59-A6C34878D82A}">
                    <a16:rowId xmlns:a16="http://schemas.microsoft.com/office/drawing/2014/main" val="2447853724"/>
                  </a:ext>
                </a:extLst>
              </a:tr>
              <a:tr h="21140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4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971R-10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9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81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extLst>
                  <a:ext uri="{0D108BD9-81ED-4DB2-BD59-A6C34878D82A}">
                    <a16:rowId xmlns:a16="http://schemas.microsoft.com/office/drawing/2014/main" val="611491523"/>
                  </a:ext>
                </a:extLst>
              </a:tr>
              <a:tr h="21140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dirty="0">
                          <a:effectLst/>
                        </a:rPr>
                        <a:t>5</a:t>
                      </a:r>
                      <a:endParaRPr lang="pt-B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174M-10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6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54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extLst>
                  <a:ext uri="{0D108BD9-81ED-4DB2-BD59-A6C34878D82A}">
                    <a16:rowId xmlns:a16="http://schemas.microsoft.com/office/drawing/2014/main" val="1794177816"/>
                  </a:ext>
                </a:extLst>
              </a:tr>
              <a:tr h="21140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6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175T-10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7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63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extLst>
                  <a:ext uri="{0D108BD9-81ED-4DB2-BD59-A6C34878D82A}">
                    <a16:rowId xmlns:a16="http://schemas.microsoft.com/office/drawing/2014/main" val="3448095225"/>
                  </a:ext>
                </a:extLst>
              </a:tr>
              <a:tr h="21140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dirty="0">
                          <a:effectLst/>
                        </a:rPr>
                        <a:t>7</a:t>
                      </a:r>
                      <a:endParaRPr lang="pt-B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178L-10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8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72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extLst>
                  <a:ext uri="{0D108BD9-81ED-4DB2-BD59-A6C34878D82A}">
                    <a16:rowId xmlns:a16="http://schemas.microsoft.com/office/drawing/2014/main" val="503059092"/>
                  </a:ext>
                </a:extLst>
              </a:tr>
              <a:tr h="21140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dirty="0">
                          <a:effectLst/>
                        </a:rPr>
                        <a:t>8</a:t>
                      </a:r>
                      <a:endParaRPr lang="pt-B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271M-10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7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63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extLst>
                  <a:ext uri="{0D108BD9-81ED-4DB2-BD59-A6C34878D82A}">
                    <a16:rowId xmlns:a16="http://schemas.microsoft.com/office/drawing/2014/main" val="3678947027"/>
                  </a:ext>
                </a:extLst>
              </a:tr>
              <a:tr h="21140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dirty="0">
                          <a:effectLst/>
                        </a:rPr>
                        <a:t>9</a:t>
                      </a:r>
                      <a:endParaRPr lang="pt-B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1726-10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6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54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extLst>
                  <a:ext uri="{0D108BD9-81ED-4DB2-BD59-A6C34878D82A}">
                    <a16:rowId xmlns:a16="http://schemas.microsoft.com/office/drawing/2014/main" val="280396679"/>
                  </a:ext>
                </a:extLst>
              </a:tr>
              <a:tr h="21140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10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1731-10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6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54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extLst>
                  <a:ext uri="{0D108BD9-81ED-4DB2-BD59-A6C34878D82A}">
                    <a16:rowId xmlns:a16="http://schemas.microsoft.com/office/drawing/2014/main" val="311720750"/>
                  </a:ext>
                </a:extLst>
              </a:tr>
              <a:tr h="211409">
                <a:tc rowSpan="10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Tucuruvi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dirty="0">
                          <a:effectLst/>
                        </a:rPr>
                        <a:t>11</a:t>
                      </a:r>
                      <a:endParaRPr lang="pt-B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971A-10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7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63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extLst>
                  <a:ext uri="{0D108BD9-81ED-4DB2-BD59-A6C34878D82A}">
                    <a16:rowId xmlns:a16="http://schemas.microsoft.com/office/drawing/2014/main" val="4140324626"/>
                  </a:ext>
                </a:extLst>
              </a:tr>
              <a:tr h="21140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12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971B-10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8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72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extLst>
                  <a:ext uri="{0D108BD9-81ED-4DB2-BD59-A6C34878D82A}">
                    <a16:rowId xmlns:a16="http://schemas.microsoft.com/office/drawing/2014/main" val="2839088902"/>
                  </a:ext>
                </a:extLst>
              </a:tr>
              <a:tr h="21140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dirty="0">
                          <a:effectLst/>
                        </a:rPr>
                        <a:t>13</a:t>
                      </a:r>
                      <a:endParaRPr lang="pt-B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dirty="0">
                          <a:effectLst/>
                        </a:rPr>
                        <a:t>971E-10</a:t>
                      </a:r>
                      <a:endParaRPr lang="pt-B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8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72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extLst>
                  <a:ext uri="{0D108BD9-81ED-4DB2-BD59-A6C34878D82A}">
                    <a16:rowId xmlns:a16="http://schemas.microsoft.com/office/drawing/2014/main" val="2228043136"/>
                  </a:ext>
                </a:extLst>
              </a:tr>
              <a:tr h="21140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14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dirty="0">
                          <a:effectLst/>
                        </a:rPr>
                        <a:t>971F-10</a:t>
                      </a:r>
                      <a:endParaRPr lang="pt-B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7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63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extLst>
                  <a:ext uri="{0D108BD9-81ED-4DB2-BD59-A6C34878D82A}">
                    <a16:rowId xmlns:a16="http://schemas.microsoft.com/office/drawing/2014/main" val="3810027424"/>
                  </a:ext>
                </a:extLst>
              </a:tr>
              <a:tr h="21140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15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971G-10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6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54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extLst>
                  <a:ext uri="{0D108BD9-81ED-4DB2-BD59-A6C34878D82A}">
                    <a16:rowId xmlns:a16="http://schemas.microsoft.com/office/drawing/2014/main" val="3872912292"/>
                  </a:ext>
                </a:extLst>
              </a:tr>
              <a:tr h="21140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16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dirty="0">
                          <a:effectLst/>
                        </a:rPr>
                        <a:t>971H-10</a:t>
                      </a:r>
                      <a:endParaRPr lang="pt-B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7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63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extLst>
                  <a:ext uri="{0D108BD9-81ED-4DB2-BD59-A6C34878D82A}">
                    <a16:rowId xmlns:a16="http://schemas.microsoft.com/office/drawing/2014/main" val="1063325295"/>
                  </a:ext>
                </a:extLst>
              </a:tr>
              <a:tr h="21140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17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971J-10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8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72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extLst>
                  <a:ext uri="{0D108BD9-81ED-4DB2-BD59-A6C34878D82A}">
                    <a16:rowId xmlns:a16="http://schemas.microsoft.com/office/drawing/2014/main" val="1203685336"/>
                  </a:ext>
                </a:extLst>
              </a:tr>
              <a:tr h="21140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18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971K-10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9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81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extLst>
                  <a:ext uri="{0D108BD9-81ED-4DB2-BD59-A6C34878D82A}">
                    <a16:rowId xmlns:a16="http://schemas.microsoft.com/office/drawing/2014/main" val="2196309394"/>
                  </a:ext>
                </a:extLst>
              </a:tr>
              <a:tr h="21140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19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dirty="0">
                          <a:effectLst/>
                        </a:rPr>
                        <a:t>972K-10</a:t>
                      </a:r>
                      <a:endParaRPr lang="pt-B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7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63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extLst>
                  <a:ext uri="{0D108BD9-81ED-4DB2-BD59-A6C34878D82A}">
                    <a16:rowId xmlns:a16="http://schemas.microsoft.com/office/drawing/2014/main" val="2518819060"/>
                  </a:ext>
                </a:extLst>
              </a:tr>
              <a:tr h="21140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20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972E-10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8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72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extLst>
                  <a:ext uri="{0D108BD9-81ED-4DB2-BD59-A6C34878D82A}">
                    <a16:rowId xmlns:a16="http://schemas.microsoft.com/office/drawing/2014/main" val="4159097650"/>
                  </a:ext>
                </a:extLst>
              </a:tr>
              <a:tr h="211409">
                <a:tc row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Jaçanã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21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971L-10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8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72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extLst>
                  <a:ext uri="{0D108BD9-81ED-4DB2-BD59-A6C34878D82A}">
                    <a16:rowId xmlns:a16="http://schemas.microsoft.com/office/drawing/2014/main" val="1391937111"/>
                  </a:ext>
                </a:extLst>
              </a:tr>
              <a:tr h="21140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22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dirty="0">
                          <a:effectLst/>
                        </a:rPr>
                        <a:t>971M-10</a:t>
                      </a:r>
                      <a:endParaRPr lang="pt-B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8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72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extLst>
                  <a:ext uri="{0D108BD9-81ED-4DB2-BD59-A6C34878D82A}">
                    <a16:rowId xmlns:a16="http://schemas.microsoft.com/office/drawing/2014/main" val="3144856935"/>
                  </a:ext>
                </a:extLst>
              </a:tr>
              <a:tr h="21140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23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971N-10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7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63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extLst>
                  <a:ext uri="{0D108BD9-81ED-4DB2-BD59-A6C34878D82A}">
                    <a16:rowId xmlns:a16="http://schemas.microsoft.com/office/drawing/2014/main" val="854111406"/>
                  </a:ext>
                </a:extLst>
              </a:tr>
              <a:tr h="21140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24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971P-10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7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63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extLst>
                  <a:ext uri="{0D108BD9-81ED-4DB2-BD59-A6C34878D82A}">
                    <a16:rowId xmlns:a16="http://schemas.microsoft.com/office/drawing/2014/main" val="1352789247"/>
                  </a:ext>
                </a:extLst>
              </a:tr>
              <a:tr h="21140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25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dirty="0">
                          <a:effectLst/>
                        </a:rPr>
                        <a:t>973K-10</a:t>
                      </a:r>
                      <a:endParaRPr lang="pt-B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7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63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extLst>
                  <a:ext uri="{0D108BD9-81ED-4DB2-BD59-A6C34878D82A}">
                    <a16:rowId xmlns:a16="http://schemas.microsoft.com/office/drawing/2014/main" val="960586447"/>
                  </a:ext>
                </a:extLst>
              </a:tr>
              <a:tr h="211409">
                <a:tc row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Casa Verde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26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972A-10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dirty="0">
                          <a:effectLst/>
                        </a:rPr>
                        <a:t>7</a:t>
                      </a:r>
                      <a:endParaRPr lang="pt-B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63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extLst>
                  <a:ext uri="{0D108BD9-81ED-4DB2-BD59-A6C34878D82A}">
                    <a16:rowId xmlns:a16="http://schemas.microsoft.com/office/drawing/2014/main" val="573191560"/>
                  </a:ext>
                </a:extLst>
              </a:tr>
              <a:tr h="21140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27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972B-10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7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63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extLst>
                  <a:ext uri="{0D108BD9-81ED-4DB2-BD59-A6C34878D82A}">
                    <a16:rowId xmlns:a16="http://schemas.microsoft.com/office/drawing/2014/main" val="2208606586"/>
                  </a:ext>
                </a:extLst>
              </a:tr>
              <a:tr h="21140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28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972C-10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dirty="0">
                          <a:effectLst/>
                        </a:rPr>
                        <a:t>8</a:t>
                      </a:r>
                      <a:endParaRPr lang="pt-B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72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extLst>
                  <a:ext uri="{0D108BD9-81ED-4DB2-BD59-A6C34878D82A}">
                    <a16:rowId xmlns:a16="http://schemas.microsoft.com/office/drawing/2014/main" val="2773012693"/>
                  </a:ext>
                </a:extLst>
              </a:tr>
              <a:tr h="21140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29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972D-10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dirty="0">
                          <a:effectLst/>
                        </a:rPr>
                        <a:t>6</a:t>
                      </a:r>
                      <a:endParaRPr lang="pt-B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54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extLst>
                  <a:ext uri="{0D108BD9-81ED-4DB2-BD59-A6C34878D82A}">
                    <a16:rowId xmlns:a16="http://schemas.microsoft.com/office/drawing/2014/main" val="3256497318"/>
                  </a:ext>
                </a:extLst>
              </a:tr>
              <a:tr h="211409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30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972F-10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7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63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extLst>
                  <a:ext uri="{0D108BD9-81ED-4DB2-BD59-A6C34878D82A}">
                    <a16:rowId xmlns:a16="http://schemas.microsoft.com/office/drawing/2014/main" val="3957772814"/>
                  </a:ext>
                </a:extLst>
              </a:tr>
              <a:tr h="2114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TOTAIS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30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-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>
                          <a:effectLst/>
                        </a:rPr>
                        <a:t>217</a:t>
                      </a:r>
                      <a:endParaRPr lang="pt-B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dirty="0">
                          <a:effectLst/>
                        </a:rPr>
                        <a:t>-</a:t>
                      </a:r>
                      <a:endParaRPr lang="pt-B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dirty="0">
                          <a:effectLst/>
                        </a:rPr>
                        <a:t>1830</a:t>
                      </a:r>
                      <a:endParaRPr lang="pt-B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84" marR="6384" marT="6384" marB="6384" anchor="ctr"/>
                </a:tc>
                <a:extLst>
                  <a:ext uri="{0D108BD9-81ED-4DB2-BD59-A6C34878D82A}">
                    <a16:rowId xmlns:a16="http://schemas.microsoft.com/office/drawing/2014/main" val="3232651877"/>
                  </a:ext>
                </a:extLst>
              </a:tr>
            </a:tbl>
          </a:graphicData>
        </a:graphic>
      </p:graphicFrame>
      <p:pic>
        <p:nvPicPr>
          <p:cNvPr id="10" name="Gráfico 9">
            <a:extLst>
              <a:ext uri="{FF2B5EF4-FFF2-40B4-BE49-F238E27FC236}">
                <a16:creationId xmlns:a16="http://schemas.microsoft.com/office/drawing/2014/main" id="{59EBB383-388C-91D7-A2B4-E6A6320731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84786" y="-78730"/>
            <a:ext cx="1484212" cy="148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4971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flip="none" rotWithShape="1">
          <a:gsLst>
            <a:gs pos="86000">
              <a:schemeClr val="bg2">
                <a:tint val="80000"/>
                <a:satMod val="300000"/>
              </a:schemeClr>
            </a:gs>
            <a:gs pos="92000">
              <a:schemeClr val="bg2">
                <a:shade val="30000"/>
                <a:satMod val="20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85EF0A-91FE-BCC3-E5A0-1DA370469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28D106-8D26-DFA2-9FAE-590D40230852}"/>
              </a:ext>
            </a:extLst>
          </p:cNvPr>
          <p:cNvSpPr txBox="1"/>
          <p:nvPr/>
        </p:nvSpPr>
        <p:spPr>
          <a:xfrm>
            <a:off x="4057225" y="320040"/>
            <a:ext cx="404707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1</a:t>
            </a:r>
            <a:r>
              <a:rPr lang="pt-BR" dirty="0"/>
              <a:t>5</a:t>
            </a:r>
            <a:r>
              <a:rPr dirty="0"/>
              <a:t>. </a:t>
            </a:r>
            <a:r>
              <a:rPr dirty="0" err="1"/>
              <a:t>Síntese</a:t>
            </a:r>
            <a:r>
              <a:rPr dirty="0"/>
              <a:t> dos </a:t>
            </a:r>
            <a:r>
              <a:rPr dirty="0" err="1"/>
              <a:t>resultados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E7F65C-DECF-1D64-EF5C-8D420216DB06}"/>
              </a:ext>
            </a:extLst>
          </p:cNvPr>
          <p:cNvSpPr txBox="1"/>
          <p:nvPr/>
        </p:nvSpPr>
        <p:spPr>
          <a:xfrm>
            <a:off x="3147540" y="1096253"/>
            <a:ext cx="589661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5F69"/>
                </a:solidFill>
              </a:defRPr>
            </a:pPr>
            <a:r>
              <a:rPr sz="2000" dirty="0"/>
              <a:t>O </a:t>
            </a:r>
            <a:r>
              <a:rPr sz="2000" dirty="0" err="1"/>
              <a:t>que</a:t>
            </a:r>
            <a:r>
              <a:rPr sz="2000" dirty="0"/>
              <a:t> as queries </a:t>
            </a:r>
            <a:r>
              <a:rPr sz="2000" dirty="0" err="1"/>
              <a:t>permitem</a:t>
            </a:r>
            <a:r>
              <a:rPr sz="2000" dirty="0"/>
              <a:t> </a:t>
            </a:r>
            <a:r>
              <a:rPr sz="2000" dirty="0" err="1"/>
              <a:t>concluir</a:t>
            </a:r>
            <a:r>
              <a:rPr sz="2000" dirty="0"/>
              <a:t> a </a:t>
            </a:r>
            <a:r>
              <a:rPr sz="2000" dirty="0" err="1"/>
              <a:t>partir</a:t>
            </a:r>
            <a:r>
              <a:rPr sz="2000" dirty="0"/>
              <a:t> do </a:t>
            </a:r>
            <a:r>
              <a:rPr sz="2000" dirty="0" err="1"/>
              <a:t>arquivo</a:t>
            </a:r>
            <a:endParaRPr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9E59E3-A36F-AE40-D1FF-1863ED64E65C}"/>
              </a:ext>
            </a:extLst>
          </p:cNvPr>
          <p:cNvSpPr txBox="1"/>
          <p:nvPr/>
        </p:nvSpPr>
        <p:spPr>
          <a:xfrm>
            <a:off x="838047" y="2005919"/>
            <a:ext cx="1051560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rPr sz="2000" dirty="0"/>
              <a:t>A base </a:t>
            </a:r>
            <a:r>
              <a:rPr sz="2000" dirty="0" err="1"/>
              <a:t>permite</a:t>
            </a:r>
            <a:r>
              <a:rPr sz="2000" dirty="0"/>
              <a:t> </a:t>
            </a:r>
            <a:r>
              <a:rPr sz="2000" dirty="0" err="1"/>
              <a:t>analisar</a:t>
            </a:r>
            <a:r>
              <a:rPr sz="2000" dirty="0"/>
              <a:t> </a:t>
            </a:r>
            <a:r>
              <a:rPr sz="2000" dirty="0" err="1"/>
              <a:t>pontualidade</a:t>
            </a:r>
            <a:r>
              <a:rPr sz="2000" dirty="0"/>
              <a:t> </a:t>
            </a:r>
            <a:r>
              <a:rPr sz="2000" dirty="0" err="1"/>
              <a:t>por</a:t>
            </a:r>
            <a:r>
              <a:rPr sz="2000" dirty="0"/>
              <a:t> </a:t>
            </a:r>
            <a:r>
              <a:rPr sz="2000" dirty="0" err="1"/>
              <a:t>linha</a:t>
            </a:r>
            <a:r>
              <a:rPr sz="2000" dirty="0"/>
              <a:t>, </a:t>
            </a:r>
            <a:r>
              <a:rPr sz="2000" dirty="0" err="1"/>
              <a:t>horário</a:t>
            </a:r>
            <a:r>
              <a:rPr sz="2000" dirty="0"/>
              <a:t>, </a:t>
            </a:r>
            <a:r>
              <a:rPr sz="2000" dirty="0" err="1"/>
              <a:t>sentido</a:t>
            </a:r>
            <a:r>
              <a:rPr sz="2000" dirty="0"/>
              <a:t> e </a:t>
            </a:r>
            <a:r>
              <a:rPr sz="2000" dirty="0" err="1"/>
              <a:t>veículo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700"/>
            </a:pPr>
            <a:r>
              <a:rPr sz="2000" dirty="0" err="1"/>
              <a:t>Os</a:t>
            </a:r>
            <a:r>
              <a:rPr sz="2000" dirty="0"/>
              <a:t> </a:t>
            </a:r>
            <a:r>
              <a:rPr sz="2000" dirty="0" err="1"/>
              <a:t>maiores</a:t>
            </a:r>
            <a:r>
              <a:rPr sz="2000" dirty="0"/>
              <a:t> volumes de </a:t>
            </a:r>
            <a:r>
              <a:rPr sz="2000" dirty="0" err="1"/>
              <a:t>atrasos</a:t>
            </a:r>
            <a:r>
              <a:rPr sz="2000" dirty="0"/>
              <a:t> </a:t>
            </a:r>
            <a:r>
              <a:rPr sz="2000" dirty="0" err="1"/>
              <a:t>concentram</a:t>
            </a:r>
            <a:r>
              <a:rPr sz="2000" dirty="0"/>
              <a:t>-se </a:t>
            </a:r>
            <a:r>
              <a:rPr sz="2000" dirty="0" err="1"/>
              <a:t>em</a:t>
            </a:r>
            <a:r>
              <a:rPr sz="2000" dirty="0"/>
              <a:t> </a:t>
            </a:r>
            <a:r>
              <a:rPr sz="2000" dirty="0" err="1"/>
              <a:t>horários</a:t>
            </a:r>
            <a:r>
              <a:rPr sz="2000" dirty="0"/>
              <a:t> </a:t>
            </a:r>
            <a:r>
              <a:rPr sz="2000" dirty="0" err="1"/>
              <a:t>específicos</a:t>
            </a:r>
            <a:r>
              <a:rPr sz="2000" dirty="0"/>
              <a:t>, com </a:t>
            </a:r>
            <a:r>
              <a:rPr sz="2000" dirty="0" err="1"/>
              <a:t>destaque</a:t>
            </a:r>
            <a:r>
              <a:rPr sz="2000" dirty="0"/>
              <a:t> para 05h </a:t>
            </a:r>
            <a:r>
              <a:rPr sz="2000" dirty="0" err="1"/>
              <a:t>na</a:t>
            </a:r>
            <a:r>
              <a:rPr sz="2000" dirty="0"/>
              <a:t> consulta de </a:t>
            </a:r>
            <a:r>
              <a:rPr sz="2000" dirty="0" err="1"/>
              <a:t>frequência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700"/>
            </a:pPr>
            <a:r>
              <a:rPr sz="2000" dirty="0"/>
              <a:t>A query de </a:t>
            </a:r>
            <a:r>
              <a:rPr sz="2000" dirty="0" err="1"/>
              <a:t>ocorrências</a:t>
            </a:r>
            <a:r>
              <a:rPr sz="2000" dirty="0"/>
              <a:t> </a:t>
            </a:r>
            <a:r>
              <a:rPr sz="2000" dirty="0" err="1"/>
              <a:t>identifica</a:t>
            </a:r>
            <a:r>
              <a:rPr sz="2000" dirty="0"/>
              <a:t> 1936 </a:t>
            </a:r>
            <a:r>
              <a:rPr sz="2000" dirty="0" err="1"/>
              <a:t>registros</a:t>
            </a:r>
            <a:r>
              <a:rPr sz="2000" dirty="0"/>
              <a:t> com real &gt; </a:t>
            </a:r>
            <a:r>
              <a:rPr sz="2000" dirty="0" err="1"/>
              <a:t>programado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700"/>
            </a:pPr>
            <a:r>
              <a:rPr sz="2000" dirty="0"/>
              <a:t>As queries 2, 8 e 9 </a:t>
            </a:r>
            <a:r>
              <a:rPr sz="2000" dirty="0" err="1"/>
              <a:t>precisam</a:t>
            </a:r>
            <a:r>
              <a:rPr sz="2000" dirty="0"/>
              <a:t> de cautela </a:t>
            </a:r>
            <a:r>
              <a:rPr sz="2000" dirty="0" err="1"/>
              <a:t>por</a:t>
            </a:r>
            <a:r>
              <a:rPr sz="2000" dirty="0"/>
              <a:t> causa do </a:t>
            </a:r>
            <a:r>
              <a:rPr sz="2000" dirty="0" err="1"/>
              <a:t>tratamento</a:t>
            </a:r>
            <a:r>
              <a:rPr sz="2000" dirty="0"/>
              <a:t> de </a:t>
            </a:r>
            <a:r>
              <a:rPr sz="2000" dirty="0" err="1"/>
              <a:t>horários</a:t>
            </a:r>
            <a:r>
              <a:rPr sz="2000" dirty="0"/>
              <a:t> </a:t>
            </a:r>
            <a:r>
              <a:rPr sz="2000" dirty="0" err="1"/>
              <a:t>que</a:t>
            </a:r>
            <a:r>
              <a:rPr sz="2000" dirty="0"/>
              <a:t> </a:t>
            </a:r>
            <a:r>
              <a:rPr sz="2000" dirty="0" err="1"/>
              <a:t>cruzam</a:t>
            </a:r>
            <a:r>
              <a:rPr sz="2000" dirty="0"/>
              <a:t> a </a:t>
            </a:r>
            <a:r>
              <a:rPr sz="2000" dirty="0" err="1"/>
              <a:t>meia-noite</a:t>
            </a:r>
            <a:r>
              <a:rPr sz="2000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C76F6D-CCB9-48F6-8B2F-DAE71C517246}"/>
              </a:ext>
            </a:extLst>
          </p:cNvPr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D87"/>
                </a:solidFill>
              </a:defRPr>
            </a:pPr>
            <a:r>
              <a:t>Projeto SPTrans – Sambaíba | Base sptrans_uc6.sql | Slide 15</a:t>
            </a: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E19A4ACE-F545-81BA-345B-EAC40E4E87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645422" y="0"/>
            <a:ext cx="1484212" cy="148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3915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1">
                <a:lumMod val="67000"/>
              </a:schemeClr>
            </a:gs>
            <a:gs pos="0">
              <a:schemeClr val="accent1">
                <a:lumMod val="97000"/>
                <a:lumOff val="3000"/>
              </a:schemeClr>
            </a:gs>
            <a:gs pos="87000">
              <a:schemeClr val="accent1">
                <a:lumMod val="60000"/>
                <a:lumOff val="4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956895" y="320040"/>
            <a:ext cx="224773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16. </a:t>
            </a:r>
            <a:r>
              <a:rPr dirty="0" err="1"/>
              <a:t>Conclusão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370991" y="932688"/>
            <a:ext cx="536467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5F69"/>
                </a:solidFill>
              </a:defRPr>
            </a:pPr>
            <a:r>
              <a:rPr sz="2400" b="1" dirty="0"/>
              <a:t>Da query SQL para a </a:t>
            </a:r>
            <a:r>
              <a:rPr sz="2400" b="1" dirty="0" err="1"/>
              <a:t>decisão</a:t>
            </a:r>
            <a:r>
              <a:rPr sz="2400" b="1" dirty="0"/>
              <a:t> </a:t>
            </a:r>
            <a:r>
              <a:rPr sz="2400" b="1" dirty="0" err="1"/>
              <a:t>operacional</a:t>
            </a:r>
            <a:endParaRPr sz="2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329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rPr dirty="0"/>
              <a:t>As </a:t>
            </a:r>
            <a:r>
              <a:rPr dirty="0" err="1"/>
              <a:t>consultas</a:t>
            </a:r>
            <a:r>
              <a:rPr dirty="0"/>
              <a:t> </a:t>
            </a:r>
            <a:r>
              <a:rPr dirty="0" err="1"/>
              <a:t>transformam</a:t>
            </a:r>
            <a:r>
              <a:rPr dirty="0"/>
              <a:t> </a:t>
            </a:r>
            <a:r>
              <a:rPr dirty="0" err="1"/>
              <a:t>registros</a:t>
            </a:r>
            <a:r>
              <a:rPr dirty="0"/>
              <a:t> de </a:t>
            </a:r>
            <a:r>
              <a:rPr dirty="0" err="1"/>
              <a:t>operação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indicadores</a:t>
            </a:r>
            <a:r>
              <a:rPr dirty="0"/>
              <a:t> de </a:t>
            </a:r>
            <a:r>
              <a:rPr dirty="0" err="1"/>
              <a:t>desempenho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2200"/>
            </a:pPr>
            <a:r>
              <a:rPr dirty="0"/>
              <a:t>A </a:t>
            </a:r>
            <a:r>
              <a:rPr dirty="0" err="1"/>
              <a:t>análise</a:t>
            </a:r>
            <a:r>
              <a:rPr dirty="0"/>
              <a:t>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localizar</a:t>
            </a:r>
            <a:r>
              <a:rPr dirty="0"/>
              <a:t> </a:t>
            </a:r>
            <a:r>
              <a:rPr dirty="0" err="1"/>
              <a:t>gargalos</a:t>
            </a:r>
            <a:r>
              <a:rPr dirty="0"/>
              <a:t> e </a:t>
            </a:r>
            <a:r>
              <a:rPr dirty="0" err="1"/>
              <a:t>priorizar</a:t>
            </a:r>
            <a:r>
              <a:rPr dirty="0"/>
              <a:t> </a:t>
            </a:r>
            <a:r>
              <a:rPr dirty="0" err="1"/>
              <a:t>linhas</a:t>
            </a:r>
            <a:r>
              <a:rPr dirty="0"/>
              <a:t>, </a:t>
            </a:r>
            <a:r>
              <a:rPr dirty="0" err="1"/>
              <a:t>horários</a:t>
            </a:r>
            <a:r>
              <a:rPr dirty="0"/>
              <a:t> e </a:t>
            </a:r>
            <a:r>
              <a:rPr dirty="0" err="1"/>
              <a:t>veículos</a:t>
            </a:r>
            <a:r>
              <a:rPr dirty="0"/>
              <a:t> para </a:t>
            </a:r>
            <a:r>
              <a:rPr dirty="0" err="1"/>
              <a:t>investigação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2200"/>
            </a:pPr>
            <a:r>
              <a:rPr lang="pt-BR" dirty="0"/>
              <a:t>Cabe ressaltar que  a </a:t>
            </a:r>
            <a:r>
              <a:rPr lang="pt-BR" dirty="0" err="1"/>
              <a:t>Sptrans</a:t>
            </a:r>
            <a:r>
              <a:rPr lang="pt-BR" dirty="0"/>
              <a:t> não possui uma unificação e padronização de dados entre as companhias de ônibus, dificultando, dessa forma , a qualidade, a transparência e a devida análise sobre o custo operacional e custo financeiro!</a:t>
            </a:r>
          </a:p>
          <a:p>
            <a:pPr>
              <a:spcAft>
                <a:spcPts val="1000"/>
              </a:spcAft>
              <a:defRPr sz="2200"/>
            </a:pPr>
            <a:r>
              <a:rPr lang="pt-BR" dirty="0"/>
              <a:t>Foram encaminhados e-mails junto à mesma e a </a:t>
            </a:r>
            <a:r>
              <a:rPr lang="pt-BR" dirty="0" err="1"/>
              <a:t>Sambaiba</a:t>
            </a:r>
            <a:r>
              <a:rPr lang="pt-BR" dirty="0"/>
              <a:t>, porém não houve retorno sobre o tema .</a:t>
            </a:r>
          </a:p>
          <a:p>
            <a:pPr>
              <a:spcAft>
                <a:spcPts val="1000"/>
              </a:spcAft>
              <a:defRPr sz="2200"/>
            </a:pPr>
            <a:r>
              <a:rPr lang="pt-BR" dirty="0"/>
              <a:t>Diante disso, a base de dados foi copulada sobre a região norte visando uma amostragem técnica ( parcialmente via site </a:t>
            </a:r>
            <a:r>
              <a:rPr lang="pt-BR" dirty="0" err="1"/>
              <a:t>Sptrans</a:t>
            </a:r>
            <a:r>
              <a:rPr lang="pt-BR" dirty="0"/>
              <a:t> e WEB ) e operacional sobre o tema( Visita Terminal Santana ).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D87"/>
                </a:solidFill>
              </a:defRPr>
            </a:pPr>
            <a:r>
              <a:t>Projeto SPTrans – Sambaíba | Base sptrans_uc6.sql | Slide 17</a:t>
            </a: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36DF8020-C8CF-FC63-601E-3CE8646E5E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645422" y="0"/>
            <a:ext cx="1484212" cy="14842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TM03457485[[fn=Malha]]</Template>
  <TotalTime>537</TotalTime>
  <Words>1869</Words>
  <Application>Microsoft Office PowerPoint</Application>
  <PresentationFormat>Widescreen</PresentationFormat>
  <Paragraphs>325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5" baseType="lpstr">
      <vt:lpstr>Arial</vt:lpstr>
      <vt:lpstr>Calibri</vt:lpstr>
      <vt:lpstr>Symbol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JOAO PAULO ALVES DOS SANTOS</cp:lastModifiedBy>
  <cp:revision>35</cp:revision>
  <cp:lastPrinted>2026-09-07T20:05:44Z</cp:lastPrinted>
  <dcterms:created xsi:type="dcterms:W3CDTF">2013-01-27T09:14:16Z</dcterms:created>
  <dcterms:modified xsi:type="dcterms:W3CDTF">2026-09-07T20:07:01Z</dcterms:modified>
  <cp:category/>
</cp:coreProperties>
</file>